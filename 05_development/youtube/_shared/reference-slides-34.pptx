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ECF95D-078D-4BBE-AFD0-B6F40DEE6575}" v="30" dt="2026-03-27T05:58:20.054"/>
    <p1510:client id="{D2A4C568-CAAF-4769-9DC0-71B80495F7E4}" v="4" dt="2026-03-27T07:01:17.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914400"/>
            <a:ext cx="12191695" cy="548640"/>
          </a:xfrm>
          <a:prstGeom prst="rect">
            <a:avLst/>
          </a:prstGeom>
          <a:noFill/>
        </p:spPr>
        <p:txBody>
          <a:bodyPr wrap="square" lIns="91440" tIns="45720" rIns="91440" bIns="45720" anchor="t"/>
          <a:lstStyle/>
          <a:p>
            <a:pPr algn="ctr"/>
            <a:r>
              <a:rPr lang="ja-JP" sz="1800" b="1">
                <a:solidFill>
                  <a:srgbClr val="E98212"/>
                </a:solidFill>
                <a:latin typeface="Yu Gothic"/>
                <a:ea typeface="Yu Gothic"/>
              </a:rPr>
              <a:t>【結論：安全</a:t>
            </a:r>
            <a:r>
              <a:rPr lang="ja-JP" altLang="en-US" b="1">
                <a:solidFill>
                  <a:srgbClr val="E98212"/>
                </a:solidFill>
                <a:latin typeface="Yu Gothic"/>
                <a:ea typeface="Yu Gothic"/>
              </a:rPr>
              <a:t>だが注意点あり</a:t>
            </a:r>
            <a:r>
              <a:rPr lang="ja-JP" sz="1800" b="1" dirty="0">
                <a:solidFill>
                  <a:srgbClr val="E98212"/>
                </a:solidFill>
                <a:latin typeface="Yu Gothic"/>
                <a:ea typeface="Yu Gothic"/>
              </a:rPr>
              <a:t>】</a:t>
            </a:r>
          </a:p>
        </p:txBody>
      </p:sp>
      <p:sp>
        <p:nvSpPr>
          <p:cNvPr id="4" name="TextBox 3"/>
          <p:cNvSpPr txBox="1"/>
          <p:nvPr/>
        </p:nvSpPr>
        <p:spPr>
          <a:xfrm>
            <a:off x="0" y="1645920"/>
            <a:ext cx="12191695" cy="1645920"/>
          </a:xfrm>
          <a:prstGeom prst="rect">
            <a:avLst/>
          </a:prstGeom>
          <a:noFill/>
        </p:spPr>
        <p:txBody>
          <a:bodyPr wrap="square" lIns="91440" tIns="45720" rIns="91440" bIns="45720" anchor="t"/>
          <a:lstStyle/>
          <a:p>
            <a:pPr algn="ctr"/>
            <a:r>
              <a:rPr lang="ja-JP" sz="4000" b="1" dirty="0">
                <a:solidFill>
                  <a:srgbClr val="FFFFFF"/>
                </a:solidFill>
                <a:latin typeface="Yu Gothic"/>
                <a:ea typeface="Yu Gothic"/>
              </a:rPr>
              <a:t>バイブコーディングの</a:t>
            </a:r>
          </a:p>
          <a:p>
            <a:pPr algn="ctr"/>
            <a:r>
              <a:rPr lang="ja-JP" sz="4000" b="1">
                <a:solidFill>
                  <a:srgbClr val="FFFFFF"/>
                </a:solidFill>
                <a:latin typeface="Yu Gothic"/>
                <a:ea typeface="Yu Gothic"/>
              </a:rPr>
              <a:t>セキュリティは</a:t>
            </a:r>
            <a:r>
              <a:rPr lang="ja-JP" altLang="en-US" sz="4000" b="1">
                <a:solidFill>
                  <a:srgbClr val="FFFFFF"/>
                </a:solidFill>
                <a:latin typeface="Yu Gothic"/>
                <a:ea typeface="Yu Gothic"/>
              </a:rPr>
              <a:t>本当に</a:t>
            </a:r>
            <a:r>
              <a:rPr lang="ja-JP" sz="4000" b="1">
                <a:solidFill>
                  <a:srgbClr val="FFFFFF"/>
                </a:solidFill>
                <a:latin typeface="Yu Gothic"/>
                <a:ea typeface="Yu Gothic"/>
              </a:rPr>
              <a:t>安全？</a:t>
            </a:r>
          </a:p>
        </p:txBody>
      </p:sp>
      <p:sp>
        <p:nvSpPr>
          <p:cNvPr id="5" name="Rectangle 4"/>
          <p:cNvSpPr/>
          <p:nvPr/>
        </p:nvSpPr>
        <p:spPr>
          <a:xfrm>
            <a:off x="5029200" y="3474720"/>
            <a:ext cx="21332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840480"/>
            <a:ext cx="12191695" cy="457200"/>
          </a:xfrm>
          <a:prstGeom prst="rect">
            <a:avLst/>
          </a:prstGeom>
          <a:noFill/>
        </p:spPr>
        <p:txBody>
          <a:bodyPr wrap="square"/>
          <a:lstStyle/>
          <a:p>
            <a:pPr algn="ctr"/>
            <a:r>
              <a:rPr sz="2000" b="1">
                <a:solidFill>
                  <a:srgbClr val="FFFFFF"/>
                </a:solidFill>
                <a:latin typeface="Yu Gothic"/>
              </a:rPr>
              <a:t>株式会社Walkers</a:t>
            </a:r>
          </a:p>
        </p:txBody>
      </p:sp>
      <p:sp>
        <p:nvSpPr>
          <p:cNvPr id="7" name="TextBox 6"/>
          <p:cNvSpPr txBox="1"/>
          <p:nvPr/>
        </p:nvSpPr>
        <p:spPr>
          <a:xfrm>
            <a:off x="2286000" y="4480560"/>
            <a:ext cx="7619695" cy="1371600"/>
          </a:xfrm>
          <a:prstGeom prst="rect">
            <a:avLst/>
          </a:prstGeom>
          <a:noFill/>
        </p:spPr>
        <p:txBody>
          <a:bodyPr wrap="square"/>
          <a:lstStyle/>
          <a:p>
            <a:pPr algn="l">
              <a:spcAft>
                <a:spcPts val="800"/>
              </a:spcAft>
            </a:pPr>
            <a:r>
              <a:rPr sz="1300" b="0">
                <a:solidFill>
                  <a:srgbClr val="CCCCCC"/>
                </a:solidFill>
                <a:latin typeface="Yu Gothic"/>
              </a:rPr>
              <a:t>・AI・ノーコード専門の開発会社。</a:t>
            </a:r>
          </a:p>
          <a:p>
            <a:pPr algn="l">
              <a:spcAft>
                <a:spcPts val="800"/>
              </a:spcAft>
            </a:pPr>
            <a:r>
              <a:rPr sz="1300" b="0">
                <a:solidFill>
                  <a:srgbClr val="CCCCCC"/>
                </a:solidFill>
                <a:latin typeface="Yu Gothic"/>
              </a:rPr>
              <a:t>・300件以上の開発/制作実績、200件以上の企業様を支援。</a:t>
            </a:r>
          </a:p>
          <a:p>
            <a:pPr algn="l">
              <a:spcAft>
                <a:spcPts val="800"/>
              </a:spcAft>
            </a:pPr>
            <a:r>
              <a:rPr sz="1300" b="0">
                <a:solidFill>
                  <a:srgbClr val="CCCCCC"/>
                </a:solidFill>
                <a:latin typeface="Yu Gothic"/>
              </a:rPr>
              <a:t>・社名にお客様と共に"歩む''という思いを込め、事業を成功に導くための支援を行っている。</a:t>
            </a:r>
          </a:p>
        </p:txBody>
      </p:sp>
      <p:sp>
        <p:nvSpPr>
          <p:cNvPr id="8" name="TextBox 7"/>
          <p:cNvSpPr txBox="1"/>
          <p:nvPr/>
        </p:nvSpPr>
        <p:spPr>
          <a:xfrm>
            <a:off x="0" y="6126480"/>
            <a:ext cx="12191695" cy="365760"/>
          </a:xfrm>
          <a:prstGeom prst="rect">
            <a:avLst/>
          </a:prstGeom>
          <a:noFill/>
        </p:spPr>
        <p:txBody>
          <a:bodyPr wrap="square"/>
          <a:lstStyle/>
          <a:p>
            <a:pPr algn="ctr"/>
            <a:r>
              <a:rPr sz="1200" b="0">
                <a:solidFill>
                  <a:srgbClr val="666666"/>
                </a:solidFill>
                <a:latin typeface="Yu Gothic"/>
              </a:rPr>
              <a:t>アプリ開発研究所(株式会社Walkers)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9448495" cy="3657600"/>
          </a:xfrm>
          <a:prstGeom prst="rect">
            <a:avLst/>
          </a:prstGeom>
          <a:noFill/>
        </p:spPr>
        <p:txBody>
          <a:bodyPr wrap="square" lIns="91440" tIns="45720" rIns="91440" bIns="45720" anchor="t"/>
          <a:lstStyle/>
          <a:p>
            <a:pPr algn="ctr"/>
            <a:r>
              <a:rPr lang="ja-JP" sz="2400" b="0">
                <a:solidFill>
                  <a:srgbClr val="FFFFFF"/>
                </a:solidFill>
                <a:latin typeface="Yu Gothic"/>
                <a:ea typeface="Yu Gothic"/>
              </a:rPr>
              <a:t>「バイブコーディングってセキュリティ大丈夫なの？」</a:t>
            </a:r>
            <a:endParaRPr lang="ja-JP"/>
          </a:p>
          <a:p>
            <a:pPr algn="ctr"/>
            <a:endParaRPr lang="ja-JP" sz="2400" dirty="0">
              <a:solidFill>
                <a:srgbClr val="FFFFFF"/>
              </a:solidFill>
              <a:latin typeface="Yu Gothic"/>
              <a:ea typeface="Yu Gothic"/>
            </a:endParaRPr>
          </a:p>
          <a:p>
            <a:pPr algn="ctr"/>
            <a:r>
              <a:rPr lang="ja-JP" sz="2400" b="0">
                <a:solidFill>
                  <a:srgbClr val="FFFFFF"/>
                </a:solidFill>
                <a:latin typeface="Yu Gothic"/>
                <a:ea typeface="Yu Gothic"/>
              </a:rPr>
              <a:t>「AIを使った開発って危険じゃないの？」</a:t>
            </a:r>
            <a:endParaRPr lang="ja-JP"/>
          </a:p>
          <a:p>
            <a:pPr algn="ctr"/>
            <a:endParaRPr lang="ja-JP" altLang="en-US" sz="2400" dirty="0">
              <a:solidFill>
                <a:srgbClr val="FFFFFF"/>
              </a:solidFill>
              <a:latin typeface="Yu Gothic"/>
              <a:ea typeface="Yu Gothic"/>
            </a:endParaRPr>
          </a:p>
          <a:p>
            <a:pPr algn="ctr"/>
            <a:r>
              <a:rPr lang="ja-JP" sz="2400" b="0" dirty="0">
                <a:solidFill>
                  <a:srgbClr val="FFFFFF"/>
                </a:solidFill>
                <a:latin typeface="Yu Gothic"/>
                <a:ea typeface="Yu Gothic"/>
              </a:rPr>
              <a:t>その疑問、解消します。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9448495" cy="3657600"/>
          </a:xfrm>
          <a:prstGeom prst="rect">
            <a:avLst/>
          </a:prstGeom>
          <a:noFill/>
        </p:spPr>
        <p:txBody>
          <a:bodyPr wrap="square" lIns="91440" tIns="45720" rIns="91440" bIns="45720" anchor="t"/>
          <a:lstStyle/>
          <a:p>
            <a:pPr algn="ctr"/>
            <a:r>
              <a:rPr lang="ja-JP" sz="2400" b="0">
                <a:solidFill>
                  <a:srgbClr val="FFFFFF"/>
                </a:solidFill>
                <a:latin typeface="Yu Gothic"/>
                <a:ea typeface="Yu Gothic"/>
              </a:rPr>
              <a:t>バイブコーディングのセキュリティが弱くない理由から、</a:t>
            </a:r>
            <a:endParaRPr lang="ja-JP" altLang="en-US">
              <a:solidFill>
                <a:srgbClr val="000000"/>
              </a:solidFill>
              <a:latin typeface="Calibri"/>
              <a:ea typeface="ＭＳ Ｐゴシック" panose="020B0600070205080204" pitchFamily="34" charset="-128"/>
              <a:cs typeface="Calibri"/>
            </a:endParaRPr>
          </a:p>
          <a:p>
            <a:pPr algn="ctr"/>
            <a:endParaRPr lang="ja-JP" altLang="en-US" sz="2400" dirty="0">
              <a:solidFill>
                <a:srgbClr val="FFFFFF"/>
              </a:solidFill>
              <a:latin typeface="Yu Gothic"/>
              <a:ea typeface="Yu Gothic"/>
            </a:endParaRPr>
          </a:p>
          <a:p>
            <a:pPr algn="ctr"/>
            <a:r>
              <a:rPr lang="ja-JP" sz="2400" b="0">
                <a:solidFill>
                  <a:srgbClr val="FFFFFF"/>
                </a:solidFill>
                <a:latin typeface="Yu Gothic"/>
                <a:ea typeface="Yu Gothic"/>
              </a:rPr>
              <a:t>危険と言われる2つの原因、外注する場合の会社の選び方まで</a:t>
            </a:r>
            <a:endParaRPr lang="ja-JP" altLang="en-US">
              <a:solidFill>
                <a:srgbClr val="000000"/>
              </a:solidFill>
              <a:latin typeface="Calibri"/>
              <a:ea typeface="ＭＳ Ｐゴシック"/>
              <a:cs typeface="Calibri"/>
            </a:endParaRPr>
          </a:p>
          <a:p>
            <a:pPr algn="ctr"/>
            <a:endParaRPr lang="ja-JP" altLang="en-US" sz="2400" dirty="0">
              <a:solidFill>
                <a:srgbClr val="FFFFFF"/>
              </a:solidFill>
              <a:latin typeface="Yu Gothic"/>
              <a:ea typeface="Yu Gothic"/>
            </a:endParaRPr>
          </a:p>
          <a:p>
            <a:pPr algn="ctr"/>
            <a:r>
              <a:rPr lang="ja-JP" sz="2400" b="0">
                <a:solidFill>
                  <a:srgbClr val="FFFFFF"/>
                </a:solidFill>
                <a:latin typeface="Yu Gothic"/>
                <a:ea typeface="Yu Gothic"/>
              </a:rPr>
              <a:t>網羅的に解説します。</a:t>
            </a:r>
            <a:endParaRPr lang="ja-JP" b="0">
              <a:solidFill>
                <a:srgbClr val="000000"/>
              </a:solidFill>
              <a:latin typeface="Calibri"/>
              <a:ea typeface="ＭＳ Ｐゴシック"/>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457200"/>
            <a:ext cx="12191695" cy="731520"/>
          </a:xfrm>
          <a:prstGeom prst="rect">
            <a:avLst/>
          </a:prstGeom>
          <a:noFill/>
        </p:spPr>
        <p:txBody>
          <a:bodyPr wrap="square"/>
          <a:lstStyle/>
          <a:p>
            <a:pPr algn="ctr"/>
            <a:r>
              <a:rPr sz="2400" b="1">
                <a:solidFill>
                  <a:srgbClr val="E98212"/>
                </a:solidFill>
                <a:latin typeface="Yu Gothic"/>
              </a:rPr>
              <a:t>山口 鳳汰の自己紹介</a:t>
            </a:r>
          </a:p>
        </p:txBody>
      </p:sp>
      <p:sp>
        <p:nvSpPr>
          <p:cNvPr id="4" name="Rectangle 3"/>
          <p:cNvSpPr/>
          <p:nvPr/>
        </p:nvSpPr>
        <p:spPr>
          <a:xfrm>
            <a:off x="5029200" y="1188720"/>
            <a:ext cx="21332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1828800"/>
            <a:ext cx="8534095" cy="4114800"/>
          </a:xfrm>
          <a:prstGeom prst="rect">
            <a:avLst/>
          </a:prstGeom>
          <a:noFill/>
        </p:spPr>
        <p:txBody>
          <a:bodyPr wrap="square"/>
          <a:lstStyle/>
          <a:p>
            <a:pPr algn="l">
              <a:spcAft>
                <a:spcPts val="1600"/>
              </a:spcAft>
            </a:pPr>
            <a:r>
              <a:rPr sz="1800" b="0">
                <a:solidFill>
                  <a:srgbClr val="FFFFFF"/>
                </a:solidFill>
                <a:latin typeface="Yu Gothic"/>
              </a:rPr>
              <a:t>・AI・ノーコード専門の開発会社Walkersで事業企画を担当。</a:t>
            </a:r>
          </a:p>
          <a:p>
            <a:pPr algn="l">
              <a:spcAft>
                <a:spcPts val="1600"/>
              </a:spcAft>
            </a:pPr>
            <a:r>
              <a:rPr sz="1800" b="0">
                <a:solidFill>
                  <a:srgbClr val="FFFFFF"/>
                </a:solidFill>
                <a:latin typeface="Yu Gothic"/>
              </a:rPr>
              <a:t>・累計100万PV以上のAI・ノーコード専門メディアの編集長。</a:t>
            </a:r>
          </a:p>
          <a:p>
            <a:pPr algn="l">
              <a:spcAft>
                <a:spcPts val="1600"/>
              </a:spcAft>
            </a:pPr>
            <a:r>
              <a:rPr sz="1800" b="0">
                <a:solidFill>
                  <a:srgbClr val="FFFFFF"/>
                </a:solidFill>
                <a:latin typeface="Yu Gothic"/>
              </a:rPr>
              <a:t>・アプリ開発の電子書籍を3冊出版し、1冊はAmazonベストセラーを獲得。</a:t>
            </a:r>
          </a:p>
          <a:p>
            <a:pPr algn="l">
              <a:spcAft>
                <a:spcPts val="1600"/>
              </a:spcAft>
            </a:pPr>
            <a:r>
              <a:rPr sz="1800" b="0">
                <a:solidFill>
                  <a:srgbClr val="FFFFFF"/>
                </a:solidFill>
                <a:latin typeface="Yu Gothic"/>
              </a:rPr>
              <a:t>・アプリ開発のオンラインスクール「Tech Studio(テックスタジオ)」運営。</a:t>
            </a:r>
          </a:p>
          <a:p>
            <a:pPr algn="l">
              <a:spcAft>
                <a:spcPts val="1600"/>
              </a:spcAft>
            </a:pPr>
            <a:r>
              <a:rPr sz="1800" b="0">
                <a:solidFill>
                  <a:srgbClr val="FFFFFF"/>
                </a:solidFill>
                <a:latin typeface="Yu Gothic"/>
              </a:rPr>
              <a:t>・その他多数のAI・ノーコード事業に参画。</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9448495" cy="3657600"/>
          </a:xfrm>
          <a:prstGeom prst="rect">
            <a:avLst/>
          </a:prstGeom>
          <a:noFill/>
        </p:spPr>
        <p:txBody>
          <a:bodyPr wrap="square"/>
          <a:lstStyle/>
          <a:p>
            <a:pPr algn="ctr">
              <a:spcAft>
                <a:spcPts val="1400"/>
              </a:spcAft>
            </a:pPr>
            <a:r>
              <a:rPr sz="2400" b="0">
                <a:solidFill>
                  <a:srgbClr val="FFFFFF"/>
                </a:solidFill>
                <a:latin typeface="Yu Gothic"/>
              </a:rPr>
              <a:t>アプリ開発研究所では、AIとノーコードを組み合わせた</a:t>
            </a:r>
          </a:p>
          <a:p>
            <a:pPr algn="ctr">
              <a:spcAft>
                <a:spcPts val="1400"/>
              </a:spcAft>
            </a:pPr>
            <a:r>
              <a:rPr sz="2400" b="0">
                <a:solidFill>
                  <a:srgbClr val="FFFFFF"/>
                </a:solidFill>
                <a:latin typeface="Yu Gothic"/>
              </a:rPr>
              <a:t>効率的な開発手法を発信しています。</a:t>
            </a:r>
          </a:p>
          <a:p>
            <a:pPr algn="ctr">
              <a:spcAft>
                <a:spcPts val="1400"/>
              </a:spcAft>
            </a:pPr>
            <a:endParaRPr sz="2400" b="0">
              <a:solidFill>
                <a:srgbClr val="FFFFFF"/>
              </a:solidFill>
              <a:latin typeface="Yu Gothic"/>
            </a:endParaRPr>
          </a:p>
          <a:p>
            <a:pPr algn="ctr">
              <a:spcAft>
                <a:spcPts val="1400"/>
              </a:spcAft>
            </a:pPr>
            <a:r>
              <a:rPr sz="2400" b="0">
                <a:solidFill>
                  <a:srgbClr val="FFFFFF"/>
                </a:solidFill>
                <a:latin typeface="Yu Gothic"/>
              </a:rPr>
              <a:t>最新の開発トレンドを逃さないよう、</a:t>
            </a:r>
          </a:p>
          <a:p>
            <a:pPr algn="ctr">
              <a:spcAft>
                <a:spcPts val="1400"/>
              </a:spcAft>
            </a:pPr>
            <a:r>
              <a:rPr sz="2400" b="0">
                <a:solidFill>
                  <a:srgbClr val="FFFFFF"/>
                </a:solidFill>
                <a:latin typeface="Yu Gothic"/>
              </a:rPr>
              <a:t>ぜひチャンネル登録をよろしくお願いします！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01</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【結論】バイブコーディングの
セキュリティは弱くない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01</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バイブコーディングのセキュリティは弱くない</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適切な設計・運用体制で安全性を確保できる</a:t>
            </a:r>
          </a:p>
        </p:txBody>
      </p:sp>
      <p:sp>
        <p:nvSpPr>
          <p:cNvPr id="6" name="Rectangle 5"/>
          <p:cNvSpPr/>
          <p:nvPr/>
        </p:nvSpPr>
        <p:spPr>
          <a:xfrm>
            <a:off x="45720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3200400" cy="411480"/>
          </a:xfrm>
          <a:prstGeom prst="rect">
            <a:avLst/>
          </a:prstGeom>
          <a:noFill/>
        </p:spPr>
        <p:txBody>
          <a:bodyPr wrap="square"/>
          <a:lstStyle/>
          <a:p>
            <a:pPr algn="l"/>
            <a:r>
              <a:rPr sz="1300" b="1">
                <a:solidFill>
                  <a:srgbClr val="FFFFFF"/>
                </a:solidFill>
                <a:latin typeface="Yu Gothic"/>
              </a:rPr>
              <a:t>設計・権限管理</a:t>
            </a:r>
          </a:p>
        </p:txBody>
      </p:sp>
      <p:sp>
        <p:nvSpPr>
          <p:cNvPr id="9" name="TextBox 8"/>
          <p:cNvSpPr txBox="1"/>
          <p:nvPr/>
        </p:nvSpPr>
        <p:spPr>
          <a:xfrm>
            <a:off x="594360" y="3108960"/>
            <a:ext cx="3200400" cy="1645920"/>
          </a:xfrm>
          <a:prstGeom prst="rect">
            <a:avLst/>
          </a:prstGeom>
          <a:noFill/>
        </p:spPr>
        <p:txBody>
          <a:bodyPr wrap="square"/>
          <a:lstStyle/>
          <a:p>
            <a:pPr>
              <a:spcAft>
                <a:spcPts val="400"/>
              </a:spcAft>
            </a:pPr>
            <a:r>
              <a:rPr sz="1400" b="0">
                <a:solidFill>
                  <a:srgbClr val="333333"/>
                </a:solidFill>
                <a:latin typeface="Yu Gothic"/>
              </a:rPr>
              <a:t>適切な設計と権限管理で</a:t>
            </a:r>
          </a:p>
          <a:p>
            <a:pPr>
              <a:spcAft>
                <a:spcPts val="400"/>
              </a:spcAft>
            </a:pPr>
            <a:r>
              <a:rPr sz="1400" b="0">
                <a:solidFill>
                  <a:srgbClr val="333333"/>
                </a:solidFill>
                <a:latin typeface="Yu Gothic"/>
              </a:rPr>
              <a:t>安全に運用可能</a:t>
            </a:r>
          </a:p>
        </p:txBody>
      </p:sp>
      <p:sp>
        <p:nvSpPr>
          <p:cNvPr id="10" name="Rectangle 9"/>
          <p:cNvSpPr/>
          <p:nvPr/>
        </p:nvSpPr>
        <p:spPr>
          <a:xfrm>
            <a:off x="429768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5603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606040"/>
            <a:ext cx="3200400" cy="411480"/>
          </a:xfrm>
          <a:prstGeom prst="rect">
            <a:avLst/>
          </a:prstGeom>
          <a:noFill/>
        </p:spPr>
        <p:txBody>
          <a:bodyPr wrap="square"/>
          <a:lstStyle/>
          <a:p>
            <a:pPr algn="l"/>
            <a:r>
              <a:rPr sz="1300" b="1">
                <a:solidFill>
                  <a:srgbClr val="FFFFFF"/>
                </a:solidFill>
                <a:latin typeface="Yu Gothic"/>
              </a:rPr>
              <a:t>ログ監視</a:t>
            </a:r>
          </a:p>
        </p:txBody>
      </p:sp>
      <p:sp>
        <p:nvSpPr>
          <p:cNvPr id="13" name="TextBox 12"/>
          <p:cNvSpPr txBox="1"/>
          <p:nvPr/>
        </p:nvSpPr>
        <p:spPr>
          <a:xfrm>
            <a:off x="4434840" y="3108960"/>
            <a:ext cx="3200400" cy="1645920"/>
          </a:xfrm>
          <a:prstGeom prst="rect">
            <a:avLst/>
          </a:prstGeom>
          <a:noFill/>
        </p:spPr>
        <p:txBody>
          <a:bodyPr wrap="square"/>
          <a:lstStyle/>
          <a:p>
            <a:pPr>
              <a:spcAft>
                <a:spcPts val="400"/>
              </a:spcAft>
            </a:pPr>
            <a:r>
              <a:rPr sz="1400" b="0">
                <a:solidFill>
                  <a:srgbClr val="333333"/>
                </a:solidFill>
                <a:latin typeface="Yu Gothic"/>
              </a:rPr>
              <a:t>ログ監視体制を整備し</a:t>
            </a:r>
          </a:p>
          <a:p>
            <a:pPr>
              <a:spcAft>
                <a:spcPts val="400"/>
              </a:spcAft>
            </a:pPr>
            <a:r>
              <a:rPr sz="1400" b="0">
                <a:solidFill>
                  <a:srgbClr val="333333"/>
                </a:solidFill>
                <a:latin typeface="Yu Gothic"/>
              </a:rPr>
              <a:t>問題を早期発見</a:t>
            </a:r>
          </a:p>
        </p:txBody>
      </p:sp>
      <p:sp>
        <p:nvSpPr>
          <p:cNvPr id="14" name="Rectangle 13"/>
          <p:cNvSpPr/>
          <p:nvPr/>
        </p:nvSpPr>
        <p:spPr>
          <a:xfrm>
            <a:off x="813816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560320"/>
            <a:ext cx="347472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606040"/>
            <a:ext cx="3200400" cy="411480"/>
          </a:xfrm>
          <a:prstGeom prst="rect">
            <a:avLst/>
          </a:prstGeom>
          <a:noFill/>
        </p:spPr>
        <p:txBody>
          <a:bodyPr wrap="square"/>
          <a:lstStyle/>
          <a:p>
            <a:pPr algn="l"/>
            <a:r>
              <a:rPr sz="1300" b="1">
                <a:solidFill>
                  <a:srgbClr val="FFFFFF"/>
                </a:solidFill>
                <a:latin typeface="Yu Gothic"/>
              </a:rPr>
              <a:t>人間の判断力</a:t>
            </a:r>
          </a:p>
        </p:txBody>
      </p:sp>
      <p:sp>
        <p:nvSpPr>
          <p:cNvPr id="17" name="TextBox 16"/>
          <p:cNvSpPr txBox="1"/>
          <p:nvPr/>
        </p:nvSpPr>
        <p:spPr>
          <a:xfrm>
            <a:off x="8275320" y="3108960"/>
            <a:ext cx="3200400" cy="1645920"/>
          </a:xfrm>
          <a:prstGeom prst="rect">
            <a:avLst/>
          </a:prstGeom>
          <a:noFill/>
        </p:spPr>
        <p:txBody>
          <a:bodyPr wrap="square"/>
          <a:lstStyle/>
          <a:p>
            <a:pPr>
              <a:spcAft>
                <a:spcPts val="400"/>
              </a:spcAft>
            </a:pPr>
            <a:r>
              <a:rPr sz="1400" b="0">
                <a:solidFill>
                  <a:srgbClr val="333333"/>
                </a:solidFill>
                <a:latin typeface="Yu Gothic"/>
              </a:rPr>
              <a:t>AIはエンジニアのスキルを</a:t>
            </a:r>
          </a:p>
          <a:p>
            <a:pPr>
              <a:spcAft>
                <a:spcPts val="400"/>
              </a:spcAft>
            </a:pPr>
            <a:r>
              <a:rPr sz="1400" b="0">
                <a:solidFill>
                  <a:srgbClr val="333333"/>
                </a:solidFill>
                <a:latin typeface="Yu Gothic"/>
              </a:rPr>
              <a:t>拡張するための枠組み</a:t>
            </a:r>
          </a:p>
        </p:txBody>
      </p:sp>
      <p:sp>
        <p:nvSpPr>
          <p:cNvPr id="18" name="Rectangle 17"/>
          <p:cNvSpPr/>
          <p:nvPr/>
        </p:nvSpPr>
        <p:spPr>
          <a:xfrm>
            <a:off x="457200" y="5303520"/>
            <a:ext cx="11247120" cy="9144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394960"/>
            <a:ext cx="10515600" cy="731520"/>
          </a:xfrm>
          <a:prstGeom prst="rect">
            <a:avLst/>
          </a:prstGeom>
          <a:noFill/>
        </p:spPr>
        <p:txBody>
          <a:bodyPr wrap="square"/>
          <a:lstStyle/>
          <a:p>
            <a:pPr algn="l"/>
            <a:r>
              <a:rPr sz="1300" b="1">
                <a:solidFill>
                  <a:srgbClr val="E98212"/>
                </a:solidFill>
                <a:latin typeface="Yu Gothic"/>
              </a:rPr>
              <a:t>ポイント：「危険」という印象の多くは、AI技術そのものではなく導入方法への理解不足から生まれている</a:t>
            </a:r>
          </a:p>
        </p:txBody>
      </p:sp>
      <p:sp>
        <p:nvSpPr>
          <p:cNvPr id="20" name="Rectangle 19"/>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01</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信頼性の高い基盤を活用する強み</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主要なAIプラットフォームの標準セキュリティ機能</a:t>
            </a:r>
          </a:p>
        </p:txBody>
      </p:sp>
      <p:sp>
        <p:nvSpPr>
          <p:cNvPr id="6" name="Rectangle 5"/>
          <p:cNvSpPr/>
          <p:nvPr/>
        </p:nvSpPr>
        <p:spPr>
          <a:xfrm>
            <a:off x="45720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265176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2377440" cy="411480"/>
          </a:xfrm>
          <a:prstGeom prst="rect">
            <a:avLst/>
          </a:prstGeom>
          <a:noFill/>
        </p:spPr>
        <p:txBody>
          <a:bodyPr wrap="square"/>
          <a:lstStyle/>
          <a:p>
            <a:pPr algn="l"/>
            <a:r>
              <a:rPr sz="1300" b="1">
                <a:solidFill>
                  <a:srgbClr val="FFFFFF"/>
                </a:solidFill>
                <a:latin typeface="Yu Gothic"/>
              </a:rPr>
              <a:t>アクセス制御</a:t>
            </a:r>
          </a:p>
        </p:txBody>
      </p:sp>
      <p:sp>
        <p:nvSpPr>
          <p:cNvPr id="9" name="TextBox 8"/>
          <p:cNvSpPr txBox="1"/>
          <p:nvPr/>
        </p:nvSpPr>
        <p:spPr>
          <a:xfrm>
            <a:off x="594360" y="3108960"/>
            <a:ext cx="2377440" cy="1645920"/>
          </a:xfrm>
          <a:prstGeom prst="rect">
            <a:avLst/>
          </a:prstGeom>
          <a:noFill/>
        </p:spPr>
        <p:txBody>
          <a:bodyPr wrap="square"/>
          <a:lstStyle/>
          <a:p>
            <a:pPr>
              <a:spcAft>
                <a:spcPts val="400"/>
              </a:spcAft>
            </a:pPr>
            <a:r>
              <a:rPr sz="1300" b="0">
                <a:solidFill>
                  <a:srgbClr val="333333"/>
                </a:solidFill>
                <a:latin typeface="Yu Gothic"/>
              </a:rPr>
              <a:t>権限管理による
不正アクセス防止</a:t>
            </a:r>
          </a:p>
        </p:txBody>
      </p:sp>
      <p:sp>
        <p:nvSpPr>
          <p:cNvPr id="10" name="Rectangle 9"/>
          <p:cNvSpPr/>
          <p:nvPr/>
        </p:nvSpPr>
        <p:spPr>
          <a:xfrm>
            <a:off x="333756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7560" y="2560320"/>
            <a:ext cx="265176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2606040"/>
            <a:ext cx="2377440" cy="411480"/>
          </a:xfrm>
          <a:prstGeom prst="rect">
            <a:avLst/>
          </a:prstGeom>
          <a:noFill/>
        </p:spPr>
        <p:txBody>
          <a:bodyPr wrap="square"/>
          <a:lstStyle/>
          <a:p>
            <a:pPr algn="l"/>
            <a:r>
              <a:rPr sz="1300" b="1">
                <a:solidFill>
                  <a:srgbClr val="FFFFFF"/>
                </a:solidFill>
                <a:latin typeface="Yu Gothic"/>
              </a:rPr>
              <a:t>暗号化</a:t>
            </a:r>
          </a:p>
        </p:txBody>
      </p:sp>
      <p:sp>
        <p:nvSpPr>
          <p:cNvPr id="13" name="TextBox 12"/>
          <p:cNvSpPr txBox="1"/>
          <p:nvPr/>
        </p:nvSpPr>
        <p:spPr>
          <a:xfrm>
            <a:off x="3474720" y="3108960"/>
            <a:ext cx="2377440" cy="1645920"/>
          </a:xfrm>
          <a:prstGeom prst="rect">
            <a:avLst/>
          </a:prstGeom>
          <a:noFill/>
        </p:spPr>
        <p:txBody>
          <a:bodyPr wrap="square"/>
          <a:lstStyle/>
          <a:p>
            <a:pPr>
              <a:spcAft>
                <a:spcPts val="400"/>
              </a:spcAft>
            </a:pPr>
            <a:r>
              <a:rPr sz="1300" b="0">
                <a:solidFill>
                  <a:srgbClr val="333333"/>
                </a:solidFill>
                <a:latin typeface="Yu Gothic"/>
              </a:rPr>
              <a:t>データ通信・保存時の
暗号化を標準装備</a:t>
            </a:r>
          </a:p>
        </p:txBody>
      </p:sp>
      <p:sp>
        <p:nvSpPr>
          <p:cNvPr id="14" name="Rectangle 13"/>
          <p:cNvSpPr/>
          <p:nvPr/>
        </p:nvSpPr>
        <p:spPr>
          <a:xfrm>
            <a:off x="621792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2560320"/>
            <a:ext cx="265176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606040"/>
            <a:ext cx="2377440" cy="411480"/>
          </a:xfrm>
          <a:prstGeom prst="rect">
            <a:avLst/>
          </a:prstGeom>
          <a:noFill/>
        </p:spPr>
        <p:txBody>
          <a:bodyPr wrap="square"/>
          <a:lstStyle/>
          <a:p>
            <a:pPr algn="l"/>
            <a:r>
              <a:rPr sz="1300" b="1">
                <a:solidFill>
                  <a:srgbClr val="FFFFFF"/>
                </a:solidFill>
                <a:latin typeface="Yu Gothic"/>
              </a:rPr>
              <a:t>監査ログ</a:t>
            </a:r>
          </a:p>
        </p:txBody>
      </p:sp>
      <p:sp>
        <p:nvSpPr>
          <p:cNvPr id="17" name="TextBox 16"/>
          <p:cNvSpPr txBox="1"/>
          <p:nvPr/>
        </p:nvSpPr>
        <p:spPr>
          <a:xfrm>
            <a:off x="6355080" y="3108960"/>
            <a:ext cx="2377440" cy="1645920"/>
          </a:xfrm>
          <a:prstGeom prst="rect">
            <a:avLst/>
          </a:prstGeom>
          <a:noFill/>
        </p:spPr>
        <p:txBody>
          <a:bodyPr wrap="square"/>
          <a:lstStyle/>
          <a:p>
            <a:pPr>
              <a:spcAft>
                <a:spcPts val="400"/>
              </a:spcAft>
            </a:pPr>
            <a:r>
              <a:rPr sz="1300" b="0">
                <a:solidFill>
                  <a:srgbClr val="333333"/>
                </a:solidFill>
                <a:latin typeface="Yu Gothic"/>
              </a:rPr>
              <a:t>操作履歴を記録し
トレーサビリティ確保</a:t>
            </a:r>
          </a:p>
        </p:txBody>
      </p:sp>
      <p:sp>
        <p:nvSpPr>
          <p:cNvPr id="18" name="Rectangle 17"/>
          <p:cNvSpPr/>
          <p:nvPr/>
        </p:nvSpPr>
        <p:spPr>
          <a:xfrm>
            <a:off x="909828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2560320"/>
            <a:ext cx="265176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35440" y="2606040"/>
            <a:ext cx="2377440" cy="411480"/>
          </a:xfrm>
          <a:prstGeom prst="rect">
            <a:avLst/>
          </a:prstGeom>
          <a:noFill/>
        </p:spPr>
        <p:txBody>
          <a:bodyPr wrap="square"/>
          <a:lstStyle/>
          <a:p>
            <a:pPr algn="l"/>
            <a:r>
              <a:rPr sz="1300" b="1">
                <a:solidFill>
                  <a:srgbClr val="FFFFFF"/>
                </a:solidFill>
                <a:latin typeface="Yu Gothic"/>
              </a:rPr>
              <a:t>データ分離</a:t>
            </a:r>
          </a:p>
        </p:txBody>
      </p:sp>
      <p:sp>
        <p:nvSpPr>
          <p:cNvPr id="21" name="TextBox 20"/>
          <p:cNvSpPr txBox="1"/>
          <p:nvPr/>
        </p:nvSpPr>
        <p:spPr>
          <a:xfrm>
            <a:off x="9235440" y="3108960"/>
            <a:ext cx="2377440" cy="1645920"/>
          </a:xfrm>
          <a:prstGeom prst="rect">
            <a:avLst/>
          </a:prstGeom>
          <a:noFill/>
        </p:spPr>
        <p:txBody>
          <a:bodyPr wrap="square"/>
          <a:lstStyle/>
          <a:p>
            <a:pPr>
              <a:spcAft>
                <a:spcPts val="400"/>
              </a:spcAft>
            </a:pPr>
            <a:r>
              <a:rPr sz="1300" b="0">
                <a:solidFill>
                  <a:srgbClr val="333333"/>
                </a:solidFill>
                <a:latin typeface="Yu Gothic"/>
              </a:rPr>
              <a:t>テナント間のデータを
完全に分離</a:t>
            </a:r>
          </a:p>
        </p:txBody>
      </p:sp>
      <p:sp>
        <p:nvSpPr>
          <p:cNvPr id="22" name="Rectangle 21"/>
          <p:cNvSpPr/>
          <p:nvPr/>
        </p:nvSpPr>
        <p:spPr>
          <a:xfrm>
            <a:off x="457200" y="5303520"/>
            <a:ext cx="11247120" cy="9144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394960"/>
            <a:ext cx="10515600" cy="731520"/>
          </a:xfrm>
          <a:prstGeom prst="rect">
            <a:avLst/>
          </a:prstGeom>
          <a:noFill/>
        </p:spPr>
        <p:txBody>
          <a:bodyPr wrap="square"/>
          <a:lstStyle/>
          <a:p>
            <a:pPr algn="l"/>
            <a:r>
              <a:rPr sz="1300" b="1">
                <a:solidFill>
                  <a:srgbClr val="E98212"/>
                </a:solidFill>
                <a:latin typeface="Yu Gothic"/>
              </a:rPr>
              <a:t>ポイント：ゼロから独自実装するよりも、信頼性の高い基盤を活用した方がセキュリティレベルが高くなるケースも多い</a:t>
            </a:r>
          </a:p>
        </p:txBody>
      </p:sp>
      <p:sp>
        <p:nvSpPr>
          <p:cNvPr id="24" name="Rectangle 23"/>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02</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AI駆動開発プラットフォーム
「Dify」のセキュリティ例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02</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Difyのセキュリティ対策</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Difyの主なセキュリティ対策</a:t>
            </a:r>
          </a:p>
        </p:txBody>
      </p:sp>
      <p:sp>
        <p:nvSpPr>
          <p:cNvPr id="6" name="Rectangle 5"/>
          <p:cNvSpPr/>
          <p:nvPr/>
        </p:nvSpPr>
        <p:spPr>
          <a:xfrm>
            <a:off x="457200" y="228600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286000"/>
            <a:ext cx="265176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331720"/>
            <a:ext cx="2377440" cy="411480"/>
          </a:xfrm>
          <a:prstGeom prst="rect">
            <a:avLst/>
          </a:prstGeom>
          <a:noFill/>
        </p:spPr>
        <p:txBody>
          <a:bodyPr wrap="square"/>
          <a:lstStyle/>
          <a:p>
            <a:pPr algn="l"/>
            <a:r>
              <a:rPr sz="1300" b="1">
                <a:solidFill>
                  <a:srgbClr val="FFFFFF"/>
                </a:solidFill>
                <a:latin typeface="Yu Gothic"/>
              </a:rPr>
              <a:t>米国法準拠</a:t>
            </a:r>
          </a:p>
        </p:txBody>
      </p:sp>
      <p:sp>
        <p:nvSpPr>
          <p:cNvPr id="9" name="TextBox 8"/>
          <p:cNvSpPr txBox="1"/>
          <p:nvPr/>
        </p:nvSpPr>
        <p:spPr>
          <a:xfrm>
            <a:off x="594360" y="2834640"/>
            <a:ext cx="2377440" cy="1645920"/>
          </a:xfrm>
          <a:prstGeom prst="rect">
            <a:avLst/>
          </a:prstGeom>
          <a:noFill/>
        </p:spPr>
        <p:txBody>
          <a:bodyPr wrap="square"/>
          <a:lstStyle/>
          <a:p>
            <a:pPr>
              <a:spcAft>
                <a:spcPts val="400"/>
              </a:spcAft>
            </a:pPr>
            <a:r>
              <a:rPr sz="1300" b="0">
                <a:solidFill>
                  <a:srgbClr val="333333"/>
                </a:solidFill>
                <a:latin typeface="Yu Gothic"/>
              </a:rPr>
              <a:t>米国の法律および
データポリシーに準拠</a:t>
            </a:r>
          </a:p>
        </p:txBody>
      </p:sp>
      <p:sp>
        <p:nvSpPr>
          <p:cNvPr id="10" name="Rectangle 9"/>
          <p:cNvSpPr/>
          <p:nvPr/>
        </p:nvSpPr>
        <p:spPr>
          <a:xfrm>
            <a:off x="3337560" y="228600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7560" y="2286000"/>
            <a:ext cx="265176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2331720"/>
            <a:ext cx="2377440" cy="411480"/>
          </a:xfrm>
          <a:prstGeom prst="rect">
            <a:avLst/>
          </a:prstGeom>
          <a:noFill/>
        </p:spPr>
        <p:txBody>
          <a:bodyPr wrap="square"/>
          <a:lstStyle/>
          <a:p>
            <a:pPr algn="l"/>
            <a:r>
              <a:rPr sz="1300" b="1">
                <a:solidFill>
                  <a:srgbClr val="FFFFFF"/>
                </a:solidFill>
                <a:latin typeface="Yu Gothic"/>
              </a:rPr>
              <a:t>Azure運用</a:t>
            </a:r>
          </a:p>
        </p:txBody>
      </p:sp>
      <p:sp>
        <p:nvSpPr>
          <p:cNvPr id="13" name="TextBox 12"/>
          <p:cNvSpPr txBox="1"/>
          <p:nvPr/>
        </p:nvSpPr>
        <p:spPr>
          <a:xfrm>
            <a:off x="3474720" y="2834640"/>
            <a:ext cx="2377440" cy="1645920"/>
          </a:xfrm>
          <a:prstGeom prst="rect">
            <a:avLst/>
          </a:prstGeom>
          <a:noFill/>
        </p:spPr>
        <p:txBody>
          <a:bodyPr wrap="square"/>
          <a:lstStyle/>
          <a:p>
            <a:pPr>
              <a:spcAft>
                <a:spcPts val="400"/>
              </a:spcAft>
            </a:pPr>
            <a:r>
              <a:rPr sz="1300" b="0">
                <a:solidFill>
                  <a:srgbClr val="333333"/>
                </a:solidFill>
                <a:latin typeface="Yu Gothic"/>
              </a:rPr>
              <a:t>クラウドサービスは
米国Azure上で運用</a:t>
            </a:r>
          </a:p>
        </p:txBody>
      </p:sp>
      <p:sp>
        <p:nvSpPr>
          <p:cNvPr id="14" name="Rectangle 13"/>
          <p:cNvSpPr/>
          <p:nvPr/>
        </p:nvSpPr>
        <p:spPr>
          <a:xfrm>
            <a:off x="6217920" y="228600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2286000"/>
            <a:ext cx="265176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331720"/>
            <a:ext cx="2377440" cy="411480"/>
          </a:xfrm>
          <a:prstGeom prst="rect">
            <a:avLst/>
          </a:prstGeom>
          <a:noFill/>
        </p:spPr>
        <p:txBody>
          <a:bodyPr wrap="square"/>
          <a:lstStyle/>
          <a:p>
            <a:pPr algn="l"/>
            <a:r>
              <a:rPr sz="1300" b="1">
                <a:solidFill>
                  <a:srgbClr val="FFFFFF"/>
                </a:solidFill>
                <a:latin typeface="Yu Gothic"/>
              </a:rPr>
              <a:t>アクセス制限</a:t>
            </a:r>
          </a:p>
        </p:txBody>
      </p:sp>
      <p:sp>
        <p:nvSpPr>
          <p:cNvPr id="17" name="TextBox 16"/>
          <p:cNvSpPr txBox="1"/>
          <p:nvPr/>
        </p:nvSpPr>
        <p:spPr>
          <a:xfrm>
            <a:off x="6355080" y="2834640"/>
            <a:ext cx="2377440" cy="1645920"/>
          </a:xfrm>
          <a:prstGeom prst="rect">
            <a:avLst/>
          </a:prstGeom>
          <a:noFill/>
        </p:spPr>
        <p:txBody>
          <a:bodyPr wrap="square"/>
          <a:lstStyle/>
          <a:p>
            <a:pPr>
              <a:spcAft>
                <a:spcPts val="400"/>
              </a:spcAft>
            </a:pPr>
            <a:r>
              <a:rPr sz="1300" b="0">
                <a:solidFill>
                  <a:srgbClr val="333333"/>
                </a:solidFill>
                <a:latin typeface="Yu Gothic"/>
              </a:rPr>
              <a:t>承認された担当者のみ
データアクセス可能</a:t>
            </a:r>
          </a:p>
        </p:txBody>
      </p:sp>
      <p:sp>
        <p:nvSpPr>
          <p:cNvPr id="18" name="Rectangle 17"/>
          <p:cNvSpPr/>
          <p:nvPr/>
        </p:nvSpPr>
        <p:spPr>
          <a:xfrm>
            <a:off x="9098280" y="228600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2286000"/>
            <a:ext cx="2651760" cy="457200"/>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35440" y="2331720"/>
            <a:ext cx="2377440" cy="411480"/>
          </a:xfrm>
          <a:prstGeom prst="rect">
            <a:avLst/>
          </a:prstGeom>
          <a:noFill/>
        </p:spPr>
        <p:txBody>
          <a:bodyPr wrap="square"/>
          <a:lstStyle/>
          <a:p>
            <a:pPr algn="l"/>
            <a:r>
              <a:rPr sz="1300" b="1">
                <a:solidFill>
                  <a:srgbClr val="FFFFFF"/>
                </a:solidFill>
                <a:latin typeface="Yu Gothic"/>
              </a:rPr>
              <a:t>OSS公開</a:t>
            </a:r>
          </a:p>
        </p:txBody>
      </p:sp>
      <p:sp>
        <p:nvSpPr>
          <p:cNvPr id="21" name="TextBox 20"/>
          <p:cNvSpPr txBox="1"/>
          <p:nvPr/>
        </p:nvSpPr>
        <p:spPr>
          <a:xfrm>
            <a:off x="9235440" y="2834640"/>
            <a:ext cx="2377440" cy="1645920"/>
          </a:xfrm>
          <a:prstGeom prst="rect">
            <a:avLst/>
          </a:prstGeom>
          <a:noFill/>
        </p:spPr>
        <p:txBody>
          <a:bodyPr wrap="square"/>
          <a:lstStyle/>
          <a:p>
            <a:pPr>
              <a:spcAft>
                <a:spcPts val="400"/>
              </a:spcAft>
            </a:pPr>
            <a:r>
              <a:rPr sz="1300" b="0">
                <a:solidFill>
                  <a:srgbClr val="333333"/>
                </a:solidFill>
                <a:latin typeface="Yu Gothic"/>
              </a:rPr>
              <a:t>GitHubでコード公開
透明性を確保</a:t>
            </a:r>
          </a:p>
        </p:txBody>
      </p:sp>
      <p:sp>
        <p:nvSpPr>
          <p:cNvPr id="22" name="TextBox 21"/>
          <p:cNvSpPr txBox="1"/>
          <p:nvPr/>
        </p:nvSpPr>
        <p:spPr>
          <a:xfrm>
            <a:off x="731520" y="5029200"/>
            <a:ext cx="10058400" cy="1371600"/>
          </a:xfrm>
          <a:prstGeom prst="rect">
            <a:avLst/>
          </a:prstGeom>
          <a:noFill/>
        </p:spPr>
        <p:txBody>
          <a:bodyPr wrap="square"/>
          <a:lstStyle/>
          <a:p>
            <a:pPr>
              <a:spcAft>
                <a:spcPts val="800"/>
              </a:spcAft>
            </a:pPr>
            <a:r>
              <a:rPr sz="1200" b="0">
                <a:solidFill>
                  <a:srgbClr val="333333"/>
                </a:solidFill>
                <a:latin typeface="Yu Gothic"/>
              </a:rPr>
              <a:t>● セルフデプロイにも対応（クラウドが不安な場合の代替手段）</a:t>
            </a:r>
          </a:p>
          <a:p>
            <a:pPr>
              <a:spcAft>
                <a:spcPts val="800"/>
              </a:spcAft>
            </a:pPr>
            <a:r>
              <a:rPr sz="1200" b="0">
                <a:solidFill>
                  <a:srgbClr val="333333"/>
                </a:solidFill>
                <a:latin typeface="Yu Gothic"/>
              </a:rPr>
              <a:t>● SOC2・ISO27001認証の取得を予定</a:t>
            </a:r>
          </a:p>
        </p:txBody>
      </p:sp>
      <p:sp>
        <p:nvSpPr>
          <p:cNvPr id="23" name="Rectangle 22"/>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02</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Difyの公式見解と安心材料</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主要なAI開発プラットフォームはセキュリティ重視で設計されている</a:t>
            </a:r>
          </a:p>
        </p:txBody>
      </p:sp>
      <p:sp>
        <p:nvSpPr>
          <p:cNvPr id="6" name="Rectangle 5"/>
          <p:cNvSpPr/>
          <p:nvPr/>
        </p:nvSpPr>
        <p:spPr>
          <a:xfrm>
            <a:off x="457200" y="2560320"/>
            <a:ext cx="34747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3200400" cy="411480"/>
          </a:xfrm>
          <a:prstGeom prst="rect">
            <a:avLst/>
          </a:prstGeom>
          <a:noFill/>
        </p:spPr>
        <p:txBody>
          <a:bodyPr wrap="square"/>
          <a:lstStyle/>
          <a:p>
            <a:pPr algn="l"/>
            <a:r>
              <a:rPr sz="1300" b="1">
                <a:solidFill>
                  <a:srgbClr val="FFFFFF"/>
                </a:solidFill>
                <a:latin typeface="Yu Gothic"/>
              </a:rPr>
              <a:t>セルフデプロイ対応</a:t>
            </a:r>
          </a:p>
        </p:txBody>
      </p:sp>
      <p:sp>
        <p:nvSpPr>
          <p:cNvPr id="9" name="TextBox 8"/>
          <p:cNvSpPr txBox="1"/>
          <p:nvPr/>
        </p:nvSpPr>
        <p:spPr>
          <a:xfrm>
            <a:off x="594360" y="3108960"/>
            <a:ext cx="3200400" cy="1920240"/>
          </a:xfrm>
          <a:prstGeom prst="rect">
            <a:avLst/>
          </a:prstGeom>
          <a:noFill/>
        </p:spPr>
        <p:txBody>
          <a:bodyPr wrap="square"/>
          <a:lstStyle/>
          <a:p>
            <a:pPr>
              <a:spcAft>
                <a:spcPts val="400"/>
              </a:spcAft>
            </a:pPr>
            <a:r>
              <a:rPr sz="1400" b="0">
                <a:solidFill>
                  <a:srgbClr val="333333"/>
                </a:solidFill>
                <a:latin typeface="Yu Gothic"/>
              </a:rPr>
              <a:t>クラウドのセキュリティに</a:t>
            </a:r>
          </a:p>
          <a:p>
            <a:pPr>
              <a:spcAft>
                <a:spcPts val="400"/>
              </a:spcAft>
            </a:pPr>
            <a:r>
              <a:rPr sz="1400" b="0">
                <a:solidFill>
                  <a:srgbClr val="333333"/>
                </a:solidFill>
                <a:latin typeface="Yu Gothic"/>
              </a:rPr>
              <a:t>不安がある場合は</a:t>
            </a:r>
          </a:p>
          <a:p>
            <a:pPr>
              <a:spcAft>
                <a:spcPts val="400"/>
              </a:spcAft>
            </a:pPr>
            <a:r>
              <a:rPr sz="1400" b="0">
                <a:solidFill>
                  <a:srgbClr val="333333"/>
                </a:solidFill>
                <a:latin typeface="Yu Gothic"/>
              </a:rPr>
              <a:t>セルフデプロイ版も選択可能</a:t>
            </a:r>
          </a:p>
        </p:txBody>
      </p:sp>
      <p:sp>
        <p:nvSpPr>
          <p:cNvPr id="10" name="Rectangle 9"/>
          <p:cNvSpPr/>
          <p:nvPr/>
        </p:nvSpPr>
        <p:spPr>
          <a:xfrm>
            <a:off x="4297680" y="2560320"/>
            <a:ext cx="34747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5603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606040"/>
            <a:ext cx="3200400" cy="411480"/>
          </a:xfrm>
          <a:prstGeom prst="rect">
            <a:avLst/>
          </a:prstGeom>
          <a:noFill/>
        </p:spPr>
        <p:txBody>
          <a:bodyPr wrap="square"/>
          <a:lstStyle/>
          <a:p>
            <a:pPr algn="l"/>
            <a:r>
              <a:rPr sz="1300" b="1">
                <a:solidFill>
                  <a:srgbClr val="FFFFFF"/>
                </a:solidFill>
                <a:latin typeface="Yu Gothic"/>
              </a:rPr>
              <a:t>セキュリティ方針公開</a:t>
            </a:r>
          </a:p>
        </p:txBody>
      </p:sp>
      <p:sp>
        <p:nvSpPr>
          <p:cNvPr id="13" name="TextBox 12"/>
          <p:cNvSpPr txBox="1"/>
          <p:nvPr/>
        </p:nvSpPr>
        <p:spPr>
          <a:xfrm>
            <a:off x="4434840" y="3108960"/>
            <a:ext cx="3200400" cy="1920240"/>
          </a:xfrm>
          <a:prstGeom prst="rect">
            <a:avLst/>
          </a:prstGeom>
          <a:noFill/>
        </p:spPr>
        <p:txBody>
          <a:bodyPr wrap="square"/>
          <a:lstStyle/>
          <a:p>
            <a:pPr>
              <a:spcAft>
                <a:spcPts val="400"/>
              </a:spcAft>
            </a:pPr>
            <a:r>
              <a:rPr sz="1400" b="0">
                <a:solidFill>
                  <a:srgbClr val="333333"/>
                </a:solidFill>
                <a:latin typeface="Yu Gothic"/>
              </a:rPr>
              <a:t>利用する側としても</a:t>
            </a:r>
          </a:p>
          <a:p>
            <a:pPr>
              <a:spcAft>
                <a:spcPts val="400"/>
              </a:spcAft>
            </a:pPr>
            <a:r>
              <a:rPr sz="1400" b="0">
                <a:solidFill>
                  <a:srgbClr val="333333"/>
                </a:solidFill>
                <a:latin typeface="Yu Gothic"/>
              </a:rPr>
              <a:t>安心して活用しやすい</a:t>
            </a:r>
          </a:p>
        </p:txBody>
      </p:sp>
      <p:sp>
        <p:nvSpPr>
          <p:cNvPr id="14" name="Rectangle 13"/>
          <p:cNvSpPr/>
          <p:nvPr/>
        </p:nvSpPr>
        <p:spPr>
          <a:xfrm>
            <a:off x="8138160" y="2560320"/>
            <a:ext cx="34747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560320"/>
            <a:ext cx="3474720" cy="457200"/>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606040"/>
            <a:ext cx="3200400" cy="411480"/>
          </a:xfrm>
          <a:prstGeom prst="rect">
            <a:avLst/>
          </a:prstGeom>
          <a:noFill/>
        </p:spPr>
        <p:txBody>
          <a:bodyPr wrap="square"/>
          <a:lstStyle/>
          <a:p>
            <a:pPr algn="l"/>
            <a:r>
              <a:rPr sz="1300" b="1">
                <a:solidFill>
                  <a:srgbClr val="FFFFFF"/>
                </a:solidFill>
                <a:latin typeface="Yu Gothic"/>
              </a:rPr>
              <a:t>適切な運用で安全</a:t>
            </a:r>
          </a:p>
        </p:txBody>
      </p:sp>
      <p:sp>
        <p:nvSpPr>
          <p:cNvPr id="17" name="TextBox 16"/>
          <p:cNvSpPr txBox="1"/>
          <p:nvPr/>
        </p:nvSpPr>
        <p:spPr>
          <a:xfrm>
            <a:off x="8275320" y="3108960"/>
            <a:ext cx="3200400" cy="1920240"/>
          </a:xfrm>
          <a:prstGeom prst="rect">
            <a:avLst/>
          </a:prstGeom>
          <a:noFill/>
        </p:spPr>
        <p:txBody>
          <a:bodyPr wrap="square"/>
          <a:lstStyle/>
          <a:p>
            <a:pPr>
              <a:spcAft>
                <a:spcPts val="400"/>
              </a:spcAft>
            </a:pPr>
            <a:r>
              <a:rPr sz="1400" b="0">
                <a:solidFill>
                  <a:srgbClr val="333333"/>
                </a:solidFill>
                <a:latin typeface="Yu Gothic"/>
              </a:rPr>
              <a:t>大半のツールは適切な</a:t>
            </a:r>
          </a:p>
          <a:p>
            <a:pPr>
              <a:spcAft>
                <a:spcPts val="400"/>
              </a:spcAft>
            </a:pPr>
            <a:r>
              <a:rPr sz="1400" b="0">
                <a:solidFill>
                  <a:srgbClr val="333333"/>
                </a:solidFill>
                <a:latin typeface="Yu Gothic"/>
              </a:rPr>
              <a:t>運用を行えば安全に</a:t>
            </a:r>
          </a:p>
          <a:p>
            <a:pPr>
              <a:spcAft>
                <a:spcPts val="400"/>
              </a:spcAft>
            </a:pPr>
            <a:r>
              <a:rPr sz="1400" b="0">
                <a:solidFill>
                  <a:srgbClr val="333333"/>
                </a:solidFill>
                <a:latin typeface="Yu Gothic"/>
              </a:rPr>
              <a:t>利用できる</a:t>
            </a:r>
          </a:p>
        </p:txBody>
      </p:sp>
      <p:sp>
        <p:nvSpPr>
          <p:cNvPr id="18" name="Rectangle 17"/>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03</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バイブコーディングのセキュリティが
危険と言われる2つの理由</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03</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理由①：AIが勝手に作るから危険という思い込み</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AIは開発者の能力を拡張するツールであり、意思決定主体ではない</a:t>
            </a:r>
          </a:p>
        </p:txBody>
      </p:sp>
      <p:sp>
        <p:nvSpPr>
          <p:cNvPr id="6" name="Rectangle 5"/>
          <p:cNvSpPr/>
          <p:nvPr/>
        </p:nvSpPr>
        <p:spPr>
          <a:xfrm>
            <a:off x="457200" y="2286000"/>
            <a:ext cx="347472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286000"/>
            <a:ext cx="347472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331720"/>
            <a:ext cx="3200400" cy="411480"/>
          </a:xfrm>
          <a:prstGeom prst="rect">
            <a:avLst/>
          </a:prstGeom>
          <a:noFill/>
        </p:spPr>
        <p:txBody>
          <a:bodyPr wrap="square"/>
          <a:lstStyle/>
          <a:p>
            <a:pPr algn="l"/>
            <a:r>
              <a:rPr sz="1300" b="1">
                <a:solidFill>
                  <a:srgbClr val="FFFFFF"/>
                </a:solidFill>
                <a:latin typeface="Yu Gothic"/>
              </a:rPr>
              <a:t>誤解</a:t>
            </a:r>
          </a:p>
        </p:txBody>
      </p:sp>
      <p:sp>
        <p:nvSpPr>
          <p:cNvPr id="9" name="TextBox 8"/>
          <p:cNvSpPr txBox="1"/>
          <p:nvPr/>
        </p:nvSpPr>
        <p:spPr>
          <a:xfrm>
            <a:off x="594360" y="2834640"/>
            <a:ext cx="3200400" cy="2560320"/>
          </a:xfrm>
          <a:prstGeom prst="rect">
            <a:avLst/>
          </a:prstGeom>
          <a:noFill/>
        </p:spPr>
        <p:txBody>
          <a:bodyPr wrap="square"/>
          <a:lstStyle/>
          <a:p>
            <a:pPr>
              <a:spcAft>
                <a:spcPts val="400"/>
              </a:spcAft>
            </a:pPr>
            <a:r>
              <a:rPr sz="1300" b="0">
                <a:solidFill>
                  <a:srgbClr val="333333"/>
                </a:solidFill>
                <a:latin typeface="Yu Gothic"/>
              </a:rPr>
              <a:t>AIが自動でコードを生成</a:t>
            </a:r>
          </a:p>
          <a:p>
            <a:pPr>
              <a:spcAft>
                <a:spcPts val="400"/>
              </a:spcAft>
            </a:pPr>
            <a:r>
              <a:rPr sz="1300" b="0">
                <a:solidFill>
                  <a:srgbClr val="333333"/>
                </a:solidFill>
                <a:latin typeface="Yu Gothic"/>
              </a:rPr>
              <a:t>＝ 安全性が保証されない</a:t>
            </a:r>
          </a:p>
          <a:p>
            <a:pPr>
              <a:spcAft>
                <a:spcPts val="400"/>
              </a:spcAft>
            </a:pPr>
            <a:r>
              <a:rPr sz="1300" b="0">
                <a:solidFill>
                  <a:srgbClr val="333333"/>
                </a:solidFill>
                <a:latin typeface="Yu Gothic"/>
              </a:rPr>
              <a:t>という思い込み</a:t>
            </a:r>
          </a:p>
        </p:txBody>
      </p:sp>
      <p:sp>
        <p:nvSpPr>
          <p:cNvPr id="10" name="Rectangle 9"/>
          <p:cNvSpPr/>
          <p:nvPr/>
        </p:nvSpPr>
        <p:spPr>
          <a:xfrm>
            <a:off x="4297680" y="2286000"/>
            <a:ext cx="347472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28600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331720"/>
            <a:ext cx="3200400" cy="411480"/>
          </a:xfrm>
          <a:prstGeom prst="rect">
            <a:avLst/>
          </a:prstGeom>
          <a:noFill/>
        </p:spPr>
        <p:txBody>
          <a:bodyPr wrap="square"/>
          <a:lstStyle/>
          <a:p>
            <a:pPr algn="l"/>
            <a:r>
              <a:rPr sz="1300" b="1">
                <a:solidFill>
                  <a:srgbClr val="FFFFFF"/>
                </a:solidFill>
                <a:latin typeface="Yu Gothic"/>
              </a:rPr>
              <a:t>実態</a:t>
            </a:r>
          </a:p>
        </p:txBody>
      </p:sp>
      <p:sp>
        <p:nvSpPr>
          <p:cNvPr id="13" name="TextBox 12"/>
          <p:cNvSpPr txBox="1"/>
          <p:nvPr/>
        </p:nvSpPr>
        <p:spPr>
          <a:xfrm>
            <a:off x="4434840" y="2834640"/>
            <a:ext cx="3200400" cy="2560320"/>
          </a:xfrm>
          <a:prstGeom prst="rect">
            <a:avLst/>
          </a:prstGeom>
          <a:noFill/>
        </p:spPr>
        <p:txBody>
          <a:bodyPr wrap="square"/>
          <a:lstStyle/>
          <a:p>
            <a:pPr>
              <a:spcAft>
                <a:spcPts val="400"/>
              </a:spcAft>
            </a:pPr>
            <a:r>
              <a:rPr sz="1300" b="0">
                <a:solidFill>
                  <a:srgbClr val="333333"/>
                </a:solidFill>
                <a:latin typeface="Yu Gothic"/>
              </a:rPr>
              <a:t>人間の指示・設計方針に基づいて</a:t>
            </a:r>
          </a:p>
          <a:p>
            <a:pPr>
              <a:spcAft>
                <a:spcPts val="400"/>
              </a:spcAft>
            </a:pPr>
            <a:r>
              <a:rPr sz="1300" b="0">
                <a:solidFill>
                  <a:srgbClr val="333333"/>
                </a:solidFill>
                <a:latin typeface="Yu Gothic"/>
              </a:rPr>
              <a:t>処理を生成しているに過ぎない</a:t>
            </a:r>
          </a:p>
        </p:txBody>
      </p:sp>
      <p:sp>
        <p:nvSpPr>
          <p:cNvPr id="14" name="Rectangle 13"/>
          <p:cNvSpPr/>
          <p:nvPr/>
        </p:nvSpPr>
        <p:spPr>
          <a:xfrm>
            <a:off x="8138160" y="2286000"/>
            <a:ext cx="347472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28600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331720"/>
            <a:ext cx="3200400" cy="411480"/>
          </a:xfrm>
          <a:prstGeom prst="rect">
            <a:avLst/>
          </a:prstGeom>
          <a:noFill/>
        </p:spPr>
        <p:txBody>
          <a:bodyPr wrap="square"/>
          <a:lstStyle/>
          <a:p>
            <a:pPr algn="l"/>
            <a:r>
              <a:rPr sz="1300" b="1">
                <a:solidFill>
                  <a:srgbClr val="FFFFFF"/>
                </a:solidFill>
                <a:latin typeface="Yu Gothic"/>
              </a:rPr>
              <a:t>人間のコードも完璧ではない</a:t>
            </a:r>
          </a:p>
        </p:txBody>
      </p:sp>
      <p:sp>
        <p:nvSpPr>
          <p:cNvPr id="17" name="TextBox 16"/>
          <p:cNvSpPr txBox="1"/>
          <p:nvPr/>
        </p:nvSpPr>
        <p:spPr>
          <a:xfrm>
            <a:off x="8275320" y="2834640"/>
            <a:ext cx="3200400" cy="2560320"/>
          </a:xfrm>
          <a:prstGeom prst="rect">
            <a:avLst/>
          </a:prstGeom>
          <a:noFill/>
        </p:spPr>
        <p:txBody>
          <a:bodyPr wrap="square"/>
          <a:lstStyle/>
          <a:p>
            <a:pPr>
              <a:spcAft>
                <a:spcPts val="400"/>
              </a:spcAft>
            </a:pPr>
            <a:r>
              <a:rPr sz="1300" b="0">
                <a:solidFill>
                  <a:srgbClr val="333333"/>
                </a:solidFill>
                <a:latin typeface="Yu Gothic"/>
              </a:rPr>
              <a:t>入力値検証の不足</a:t>
            </a:r>
          </a:p>
          <a:p>
            <a:pPr>
              <a:spcAft>
                <a:spcPts val="400"/>
              </a:spcAft>
            </a:pPr>
            <a:r>
              <a:rPr sz="1300" b="0">
                <a:solidFill>
                  <a:srgbClr val="333333"/>
                </a:solidFill>
                <a:latin typeface="Yu Gothic"/>
              </a:rPr>
              <a:t>認証設計の不備</a:t>
            </a:r>
          </a:p>
          <a:p>
            <a:pPr>
              <a:spcAft>
                <a:spcPts val="400"/>
              </a:spcAft>
            </a:pPr>
            <a:r>
              <a:rPr sz="1300" b="0">
                <a:solidFill>
                  <a:srgbClr val="333333"/>
                </a:solidFill>
                <a:latin typeface="Yu Gothic"/>
              </a:rPr>
              <a:t>SQLインジェクション対策漏れ</a:t>
            </a:r>
          </a:p>
          <a:p>
            <a:pPr>
              <a:spcAft>
                <a:spcPts val="400"/>
              </a:spcAft>
            </a:pPr>
            <a:r>
              <a:rPr sz="1300" b="0">
                <a:solidFill>
                  <a:srgbClr val="333333"/>
                </a:solidFill>
                <a:latin typeface="Yu Gothic"/>
              </a:rPr>
              <a:t>XSS対策の漏れ</a:t>
            </a:r>
          </a:p>
        </p:txBody>
      </p:sp>
      <p:sp>
        <p:nvSpPr>
          <p:cNvPr id="18" name="Rectangle 17"/>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03</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理由①：適切に活用すれば品質が向上</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AI活用によるセキュリティ品質向上のメリット</a:t>
            </a:r>
          </a:p>
        </p:txBody>
      </p:sp>
      <p:sp>
        <p:nvSpPr>
          <p:cNvPr id="6" name="Rectangle 5"/>
          <p:cNvSpPr/>
          <p:nvPr/>
        </p:nvSpPr>
        <p:spPr>
          <a:xfrm>
            <a:off x="45720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3200400" cy="411480"/>
          </a:xfrm>
          <a:prstGeom prst="rect">
            <a:avLst/>
          </a:prstGeom>
          <a:noFill/>
        </p:spPr>
        <p:txBody>
          <a:bodyPr wrap="square"/>
          <a:lstStyle/>
          <a:p>
            <a:pPr algn="l"/>
            <a:r>
              <a:rPr sz="1300" b="1">
                <a:solidFill>
                  <a:srgbClr val="FFFFFF"/>
                </a:solidFill>
                <a:latin typeface="Yu Gothic"/>
              </a:rPr>
              <a:t>安全な実装パターン参照</a:t>
            </a:r>
          </a:p>
        </p:txBody>
      </p:sp>
      <p:sp>
        <p:nvSpPr>
          <p:cNvPr id="9" name="TextBox 8"/>
          <p:cNvSpPr txBox="1"/>
          <p:nvPr/>
        </p:nvSpPr>
        <p:spPr>
          <a:xfrm>
            <a:off x="594360" y="3108960"/>
            <a:ext cx="3200400" cy="1645920"/>
          </a:xfrm>
          <a:prstGeom prst="rect">
            <a:avLst/>
          </a:prstGeom>
          <a:noFill/>
        </p:spPr>
        <p:txBody>
          <a:bodyPr wrap="square"/>
          <a:lstStyle/>
          <a:p>
            <a:pPr>
              <a:spcAft>
                <a:spcPts val="400"/>
              </a:spcAft>
            </a:pPr>
            <a:r>
              <a:rPr sz="1400" b="0">
                <a:solidFill>
                  <a:srgbClr val="333333"/>
                </a:solidFill>
                <a:latin typeface="Yu Gothic"/>
              </a:rPr>
              <a:t>既存の安全な実装パターンを
参考にコードを生成できる</a:t>
            </a:r>
          </a:p>
        </p:txBody>
      </p:sp>
      <p:sp>
        <p:nvSpPr>
          <p:cNvPr id="10" name="Rectangle 9"/>
          <p:cNvSpPr/>
          <p:nvPr/>
        </p:nvSpPr>
        <p:spPr>
          <a:xfrm>
            <a:off x="429768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5603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606040"/>
            <a:ext cx="3200400" cy="411480"/>
          </a:xfrm>
          <a:prstGeom prst="rect">
            <a:avLst/>
          </a:prstGeom>
          <a:noFill/>
        </p:spPr>
        <p:txBody>
          <a:bodyPr wrap="square"/>
          <a:lstStyle/>
          <a:p>
            <a:pPr algn="l"/>
            <a:r>
              <a:rPr sz="1300" b="1">
                <a:solidFill>
                  <a:srgbClr val="FFFFFF"/>
                </a:solidFill>
                <a:latin typeface="Yu Gothic"/>
              </a:rPr>
              <a:t>最適解の提示</a:t>
            </a:r>
          </a:p>
        </p:txBody>
      </p:sp>
      <p:sp>
        <p:nvSpPr>
          <p:cNvPr id="13" name="TextBox 12"/>
          <p:cNvSpPr txBox="1"/>
          <p:nvPr/>
        </p:nvSpPr>
        <p:spPr>
          <a:xfrm>
            <a:off x="4434840" y="3108960"/>
            <a:ext cx="3200400" cy="1645920"/>
          </a:xfrm>
          <a:prstGeom prst="rect">
            <a:avLst/>
          </a:prstGeom>
          <a:noFill/>
        </p:spPr>
        <p:txBody>
          <a:bodyPr wrap="square"/>
          <a:lstStyle/>
          <a:p>
            <a:pPr>
              <a:spcAft>
                <a:spcPts val="400"/>
              </a:spcAft>
            </a:pPr>
            <a:r>
              <a:rPr sz="1400" b="0">
                <a:solidFill>
                  <a:srgbClr val="333333"/>
                </a:solidFill>
                <a:latin typeface="Yu Gothic"/>
              </a:rPr>
              <a:t>セキュリティのベストプラクティスを
踏まえた提案が可能</a:t>
            </a:r>
          </a:p>
        </p:txBody>
      </p:sp>
      <p:sp>
        <p:nvSpPr>
          <p:cNvPr id="14" name="Rectangle 13"/>
          <p:cNvSpPr/>
          <p:nvPr/>
        </p:nvSpPr>
        <p:spPr>
          <a:xfrm>
            <a:off x="813816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560320"/>
            <a:ext cx="347472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606040"/>
            <a:ext cx="3200400" cy="411480"/>
          </a:xfrm>
          <a:prstGeom prst="rect">
            <a:avLst/>
          </a:prstGeom>
          <a:noFill/>
        </p:spPr>
        <p:txBody>
          <a:bodyPr wrap="square"/>
          <a:lstStyle/>
          <a:p>
            <a:pPr algn="l"/>
            <a:r>
              <a:rPr sz="1300" b="1">
                <a:solidFill>
                  <a:srgbClr val="FFFFFF"/>
                </a:solidFill>
                <a:latin typeface="Yu Gothic"/>
              </a:rPr>
              <a:t>レビュー補助</a:t>
            </a:r>
          </a:p>
        </p:txBody>
      </p:sp>
      <p:sp>
        <p:nvSpPr>
          <p:cNvPr id="17" name="TextBox 16"/>
          <p:cNvSpPr txBox="1"/>
          <p:nvPr/>
        </p:nvSpPr>
        <p:spPr>
          <a:xfrm>
            <a:off x="8275320" y="3108960"/>
            <a:ext cx="3200400" cy="1645920"/>
          </a:xfrm>
          <a:prstGeom prst="rect">
            <a:avLst/>
          </a:prstGeom>
          <a:noFill/>
        </p:spPr>
        <p:txBody>
          <a:bodyPr wrap="square"/>
          <a:lstStyle/>
          <a:p>
            <a:pPr>
              <a:spcAft>
                <a:spcPts val="400"/>
              </a:spcAft>
            </a:pPr>
            <a:r>
              <a:rPr sz="1400" b="0">
                <a:solidFill>
                  <a:srgbClr val="333333"/>
                </a:solidFill>
                <a:latin typeface="Yu Gothic"/>
              </a:rPr>
              <a:t>コードレビューの補助として
活用し脆弱性を早期発見</a:t>
            </a:r>
          </a:p>
        </p:txBody>
      </p:sp>
      <p:sp>
        <p:nvSpPr>
          <p:cNvPr id="18" name="Rectangle 17"/>
          <p:cNvSpPr/>
          <p:nvPr/>
        </p:nvSpPr>
        <p:spPr>
          <a:xfrm>
            <a:off x="457200" y="5303520"/>
            <a:ext cx="11247120" cy="9144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394960"/>
            <a:ext cx="10515600" cy="731520"/>
          </a:xfrm>
          <a:prstGeom prst="rect">
            <a:avLst/>
          </a:prstGeom>
          <a:noFill/>
        </p:spPr>
        <p:txBody>
          <a:bodyPr wrap="square"/>
          <a:lstStyle/>
          <a:p>
            <a:pPr algn="l"/>
            <a:r>
              <a:rPr sz="1300" b="1">
                <a:solidFill>
                  <a:srgbClr val="E98212"/>
                </a:solidFill>
                <a:latin typeface="Yu Gothic"/>
              </a:rPr>
              <a:t>ポイント：問題の本質は「AIを使っていること」ではなく、設計やレビューをどこまで行っているかにある</a:t>
            </a:r>
          </a:p>
        </p:txBody>
      </p:sp>
      <p:sp>
        <p:nvSpPr>
          <p:cNvPr id="20" name="Rectangle 19"/>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03</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理由②：セキュリティはAIではなく利用者に依存</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実際に問題となるケース（人為的要因）</a:t>
            </a:r>
          </a:p>
        </p:txBody>
      </p:sp>
      <p:sp>
        <p:nvSpPr>
          <p:cNvPr id="6" name="Rectangle 5"/>
          <p:cNvSpPr/>
          <p:nvPr/>
        </p:nvSpPr>
        <p:spPr>
          <a:xfrm>
            <a:off x="45720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2651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2377440" cy="411480"/>
          </a:xfrm>
          <a:prstGeom prst="rect">
            <a:avLst/>
          </a:prstGeom>
          <a:noFill/>
        </p:spPr>
        <p:txBody>
          <a:bodyPr wrap="square"/>
          <a:lstStyle/>
          <a:p>
            <a:pPr algn="l"/>
            <a:r>
              <a:rPr sz="1300" b="1">
                <a:solidFill>
                  <a:srgbClr val="FFFFFF"/>
                </a:solidFill>
                <a:latin typeface="Yu Gothic"/>
              </a:rPr>
              <a:t>機密情報の入力</a:t>
            </a:r>
          </a:p>
        </p:txBody>
      </p:sp>
      <p:sp>
        <p:nvSpPr>
          <p:cNvPr id="9" name="TextBox 8"/>
          <p:cNvSpPr txBox="1"/>
          <p:nvPr/>
        </p:nvSpPr>
        <p:spPr>
          <a:xfrm>
            <a:off x="594360" y="3108960"/>
            <a:ext cx="2377440" cy="1645920"/>
          </a:xfrm>
          <a:prstGeom prst="rect">
            <a:avLst/>
          </a:prstGeom>
          <a:noFill/>
        </p:spPr>
        <p:txBody>
          <a:bodyPr wrap="square"/>
          <a:lstStyle/>
          <a:p>
            <a:pPr>
              <a:spcAft>
                <a:spcPts val="400"/>
              </a:spcAft>
            </a:pPr>
            <a:r>
              <a:rPr sz="1300" b="0">
                <a:solidFill>
                  <a:srgbClr val="333333"/>
                </a:solidFill>
                <a:latin typeface="Yu Gothic"/>
              </a:rPr>
              <a:t>機密情報をそのまま
AIに入力してしまう</a:t>
            </a:r>
          </a:p>
        </p:txBody>
      </p:sp>
      <p:sp>
        <p:nvSpPr>
          <p:cNvPr id="10" name="Rectangle 9"/>
          <p:cNvSpPr/>
          <p:nvPr/>
        </p:nvSpPr>
        <p:spPr>
          <a:xfrm>
            <a:off x="333756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7560" y="2560320"/>
            <a:ext cx="2651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2606040"/>
            <a:ext cx="2377440" cy="411480"/>
          </a:xfrm>
          <a:prstGeom prst="rect">
            <a:avLst/>
          </a:prstGeom>
          <a:noFill/>
        </p:spPr>
        <p:txBody>
          <a:bodyPr wrap="square"/>
          <a:lstStyle/>
          <a:p>
            <a:pPr algn="l"/>
            <a:r>
              <a:rPr sz="1300" b="1">
                <a:solidFill>
                  <a:srgbClr val="FFFFFF"/>
                </a:solidFill>
                <a:latin typeface="Yu Gothic"/>
              </a:rPr>
              <a:t>権限管理不備</a:t>
            </a:r>
          </a:p>
        </p:txBody>
      </p:sp>
      <p:sp>
        <p:nvSpPr>
          <p:cNvPr id="13" name="TextBox 12"/>
          <p:cNvSpPr txBox="1"/>
          <p:nvPr/>
        </p:nvSpPr>
        <p:spPr>
          <a:xfrm>
            <a:off x="3474720" y="3108960"/>
            <a:ext cx="2377440" cy="1645920"/>
          </a:xfrm>
          <a:prstGeom prst="rect">
            <a:avLst/>
          </a:prstGeom>
          <a:noFill/>
        </p:spPr>
        <p:txBody>
          <a:bodyPr wrap="square"/>
          <a:lstStyle/>
          <a:p>
            <a:pPr>
              <a:spcAft>
                <a:spcPts val="400"/>
              </a:spcAft>
            </a:pPr>
            <a:r>
              <a:rPr sz="1300" b="0">
                <a:solidFill>
                  <a:srgbClr val="333333"/>
                </a:solidFill>
                <a:latin typeface="Yu Gothic"/>
              </a:rPr>
              <a:t>アクセス権限管理を
行っていない</a:t>
            </a:r>
          </a:p>
        </p:txBody>
      </p:sp>
      <p:sp>
        <p:nvSpPr>
          <p:cNvPr id="14" name="Rectangle 13"/>
          <p:cNvSpPr/>
          <p:nvPr/>
        </p:nvSpPr>
        <p:spPr>
          <a:xfrm>
            <a:off x="621792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2560320"/>
            <a:ext cx="2651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606040"/>
            <a:ext cx="2377440" cy="411480"/>
          </a:xfrm>
          <a:prstGeom prst="rect">
            <a:avLst/>
          </a:prstGeom>
          <a:noFill/>
        </p:spPr>
        <p:txBody>
          <a:bodyPr wrap="square"/>
          <a:lstStyle/>
          <a:p>
            <a:pPr algn="l"/>
            <a:r>
              <a:rPr sz="1300" b="1">
                <a:solidFill>
                  <a:srgbClr val="FFFFFF"/>
                </a:solidFill>
                <a:latin typeface="Yu Gothic"/>
              </a:rPr>
              <a:t>APIキー漏洩</a:t>
            </a:r>
          </a:p>
        </p:txBody>
      </p:sp>
      <p:sp>
        <p:nvSpPr>
          <p:cNvPr id="17" name="TextBox 16"/>
          <p:cNvSpPr txBox="1"/>
          <p:nvPr/>
        </p:nvSpPr>
        <p:spPr>
          <a:xfrm>
            <a:off x="6355080" y="3108960"/>
            <a:ext cx="2377440" cy="1645920"/>
          </a:xfrm>
          <a:prstGeom prst="rect">
            <a:avLst/>
          </a:prstGeom>
          <a:noFill/>
        </p:spPr>
        <p:txBody>
          <a:bodyPr wrap="square"/>
          <a:lstStyle/>
          <a:p>
            <a:pPr>
              <a:spcAft>
                <a:spcPts val="400"/>
              </a:spcAft>
            </a:pPr>
            <a:r>
              <a:rPr sz="1300" b="0">
                <a:solidFill>
                  <a:srgbClr val="333333"/>
                </a:solidFill>
                <a:latin typeface="Yu Gothic"/>
              </a:rPr>
              <a:t>APIキーや認証情報を
公開状態にしてしまう</a:t>
            </a:r>
          </a:p>
        </p:txBody>
      </p:sp>
      <p:sp>
        <p:nvSpPr>
          <p:cNvPr id="18" name="Rectangle 17"/>
          <p:cNvSpPr/>
          <p:nvPr/>
        </p:nvSpPr>
        <p:spPr>
          <a:xfrm>
            <a:off x="9098280" y="2560320"/>
            <a:ext cx="26517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2560320"/>
            <a:ext cx="2651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35440" y="2606040"/>
            <a:ext cx="2377440" cy="411480"/>
          </a:xfrm>
          <a:prstGeom prst="rect">
            <a:avLst/>
          </a:prstGeom>
          <a:noFill/>
        </p:spPr>
        <p:txBody>
          <a:bodyPr wrap="square"/>
          <a:lstStyle/>
          <a:p>
            <a:pPr algn="l"/>
            <a:r>
              <a:rPr sz="1300" b="1">
                <a:solidFill>
                  <a:srgbClr val="FFFFFF"/>
                </a:solidFill>
                <a:latin typeface="Yu Gothic"/>
              </a:rPr>
              <a:t>ルール未整備</a:t>
            </a:r>
          </a:p>
        </p:txBody>
      </p:sp>
      <p:sp>
        <p:nvSpPr>
          <p:cNvPr id="21" name="TextBox 20"/>
          <p:cNvSpPr txBox="1"/>
          <p:nvPr/>
        </p:nvSpPr>
        <p:spPr>
          <a:xfrm>
            <a:off x="9235440" y="3108960"/>
            <a:ext cx="2377440" cy="1645920"/>
          </a:xfrm>
          <a:prstGeom prst="rect">
            <a:avLst/>
          </a:prstGeom>
          <a:noFill/>
        </p:spPr>
        <p:txBody>
          <a:bodyPr wrap="square"/>
          <a:lstStyle/>
          <a:p>
            <a:pPr>
              <a:spcAft>
                <a:spcPts val="400"/>
              </a:spcAft>
            </a:pPr>
            <a:r>
              <a:rPr sz="1300" b="0">
                <a:solidFill>
                  <a:srgbClr val="333333"/>
                </a:solidFill>
                <a:latin typeface="Yu Gothic"/>
              </a:rPr>
              <a:t>開発ルールを定めないまま
AI導入を進めてしまう</a:t>
            </a:r>
          </a:p>
        </p:txBody>
      </p:sp>
      <p:sp>
        <p:nvSpPr>
          <p:cNvPr id="22" name="Rectangle 21"/>
          <p:cNvSpPr/>
          <p:nvPr/>
        </p:nvSpPr>
        <p:spPr>
          <a:xfrm>
            <a:off x="457200" y="5303520"/>
            <a:ext cx="11247120" cy="9144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394960"/>
            <a:ext cx="10515600" cy="731520"/>
          </a:xfrm>
          <a:prstGeom prst="rect">
            <a:avLst/>
          </a:prstGeom>
          <a:noFill/>
        </p:spPr>
        <p:txBody>
          <a:bodyPr wrap="square"/>
          <a:lstStyle/>
          <a:p>
            <a:pPr algn="l"/>
            <a:r>
              <a:rPr sz="1300" b="1">
                <a:solidFill>
                  <a:srgbClr val="E98212"/>
                </a:solidFill>
                <a:latin typeface="Yu Gothic"/>
              </a:rPr>
              <a:t>ポイント：これらはAI特有のリスクではなく、クラウド・SaaS導入時にも同様に発生する運用の問題</a:t>
            </a:r>
          </a:p>
        </p:txBody>
      </p:sp>
      <p:sp>
        <p:nvSpPr>
          <p:cNvPr id="24" name="Rectangle 23"/>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03</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理由②：シャドーAIのリスクと対策</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管理外のAI利用（シャドーAI）がリスクを拡大させる</a:t>
            </a:r>
          </a:p>
        </p:txBody>
      </p:sp>
      <p:sp>
        <p:nvSpPr>
          <p:cNvPr id="6" name="Rectangle 5"/>
          <p:cNvSpPr/>
          <p:nvPr/>
        </p:nvSpPr>
        <p:spPr>
          <a:xfrm>
            <a:off x="731520" y="2286000"/>
            <a:ext cx="493776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286000"/>
            <a:ext cx="4937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31720"/>
            <a:ext cx="4663440" cy="411480"/>
          </a:xfrm>
          <a:prstGeom prst="rect">
            <a:avLst/>
          </a:prstGeom>
          <a:noFill/>
        </p:spPr>
        <p:txBody>
          <a:bodyPr wrap="square"/>
          <a:lstStyle/>
          <a:p>
            <a:pPr algn="l"/>
            <a:r>
              <a:rPr sz="1300" b="1">
                <a:solidFill>
                  <a:srgbClr val="FFFFFF"/>
                </a:solidFill>
                <a:latin typeface="Yu Gothic"/>
              </a:rPr>
              <a:t>シャドーAIの例</a:t>
            </a:r>
          </a:p>
        </p:txBody>
      </p:sp>
      <p:sp>
        <p:nvSpPr>
          <p:cNvPr id="9" name="TextBox 8"/>
          <p:cNvSpPr txBox="1"/>
          <p:nvPr/>
        </p:nvSpPr>
        <p:spPr>
          <a:xfrm>
            <a:off x="868680" y="2834640"/>
            <a:ext cx="4663440" cy="2286000"/>
          </a:xfrm>
          <a:prstGeom prst="rect">
            <a:avLst/>
          </a:prstGeom>
          <a:noFill/>
        </p:spPr>
        <p:txBody>
          <a:bodyPr wrap="square"/>
          <a:lstStyle/>
          <a:p>
            <a:pPr>
              <a:spcAft>
                <a:spcPts val="400"/>
              </a:spcAft>
            </a:pPr>
            <a:r>
              <a:rPr sz="1400" b="0">
                <a:solidFill>
                  <a:srgbClr val="333333"/>
                </a:solidFill>
                <a:latin typeface="Yu Gothic"/>
              </a:rPr>
              <a:t>個人判断でAIツールを導入</a:t>
            </a:r>
          </a:p>
          <a:p>
            <a:pPr>
              <a:spcAft>
                <a:spcPts val="400"/>
              </a:spcAft>
            </a:pPr>
            <a:r>
              <a:rPr sz="1400" b="0">
                <a:solidFill>
                  <a:srgbClr val="333333"/>
                </a:solidFill>
                <a:latin typeface="Yu Gothic"/>
              </a:rPr>
              <a:t>社内データを無断で外部AIに投入</a:t>
            </a:r>
          </a:p>
          <a:p>
            <a:pPr>
              <a:spcAft>
                <a:spcPts val="400"/>
              </a:spcAft>
            </a:pPr>
            <a:r>
              <a:rPr sz="1400" b="0">
                <a:solidFill>
                  <a:srgbClr val="333333"/>
                </a:solidFill>
                <a:latin typeface="Yu Gothic"/>
              </a:rPr>
              <a:t>セキュリティポリシー未整備で運用</a:t>
            </a:r>
          </a:p>
        </p:txBody>
      </p:sp>
      <p:sp>
        <p:nvSpPr>
          <p:cNvPr id="10" name="Rectangle 9"/>
          <p:cNvSpPr/>
          <p:nvPr/>
        </p:nvSpPr>
        <p:spPr>
          <a:xfrm>
            <a:off x="6217920" y="2286000"/>
            <a:ext cx="493776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2286000"/>
            <a:ext cx="493776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331720"/>
            <a:ext cx="4663440" cy="411480"/>
          </a:xfrm>
          <a:prstGeom prst="rect">
            <a:avLst/>
          </a:prstGeom>
          <a:noFill/>
        </p:spPr>
        <p:txBody>
          <a:bodyPr wrap="square"/>
          <a:lstStyle/>
          <a:p>
            <a:pPr algn="l"/>
            <a:r>
              <a:rPr sz="1300" b="1">
                <a:solidFill>
                  <a:srgbClr val="FFFFFF"/>
                </a:solidFill>
                <a:latin typeface="Yu Gothic"/>
              </a:rPr>
              <a:t>対策</a:t>
            </a:r>
          </a:p>
        </p:txBody>
      </p:sp>
      <p:sp>
        <p:nvSpPr>
          <p:cNvPr id="13" name="TextBox 12"/>
          <p:cNvSpPr txBox="1"/>
          <p:nvPr/>
        </p:nvSpPr>
        <p:spPr>
          <a:xfrm>
            <a:off x="6355080" y="2834640"/>
            <a:ext cx="4663440" cy="2286000"/>
          </a:xfrm>
          <a:prstGeom prst="rect">
            <a:avLst/>
          </a:prstGeom>
          <a:noFill/>
        </p:spPr>
        <p:txBody>
          <a:bodyPr wrap="square"/>
          <a:lstStyle/>
          <a:p>
            <a:pPr>
              <a:spcAft>
                <a:spcPts val="400"/>
              </a:spcAft>
            </a:pPr>
            <a:r>
              <a:rPr sz="1400" b="0">
                <a:solidFill>
                  <a:srgbClr val="333333"/>
                </a:solidFill>
                <a:latin typeface="Yu Gothic"/>
              </a:rPr>
              <a:t>適切なガイドラインの策定</a:t>
            </a:r>
          </a:p>
          <a:p>
            <a:pPr>
              <a:spcAft>
                <a:spcPts val="400"/>
              </a:spcAft>
            </a:pPr>
            <a:r>
              <a:rPr sz="1400" b="0">
                <a:solidFill>
                  <a:srgbClr val="333333"/>
                </a:solidFill>
                <a:latin typeface="Yu Gothic"/>
              </a:rPr>
              <a:t>アクセス制御・ログ管理</a:t>
            </a:r>
          </a:p>
          <a:p>
            <a:pPr>
              <a:spcAft>
                <a:spcPts val="400"/>
              </a:spcAft>
            </a:pPr>
            <a:r>
              <a:rPr sz="1400" b="0">
                <a:solidFill>
                  <a:srgbClr val="333333"/>
                </a:solidFill>
                <a:latin typeface="Yu Gothic"/>
              </a:rPr>
              <a:t>データ取り扱いルールの整備</a:t>
            </a:r>
          </a:p>
        </p:txBody>
      </p:sp>
      <p:sp>
        <p:nvSpPr>
          <p:cNvPr id="14" name="Rectangle 13"/>
          <p:cNvSpPr/>
          <p:nvPr/>
        </p:nvSpPr>
        <p:spPr>
          <a:xfrm>
            <a:off x="457200" y="5486400"/>
            <a:ext cx="11247120" cy="73152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5577840"/>
            <a:ext cx="10515600" cy="548640"/>
          </a:xfrm>
          <a:prstGeom prst="rect">
            <a:avLst/>
          </a:prstGeom>
          <a:noFill/>
        </p:spPr>
        <p:txBody>
          <a:bodyPr wrap="square"/>
          <a:lstStyle/>
          <a:p>
            <a:pPr algn="l"/>
            <a:r>
              <a:rPr sz="1300" b="1">
                <a:solidFill>
                  <a:srgbClr val="E98212"/>
                </a:solidFill>
                <a:latin typeface="Yu Gothic"/>
              </a:rPr>
              <a:t>重要：AIが安全かどうかではなく、AIを安全に運用できる体制があるかどうかが重要</a:t>
            </a:r>
          </a:p>
        </p:txBody>
      </p:sp>
      <p:sp>
        <p:nvSpPr>
          <p:cNvPr id="16" name="Rectangle 15"/>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04</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【重要】外注する場合は
信頼性の高い会社を選ぶべき</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04</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信頼性の高い会社を選ぶ理由</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「AIを使える」と「AIを前提に最適化できる」は大きく違う</a:t>
            </a:r>
          </a:p>
        </p:txBody>
      </p:sp>
      <p:sp>
        <p:nvSpPr>
          <p:cNvPr id="6" name="Rectangle 5"/>
          <p:cNvSpPr/>
          <p:nvPr/>
        </p:nvSpPr>
        <p:spPr>
          <a:xfrm>
            <a:off x="731520" y="2286000"/>
            <a:ext cx="493776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286000"/>
            <a:ext cx="493776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31720"/>
            <a:ext cx="4663440" cy="411480"/>
          </a:xfrm>
          <a:prstGeom prst="rect">
            <a:avLst/>
          </a:prstGeom>
          <a:noFill/>
        </p:spPr>
        <p:txBody>
          <a:bodyPr wrap="square"/>
          <a:lstStyle/>
          <a:p>
            <a:pPr algn="l"/>
            <a:r>
              <a:rPr sz="1300" b="1">
                <a:solidFill>
                  <a:srgbClr val="FFFFFF"/>
                </a:solidFill>
                <a:latin typeface="Yu Gothic"/>
              </a:rPr>
              <a:t>単にAIを利用しているだけの会社</a:t>
            </a:r>
          </a:p>
        </p:txBody>
      </p:sp>
      <p:sp>
        <p:nvSpPr>
          <p:cNvPr id="9" name="TextBox 8"/>
          <p:cNvSpPr txBox="1"/>
          <p:nvPr/>
        </p:nvSpPr>
        <p:spPr>
          <a:xfrm>
            <a:off x="868680" y="2834640"/>
            <a:ext cx="4663440" cy="2560320"/>
          </a:xfrm>
          <a:prstGeom prst="rect">
            <a:avLst/>
          </a:prstGeom>
          <a:noFill/>
        </p:spPr>
        <p:txBody>
          <a:bodyPr wrap="square"/>
          <a:lstStyle/>
          <a:p>
            <a:pPr>
              <a:spcAft>
                <a:spcPts val="400"/>
              </a:spcAft>
            </a:pPr>
            <a:r>
              <a:rPr sz="1400" b="0">
                <a:solidFill>
                  <a:srgbClr val="333333"/>
                </a:solidFill>
                <a:latin typeface="Yu Gothic"/>
              </a:rPr>
              <a:t>ツールの利用にとどまる</a:t>
            </a:r>
          </a:p>
          <a:p>
            <a:pPr>
              <a:spcAft>
                <a:spcPts val="400"/>
              </a:spcAft>
            </a:pPr>
            <a:r>
              <a:rPr sz="1400" b="0">
                <a:solidFill>
                  <a:srgbClr val="333333"/>
                </a:solidFill>
                <a:latin typeface="Yu Gothic"/>
              </a:rPr>
              <a:t>設計・レビューが不十分</a:t>
            </a:r>
          </a:p>
          <a:p>
            <a:pPr>
              <a:spcAft>
                <a:spcPts val="400"/>
              </a:spcAft>
            </a:pPr>
            <a:r>
              <a:rPr sz="1400" b="0">
                <a:solidFill>
                  <a:srgbClr val="333333"/>
                </a:solidFill>
                <a:latin typeface="Yu Gothic"/>
              </a:rPr>
              <a:t>後から大きな問題になる可能性</a:t>
            </a:r>
          </a:p>
        </p:txBody>
      </p:sp>
      <p:sp>
        <p:nvSpPr>
          <p:cNvPr id="10" name="Rectangle 9"/>
          <p:cNvSpPr/>
          <p:nvPr/>
        </p:nvSpPr>
        <p:spPr>
          <a:xfrm>
            <a:off x="6217920" y="2286000"/>
            <a:ext cx="493776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2286000"/>
            <a:ext cx="493776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331720"/>
            <a:ext cx="4663440" cy="411480"/>
          </a:xfrm>
          <a:prstGeom prst="rect">
            <a:avLst/>
          </a:prstGeom>
          <a:noFill/>
        </p:spPr>
        <p:txBody>
          <a:bodyPr wrap="square"/>
          <a:lstStyle/>
          <a:p>
            <a:pPr algn="l"/>
            <a:r>
              <a:rPr sz="1300" b="1">
                <a:solidFill>
                  <a:srgbClr val="FFFFFF"/>
                </a:solidFill>
                <a:latin typeface="Yu Gothic"/>
              </a:rPr>
              <a:t>AIを前提に最適化できる会社</a:t>
            </a:r>
          </a:p>
        </p:txBody>
      </p:sp>
      <p:sp>
        <p:nvSpPr>
          <p:cNvPr id="13" name="TextBox 12"/>
          <p:cNvSpPr txBox="1"/>
          <p:nvPr/>
        </p:nvSpPr>
        <p:spPr>
          <a:xfrm>
            <a:off x="6355080" y="2834640"/>
            <a:ext cx="4663440" cy="2560320"/>
          </a:xfrm>
          <a:prstGeom prst="rect">
            <a:avLst/>
          </a:prstGeom>
          <a:noFill/>
        </p:spPr>
        <p:txBody>
          <a:bodyPr wrap="square"/>
          <a:lstStyle/>
          <a:p>
            <a:pPr>
              <a:spcAft>
                <a:spcPts val="400"/>
              </a:spcAft>
            </a:pPr>
            <a:r>
              <a:rPr sz="1400" b="0">
                <a:solidFill>
                  <a:srgbClr val="333333"/>
                </a:solidFill>
                <a:latin typeface="Yu Gothic"/>
              </a:rPr>
              <a:t>設計から運用まで一貫対応</a:t>
            </a:r>
          </a:p>
          <a:p>
            <a:pPr>
              <a:spcAft>
                <a:spcPts val="400"/>
              </a:spcAft>
            </a:pPr>
            <a:r>
              <a:rPr sz="1400" b="0">
                <a:solidFill>
                  <a:srgbClr val="333333"/>
                </a:solidFill>
                <a:latin typeface="Yu Gothic"/>
              </a:rPr>
              <a:t>セキュリティ・品質管理が充実</a:t>
            </a:r>
          </a:p>
          <a:p>
            <a:pPr>
              <a:spcAft>
                <a:spcPts val="400"/>
              </a:spcAft>
            </a:pPr>
            <a:r>
              <a:rPr sz="1400" b="0">
                <a:solidFill>
                  <a:srgbClr val="333333"/>
                </a:solidFill>
                <a:latin typeface="Yu Gothic"/>
              </a:rPr>
              <a:t>事業として成立するプロダクトを実現</a:t>
            </a:r>
          </a:p>
        </p:txBody>
      </p:sp>
      <p:sp>
        <p:nvSpPr>
          <p:cNvPr id="14" name="Rectangle 13"/>
          <p:cNvSpPr/>
          <p:nvPr/>
        </p:nvSpPr>
        <p:spPr>
          <a:xfrm>
            <a:off x="457200" y="5760720"/>
            <a:ext cx="11247120" cy="4572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5806440"/>
            <a:ext cx="10515600" cy="365760"/>
          </a:xfrm>
          <a:prstGeom prst="rect">
            <a:avLst/>
          </a:prstGeom>
          <a:noFill/>
        </p:spPr>
        <p:txBody>
          <a:bodyPr wrap="square"/>
          <a:lstStyle/>
          <a:p>
            <a:pPr algn="l"/>
            <a:r>
              <a:rPr sz="1300" b="1">
                <a:solidFill>
                  <a:srgbClr val="E98212"/>
                </a:solidFill>
                <a:latin typeface="Yu Gothic"/>
              </a:rPr>
              <a:t>価格や開発スピードだけで判断せず、「AIを正しく扱える会社か」を見極める</a:t>
            </a:r>
          </a:p>
        </p:txBody>
      </p:sp>
      <p:sp>
        <p:nvSpPr>
          <p:cNvPr id="16" name="Rectangle 15"/>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05</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バイブコーディング（AI駆動開発）
会社を選ぶための5つのポイント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05</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ポイント①：信頼できる実績があるか</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AIの使いどころや成果、失敗例まで確認する</a:t>
            </a:r>
          </a:p>
        </p:txBody>
      </p:sp>
      <p:sp>
        <p:nvSpPr>
          <p:cNvPr id="6" name="TextBox 5"/>
          <p:cNvSpPr txBox="1"/>
          <p:nvPr/>
        </p:nvSpPr>
        <p:spPr>
          <a:xfrm>
            <a:off x="731520" y="2286000"/>
            <a:ext cx="10058400" cy="2743200"/>
          </a:xfrm>
          <a:prstGeom prst="rect">
            <a:avLst/>
          </a:prstGeom>
          <a:noFill/>
        </p:spPr>
        <p:txBody>
          <a:bodyPr wrap="square"/>
          <a:lstStyle/>
          <a:p>
            <a:pPr>
              <a:spcAft>
                <a:spcPts val="800"/>
              </a:spcAft>
            </a:pPr>
            <a:r>
              <a:rPr sz="1400" b="0">
                <a:solidFill>
                  <a:srgbClr val="333333"/>
                </a:solidFill>
                <a:latin typeface="Yu Gothic"/>
              </a:rPr>
              <a:t>● どの工程にAIを組み込み、どのように成果につなげているかを確認</a:t>
            </a:r>
          </a:p>
          <a:p>
            <a:pPr>
              <a:spcAft>
                <a:spcPts val="800"/>
              </a:spcAft>
            </a:pPr>
            <a:r>
              <a:rPr sz="1400" b="0">
                <a:solidFill>
                  <a:srgbClr val="333333"/>
                </a:solidFill>
                <a:latin typeface="Yu Gothic"/>
              </a:rPr>
              <a:t>● 失敗例まで踏み込んで確認することがおすすめ</a:t>
            </a:r>
          </a:p>
          <a:p>
            <a:pPr>
              <a:spcAft>
                <a:spcPts val="800"/>
              </a:spcAft>
            </a:pPr>
            <a:r>
              <a:rPr sz="1400" b="0">
                <a:solidFill>
                  <a:srgbClr val="333333"/>
                </a:solidFill>
                <a:latin typeface="Yu Gothic"/>
              </a:rPr>
              <a:t>● 自社が開発したいプロダクトと近い領域での実績があると安心</a:t>
            </a:r>
          </a:p>
          <a:p>
            <a:pPr>
              <a:spcAft>
                <a:spcPts val="800"/>
              </a:spcAft>
            </a:pPr>
            <a:r>
              <a:rPr sz="1400" b="0">
                <a:solidFill>
                  <a:srgbClr val="333333"/>
                </a:solidFill>
                <a:latin typeface="Yu Gothic"/>
              </a:rPr>
              <a:t>● 要件定義や設計段階での認識ズレが起きにくくなる</a:t>
            </a:r>
          </a:p>
        </p:txBody>
      </p:sp>
      <p:sp>
        <p:nvSpPr>
          <p:cNvPr id="7" name="Rectangle 6"/>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05</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ポイント②：有益な発信がされているか</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ブログ・SNS・YouTubeでの発信内容をチェック</a:t>
            </a:r>
          </a:p>
        </p:txBody>
      </p:sp>
      <p:sp>
        <p:nvSpPr>
          <p:cNvPr id="6" name="TextBox 5"/>
          <p:cNvSpPr txBox="1"/>
          <p:nvPr/>
        </p:nvSpPr>
        <p:spPr>
          <a:xfrm>
            <a:off x="731520" y="2286000"/>
            <a:ext cx="10058400" cy="2743200"/>
          </a:xfrm>
          <a:prstGeom prst="rect">
            <a:avLst/>
          </a:prstGeom>
          <a:noFill/>
        </p:spPr>
        <p:txBody>
          <a:bodyPr wrap="square"/>
          <a:lstStyle/>
          <a:p>
            <a:pPr>
              <a:spcAft>
                <a:spcPts val="800"/>
              </a:spcAft>
            </a:pPr>
            <a:r>
              <a:rPr sz="1400" b="0">
                <a:solidFill>
                  <a:srgbClr val="333333"/>
                </a:solidFill>
                <a:latin typeface="Yu Gothic"/>
              </a:rPr>
              <a:t>● 生成AI・RAG・AIエージェントなどは変化が非常に速い分野</a:t>
            </a:r>
          </a:p>
          <a:p>
            <a:pPr>
              <a:spcAft>
                <a:spcPts val="800"/>
              </a:spcAft>
            </a:pPr>
            <a:r>
              <a:rPr sz="1400" b="0">
                <a:solidFill>
                  <a:srgbClr val="333333"/>
                </a:solidFill>
                <a:latin typeface="Yu Gothic"/>
              </a:rPr>
              <a:t>● 実務で使える知見を持っているかは発信内容に表れやすい</a:t>
            </a:r>
          </a:p>
          <a:p>
            <a:pPr>
              <a:spcAft>
                <a:spcPts val="800"/>
              </a:spcAft>
            </a:pPr>
            <a:r>
              <a:rPr sz="1400" b="0">
                <a:solidFill>
                  <a:srgbClr val="333333"/>
                </a:solidFill>
                <a:latin typeface="Yu Gothic"/>
              </a:rPr>
              <a:t>● 「どこでつまずきやすいか」「どう設計すべきか」まで踏み込んだ発信があるか</a:t>
            </a:r>
          </a:p>
          <a:p>
            <a:pPr>
              <a:spcAft>
                <a:spcPts val="800"/>
              </a:spcAft>
            </a:pPr>
            <a:r>
              <a:rPr sz="1400" b="0">
                <a:solidFill>
                  <a:srgbClr val="333333"/>
                </a:solidFill>
                <a:latin typeface="Yu Gothic"/>
              </a:rPr>
              <a:t>● 「この会社ならAIの使いどころを判断してくれそう」と感じられるか</a:t>
            </a:r>
          </a:p>
        </p:txBody>
      </p:sp>
      <p:sp>
        <p:nvSpPr>
          <p:cNvPr id="7" name="Rectangle 6"/>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05</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ポイント③：問い合わせの対応が丁寧か</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AI開発は綿密な対話を重ねる二人三脚の進め方</a:t>
            </a:r>
          </a:p>
        </p:txBody>
      </p:sp>
      <p:sp>
        <p:nvSpPr>
          <p:cNvPr id="6" name="Rectangle 5"/>
          <p:cNvSpPr/>
          <p:nvPr/>
        </p:nvSpPr>
        <p:spPr>
          <a:xfrm>
            <a:off x="45720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3200400" cy="411480"/>
          </a:xfrm>
          <a:prstGeom prst="rect">
            <a:avLst/>
          </a:prstGeom>
          <a:noFill/>
        </p:spPr>
        <p:txBody>
          <a:bodyPr wrap="square"/>
          <a:lstStyle/>
          <a:p>
            <a:pPr algn="l"/>
            <a:r>
              <a:rPr sz="1300" b="1">
                <a:solidFill>
                  <a:srgbClr val="FFFFFF"/>
                </a:solidFill>
                <a:latin typeface="Yu Gothic"/>
              </a:rPr>
              <a:t>課題の言語化</a:t>
            </a:r>
          </a:p>
        </p:txBody>
      </p:sp>
      <p:sp>
        <p:nvSpPr>
          <p:cNvPr id="9" name="TextBox 8"/>
          <p:cNvSpPr txBox="1"/>
          <p:nvPr/>
        </p:nvSpPr>
        <p:spPr>
          <a:xfrm>
            <a:off x="594360" y="3108960"/>
            <a:ext cx="3200400" cy="1645920"/>
          </a:xfrm>
          <a:prstGeom prst="rect">
            <a:avLst/>
          </a:prstGeom>
          <a:noFill/>
        </p:spPr>
        <p:txBody>
          <a:bodyPr wrap="square"/>
          <a:lstStyle/>
          <a:p>
            <a:pPr>
              <a:spcAft>
                <a:spcPts val="400"/>
              </a:spcAft>
            </a:pPr>
            <a:r>
              <a:rPr sz="1400" b="0">
                <a:solidFill>
                  <a:srgbClr val="333333"/>
                </a:solidFill>
                <a:latin typeface="Yu Gothic"/>
              </a:rPr>
              <a:t>課題を丁寧に
言語化し直してくれるか</a:t>
            </a:r>
          </a:p>
        </p:txBody>
      </p:sp>
      <p:sp>
        <p:nvSpPr>
          <p:cNvPr id="10" name="Rectangle 9"/>
          <p:cNvSpPr/>
          <p:nvPr/>
        </p:nvSpPr>
        <p:spPr>
          <a:xfrm>
            <a:off x="429768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560320"/>
            <a:ext cx="3474720" cy="457200"/>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606040"/>
            <a:ext cx="3200400" cy="411480"/>
          </a:xfrm>
          <a:prstGeom prst="rect">
            <a:avLst/>
          </a:prstGeom>
          <a:noFill/>
        </p:spPr>
        <p:txBody>
          <a:bodyPr wrap="square"/>
          <a:lstStyle/>
          <a:p>
            <a:pPr algn="l"/>
            <a:r>
              <a:rPr sz="1300" b="1">
                <a:solidFill>
                  <a:srgbClr val="FFFFFF"/>
                </a:solidFill>
                <a:latin typeface="Yu Gothic"/>
              </a:rPr>
              <a:t>代替案の提示</a:t>
            </a:r>
          </a:p>
        </p:txBody>
      </p:sp>
      <p:sp>
        <p:nvSpPr>
          <p:cNvPr id="13" name="TextBox 12"/>
          <p:cNvSpPr txBox="1"/>
          <p:nvPr/>
        </p:nvSpPr>
        <p:spPr>
          <a:xfrm>
            <a:off x="4434840" y="3108960"/>
            <a:ext cx="3200400" cy="1645920"/>
          </a:xfrm>
          <a:prstGeom prst="rect">
            <a:avLst/>
          </a:prstGeom>
          <a:noFill/>
        </p:spPr>
        <p:txBody>
          <a:bodyPr wrap="square"/>
          <a:lstStyle/>
          <a:p>
            <a:pPr>
              <a:spcAft>
                <a:spcPts val="400"/>
              </a:spcAft>
            </a:pPr>
            <a:r>
              <a:rPr sz="1400" b="0">
                <a:solidFill>
                  <a:srgbClr val="333333"/>
                </a:solidFill>
                <a:latin typeface="Yu Gothic"/>
              </a:rPr>
              <a:t>AI活用の是非や代替案まで
含めて説明してくれるか</a:t>
            </a:r>
          </a:p>
        </p:txBody>
      </p:sp>
      <p:sp>
        <p:nvSpPr>
          <p:cNvPr id="14" name="Rectangle 13"/>
          <p:cNvSpPr/>
          <p:nvPr/>
        </p:nvSpPr>
        <p:spPr>
          <a:xfrm>
            <a:off x="813816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5603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606040"/>
            <a:ext cx="3200400" cy="411480"/>
          </a:xfrm>
          <a:prstGeom prst="rect">
            <a:avLst/>
          </a:prstGeom>
          <a:noFill/>
        </p:spPr>
        <p:txBody>
          <a:bodyPr wrap="square"/>
          <a:lstStyle/>
          <a:p>
            <a:pPr algn="l"/>
            <a:r>
              <a:rPr sz="1300" b="1">
                <a:solidFill>
                  <a:srgbClr val="FFFFFF"/>
                </a:solidFill>
                <a:latin typeface="Yu Gothic"/>
              </a:rPr>
              <a:t>レスポンス</a:t>
            </a:r>
          </a:p>
        </p:txBody>
      </p:sp>
      <p:sp>
        <p:nvSpPr>
          <p:cNvPr id="17" name="TextBox 16"/>
          <p:cNvSpPr txBox="1"/>
          <p:nvPr/>
        </p:nvSpPr>
        <p:spPr>
          <a:xfrm>
            <a:off x="8275320" y="3108960"/>
            <a:ext cx="3200400" cy="1645920"/>
          </a:xfrm>
          <a:prstGeom prst="rect">
            <a:avLst/>
          </a:prstGeom>
          <a:noFill/>
        </p:spPr>
        <p:txBody>
          <a:bodyPr wrap="square"/>
          <a:lstStyle/>
          <a:p>
            <a:pPr>
              <a:spcAft>
                <a:spcPts val="400"/>
              </a:spcAft>
            </a:pPr>
            <a:r>
              <a:rPr sz="1400" b="0">
                <a:solidFill>
                  <a:srgbClr val="333333"/>
                </a:solidFill>
                <a:latin typeface="Yu Gothic"/>
              </a:rPr>
              <a:t>レスポンスが早く
論点が整理されているか</a:t>
            </a:r>
          </a:p>
        </p:txBody>
      </p:sp>
      <p:sp>
        <p:nvSpPr>
          <p:cNvPr id="18" name="Rectangle 17"/>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05</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ポイント④：サポート体制は十分か</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「作って終わり」ではなく、運用しながら育てるフェーズが重要</a:t>
            </a:r>
          </a:p>
        </p:txBody>
      </p:sp>
      <p:sp>
        <p:nvSpPr>
          <p:cNvPr id="6" name="TextBox 5"/>
          <p:cNvSpPr txBox="1"/>
          <p:nvPr/>
        </p:nvSpPr>
        <p:spPr>
          <a:xfrm>
            <a:off x="731520" y="2286000"/>
            <a:ext cx="10058400" cy="2743200"/>
          </a:xfrm>
          <a:prstGeom prst="rect">
            <a:avLst/>
          </a:prstGeom>
          <a:noFill/>
        </p:spPr>
        <p:txBody>
          <a:bodyPr wrap="square"/>
          <a:lstStyle/>
          <a:p>
            <a:pPr>
              <a:spcAft>
                <a:spcPts val="800"/>
              </a:spcAft>
            </a:pPr>
            <a:r>
              <a:rPr sz="1400" b="0">
                <a:solidFill>
                  <a:srgbClr val="333333"/>
                </a:solidFill>
                <a:latin typeface="Yu Gothic"/>
              </a:rPr>
              <a:t>● 生成AIを組み込んだシステムはリリース後に精度調整やチューニングが必要</a:t>
            </a:r>
          </a:p>
          <a:p>
            <a:pPr>
              <a:spcAft>
                <a:spcPts val="800"/>
              </a:spcAft>
            </a:pPr>
            <a:r>
              <a:rPr sz="1400" b="0">
                <a:solidFill>
                  <a:srgbClr val="333333"/>
                </a:solidFill>
                <a:latin typeface="Yu Gothic"/>
              </a:rPr>
              <a:t>● 想定外の挙動やトラブルが起こることを前提に考える</a:t>
            </a:r>
          </a:p>
          <a:p>
            <a:pPr>
              <a:spcAft>
                <a:spcPts val="800"/>
              </a:spcAft>
            </a:pPr>
            <a:r>
              <a:rPr sz="1400" b="0">
                <a:solidFill>
                  <a:srgbClr val="333333"/>
                </a:solidFill>
                <a:latin typeface="Yu Gothic"/>
              </a:rPr>
              <a:t>● 問い合わせ対応の範囲や改善対応を事前に確認</a:t>
            </a:r>
          </a:p>
          <a:p>
            <a:pPr>
              <a:spcAft>
                <a:spcPts val="800"/>
              </a:spcAft>
            </a:pPr>
            <a:r>
              <a:rPr sz="1400" b="0">
                <a:solidFill>
                  <a:srgbClr val="333333"/>
                </a:solidFill>
                <a:latin typeface="Yu Gothic"/>
              </a:rPr>
              <a:t>● 自社の事業フェーズに必要なサポートを見極めて依頼先を選ぶ</a:t>
            </a:r>
          </a:p>
        </p:txBody>
      </p:sp>
      <p:sp>
        <p:nvSpPr>
          <p:cNvPr id="7" name="Rectangle 6"/>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05</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ポイント⑤：自社特有の課題を踏まえた提案</a:t>
            </a:r>
          </a:p>
        </p:txBody>
      </p:sp>
      <p:sp>
        <p:nvSpPr>
          <p:cNvPr id="5" name="TextBox 4"/>
          <p:cNvSpPr txBox="1"/>
          <p:nvPr/>
        </p:nvSpPr>
        <p:spPr>
          <a:xfrm>
            <a:off x="731520" y="1371600"/>
            <a:ext cx="10515600" cy="731520"/>
          </a:xfrm>
          <a:prstGeom prst="rect">
            <a:avLst/>
          </a:prstGeom>
          <a:noFill/>
        </p:spPr>
        <p:txBody>
          <a:bodyPr wrap="square"/>
          <a:lstStyle/>
          <a:p>
            <a:pPr algn="l"/>
            <a:r>
              <a:rPr sz="2000" b="1">
                <a:solidFill>
                  <a:srgbClr val="2B323B"/>
                </a:solidFill>
                <a:latin typeface="Yu Gothic"/>
              </a:rPr>
              <a:t>「作れるから作る」ではなく、目的とニーズを整理した提案ができるか</a:t>
            </a:r>
          </a:p>
        </p:txBody>
      </p:sp>
      <p:sp>
        <p:nvSpPr>
          <p:cNvPr id="6" name="Rectangle 5"/>
          <p:cNvSpPr/>
          <p:nvPr/>
        </p:nvSpPr>
        <p:spPr>
          <a:xfrm>
            <a:off x="45720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5603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606040"/>
            <a:ext cx="3200400" cy="411480"/>
          </a:xfrm>
          <a:prstGeom prst="rect">
            <a:avLst/>
          </a:prstGeom>
          <a:noFill/>
        </p:spPr>
        <p:txBody>
          <a:bodyPr wrap="square"/>
          <a:lstStyle/>
          <a:p>
            <a:pPr algn="l"/>
            <a:r>
              <a:rPr sz="1300" b="1">
                <a:solidFill>
                  <a:srgbClr val="FFFFFF"/>
                </a:solidFill>
                <a:latin typeface="Yu Gothic"/>
              </a:rPr>
              <a:t>壁打ち・仮説検証</a:t>
            </a:r>
          </a:p>
        </p:txBody>
      </p:sp>
      <p:sp>
        <p:nvSpPr>
          <p:cNvPr id="9" name="TextBox 8"/>
          <p:cNvSpPr txBox="1"/>
          <p:nvPr/>
        </p:nvSpPr>
        <p:spPr>
          <a:xfrm>
            <a:off x="594360" y="3108960"/>
            <a:ext cx="3200400" cy="1645920"/>
          </a:xfrm>
          <a:prstGeom prst="rect">
            <a:avLst/>
          </a:prstGeom>
          <a:noFill/>
        </p:spPr>
        <p:txBody>
          <a:bodyPr wrap="square"/>
          <a:lstStyle/>
          <a:p>
            <a:pPr>
              <a:spcAft>
                <a:spcPts val="400"/>
              </a:spcAft>
            </a:pPr>
            <a:r>
              <a:rPr sz="1400" b="0">
                <a:solidFill>
                  <a:srgbClr val="333333"/>
                </a:solidFill>
                <a:latin typeface="Yu Gothic"/>
              </a:rPr>
              <a:t>アイデアの壁打ちや
仮説検証に伴走</a:t>
            </a:r>
          </a:p>
        </p:txBody>
      </p:sp>
      <p:sp>
        <p:nvSpPr>
          <p:cNvPr id="10" name="Rectangle 9"/>
          <p:cNvSpPr/>
          <p:nvPr/>
        </p:nvSpPr>
        <p:spPr>
          <a:xfrm>
            <a:off x="429768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560320"/>
            <a:ext cx="3474720" cy="457200"/>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606040"/>
            <a:ext cx="3200400" cy="411480"/>
          </a:xfrm>
          <a:prstGeom prst="rect">
            <a:avLst/>
          </a:prstGeom>
          <a:noFill/>
        </p:spPr>
        <p:txBody>
          <a:bodyPr wrap="square"/>
          <a:lstStyle/>
          <a:p>
            <a:pPr algn="l"/>
            <a:r>
              <a:rPr sz="1300" b="1">
                <a:solidFill>
                  <a:srgbClr val="FFFFFF"/>
                </a:solidFill>
                <a:latin typeface="Yu Gothic"/>
              </a:rPr>
              <a:t>AI利用の是非判断</a:t>
            </a:r>
          </a:p>
        </p:txBody>
      </p:sp>
      <p:sp>
        <p:nvSpPr>
          <p:cNvPr id="13" name="TextBox 12"/>
          <p:cNvSpPr txBox="1"/>
          <p:nvPr/>
        </p:nvSpPr>
        <p:spPr>
          <a:xfrm>
            <a:off x="4434840" y="3108960"/>
            <a:ext cx="3200400" cy="1645920"/>
          </a:xfrm>
          <a:prstGeom prst="rect">
            <a:avLst/>
          </a:prstGeom>
          <a:noFill/>
        </p:spPr>
        <p:txBody>
          <a:bodyPr wrap="square"/>
          <a:lstStyle/>
          <a:p>
            <a:pPr>
              <a:spcAft>
                <a:spcPts val="400"/>
              </a:spcAft>
            </a:pPr>
            <a:r>
              <a:rPr sz="1400" b="0">
                <a:solidFill>
                  <a:srgbClr val="333333"/>
                </a:solidFill>
                <a:latin typeface="Yu Gothic"/>
              </a:rPr>
              <a:t>どこにAIを使うべきか
使わない方がよいかまで提案</a:t>
            </a:r>
          </a:p>
        </p:txBody>
      </p:sp>
      <p:sp>
        <p:nvSpPr>
          <p:cNvPr id="14" name="Rectangle 13"/>
          <p:cNvSpPr/>
          <p:nvPr/>
        </p:nvSpPr>
        <p:spPr>
          <a:xfrm>
            <a:off x="8138160" y="2560320"/>
            <a:ext cx="34747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25603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606040"/>
            <a:ext cx="3200400" cy="411480"/>
          </a:xfrm>
          <a:prstGeom prst="rect">
            <a:avLst/>
          </a:prstGeom>
          <a:noFill/>
        </p:spPr>
        <p:txBody>
          <a:bodyPr wrap="square"/>
          <a:lstStyle/>
          <a:p>
            <a:pPr algn="l"/>
            <a:r>
              <a:rPr sz="1300" b="1">
                <a:solidFill>
                  <a:srgbClr val="FFFFFF"/>
                </a:solidFill>
                <a:latin typeface="Yu Gothic"/>
              </a:rPr>
              <a:t>POC段階の整理</a:t>
            </a:r>
          </a:p>
        </p:txBody>
      </p:sp>
      <p:sp>
        <p:nvSpPr>
          <p:cNvPr id="17" name="TextBox 16"/>
          <p:cNvSpPr txBox="1"/>
          <p:nvPr/>
        </p:nvSpPr>
        <p:spPr>
          <a:xfrm>
            <a:off x="8275320" y="3108960"/>
            <a:ext cx="3200400" cy="1645920"/>
          </a:xfrm>
          <a:prstGeom prst="rect">
            <a:avLst/>
          </a:prstGeom>
          <a:noFill/>
        </p:spPr>
        <p:txBody>
          <a:bodyPr wrap="square"/>
          <a:lstStyle/>
          <a:p>
            <a:pPr>
              <a:spcAft>
                <a:spcPts val="400"/>
              </a:spcAft>
            </a:pPr>
            <a:r>
              <a:rPr sz="1400" b="0">
                <a:solidFill>
                  <a:srgbClr val="333333"/>
                </a:solidFill>
                <a:latin typeface="Yu Gothic"/>
              </a:rPr>
              <a:t>PoC段階での方向性整理
まで伴走してくれるか</a:t>
            </a:r>
          </a:p>
        </p:txBody>
      </p:sp>
      <p:sp>
        <p:nvSpPr>
          <p:cNvPr id="18" name="Rectangle 17"/>
          <p:cNvSpPr/>
          <p:nvPr/>
        </p:nvSpPr>
        <p:spPr>
          <a:xfrm>
            <a:off x="457200" y="5303520"/>
            <a:ext cx="11247120" cy="9144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394960"/>
            <a:ext cx="10515600" cy="731520"/>
          </a:xfrm>
          <a:prstGeom prst="rect">
            <a:avLst/>
          </a:prstGeom>
          <a:noFill/>
        </p:spPr>
        <p:txBody>
          <a:bodyPr wrap="square"/>
          <a:lstStyle/>
          <a:p>
            <a:pPr algn="l"/>
            <a:r>
              <a:rPr sz="1300" b="1">
                <a:solidFill>
                  <a:srgbClr val="E98212"/>
                </a:solidFill>
                <a:latin typeface="Yu Gothic"/>
              </a:rPr>
              <a:t>ポイント：事業として成立するプロダクトを作れるかが最も重要</a:t>
            </a:r>
          </a:p>
        </p:txBody>
      </p:sp>
      <p:sp>
        <p:nvSpPr>
          <p:cNvPr id="20" name="Rectangle 19"/>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828800"/>
            <a:ext cx="12191695" cy="914400"/>
          </a:xfrm>
          <a:prstGeom prst="rect">
            <a:avLst/>
          </a:prstGeom>
          <a:noFill/>
        </p:spPr>
        <p:txBody>
          <a:bodyPr wrap="square"/>
          <a:lstStyle/>
          <a:p>
            <a:pPr algn="ctr"/>
            <a:r>
              <a:rPr sz="4800" b="1">
                <a:solidFill>
                  <a:srgbClr val="E98212"/>
                </a:solidFill>
                <a:latin typeface="Yu Gothic"/>
              </a:rPr>
              <a:t>06</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【まとめ】
バイブコーディングのセキュリティ</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 cy="822960"/>
          </a:xfrm>
          <a:prstGeom prst="rect">
            <a:avLst/>
          </a:prstGeom>
          <a:noFill/>
        </p:spPr>
        <p:txBody>
          <a:bodyPr wrap="square"/>
          <a:lstStyle/>
          <a:p>
            <a:pPr algn="l"/>
            <a:r>
              <a:rPr sz="3600" b="1">
                <a:solidFill>
                  <a:srgbClr val="E98212"/>
                </a:solidFill>
                <a:latin typeface="Yu Gothic"/>
              </a:rPr>
              <a:t>06</a:t>
            </a:r>
          </a:p>
        </p:txBody>
      </p:sp>
      <p:sp>
        <p:nvSpPr>
          <p:cNvPr id="4" name="TextBox 3"/>
          <p:cNvSpPr txBox="1"/>
          <p:nvPr/>
        </p:nvSpPr>
        <p:spPr>
          <a:xfrm>
            <a:off x="1645920" y="228600"/>
            <a:ext cx="9144000" cy="731520"/>
          </a:xfrm>
          <a:prstGeom prst="rect">
            <a:avLst/>
          </a:prstGeom>
          <a:noFill/>
        </p:spPr>
        <p:txBody>
          <a:bodyPr wrap="square"/>
          <a:lstStyle/>
          <a:p>
            <a:pPr algn="l"/>
            <a:r>
              <a:rPr sz="2800" b="1">
                <a:solidFill>
                  <a:srgbClr val="FFFFFF"/>
                </a:solidFill>
                <a:latin typeface="Yu Gothic"/>
              </a:rPr>
              <a:t>まとめ</a:t>
            </a:r>
          </a:p>
        </p:txBody>
      </p:sp>
      <p:sp>
        <p:nvSpPr>
          <p:cNvPr id="5" name="Rectangle 4"/>
          <p:cNvSpPr/>
          <p:nvPr/>
        </p:nvSpPr>
        <p:spPr>
          <a:xfrm>
            <a:off x="457200" y="1645920"/>
            <a:ext cx="347472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645920"/>
            <a:ext cx="347472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91640"/>
            <a:ext cx="3200400" cy="411480"/>
          </a:xfrm>
          <a:prstGeom prst="rect">
            <a:avLst/>
          </a:prstGeom>
          <a:noFill/>
        </p:spPr>
        <p:txBody>
          <a:bodyPr wrap="square"/>
          <a:lstStyle/>
          <a:p>
            <a:pPr algn="l"/>
            <a:r>
              <a:rPr sz="1300" b="1">
                <a:solidFill>
                  <a:srgbClr val="FFFFFF"/>
                </a:solidFill>
                <a:latin typeface="Yu Gothic"/>
              </a:rPr>
              <a:t>結論</a:t>
            </a:r>
          </a:p>
        </p:txBody>
      </p:sp>
      <p:sp>
        <p:nvSpPr>
          <p:cNvPr id="8" name="TextBox 7"/>
          <p:cNvSpPr txBox="1"/>
          <p:nvPr/>
        </p:nvSpPr>
        <p:spPr>
          <a:xfrm>
            <a:off x="594360" y="2194560"/>
            <a:ext cx="3200400" cy="2103120"/>
          </a:xfrm>
          <a:prstGeom prst="rect">
            <a:avLst/>
          </a:prstGeom>
          <a:noFill/>
        </p:spPr>
        <p:txBody>
          <a:bodyPr wrap="square"/>
          <a:lstStyle/>
          <a:p>
            <a:pPr>
              <a:spcAft>
                <a:spcPts val="400"/>
              </a:spcAft>
            </a:pPr>
            <a:r>
              <a:rPr sz="1400" b="0">
                <a:solidFill>
                  <a:srgbClr val="333333"/>
                </a:solidFill>
                <a:latin typeface="Yu Gothic"/>
              </a:rPr>
              <a:t>バイブコーディングは</a:t>
            </a:r>
          </a:p>
          <a:p>
            <a:pPr>
              <a:spcAft>
                <a:spcPts val="400"/>
              </a:spcAft>
            </a:pPr>
            <a:r>
              <a:rPr sz="1400" b="0">
                <a:solidFill>
                  <a:srgbClr val="333333"/>
                </a:solidFill>
                <a:latin typeface="Yu Gothic"/>
              </a:rPr>
              <a:t>適切に設計すれば</a:t>
            </a:r>
          </a:p>
          <a:p>
            <a:pPr>
              <a:spcAft>
                <a:spcPts val="400"/>
              </a:spcAft>
            </a:pPr>
            <a:r>
              <a:rPr sz="1400" b="0">
                <a:solidFill>
                  <a:srgbClr val="333333"/>
                </a:solidFill>
                <a:latin typeface="Yu Gothic"/>
              </a:rPr>
              <a:t>十分に安全に運用できる</a:t>
            </a:r>
          </a:p>
        </p:txBody>
      </p:sp>
      <p:sp>
        <p:nvSpPr>
          <p:cNvPr id="9" name="Rectangle 8"/>
          <p:cNvSpPr/>
          <p:nvPr/>
        </p:nvSpPr>
        <p:spPr>
          <a:xfrm>
            <a:off x="4297680" y="1645920"/>
            <a:ext cx="347472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1645920"/>
            <a:ext cx="3474720" cy="457200"/>
          </a:xfrm>
          <a:prstGeom prst="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691640"/>
            <a:ext cx="3200400" cy="411480"/>
          </a:xfrm>
          <a:prstGeom prst="rect">
            <a:avLst/>
          </a:prstGeom>
          <a:noFill/>
        </p:spPr>
        <p:txBody>
          <a:bodyPr wrap="square"/>
          <a:lstStyle/>
          <a:p>
            <a:pPr algn="l"/>
            <a:r>
              <a:rPr sz="1300" b="1">
                <a:solidFill>
                  <a:srgbClr val="FFFFFF"/>
                </a:solidFill>
                <a:latin typeface="Yu Gothic"/>
              </a:rPr>
              <a:t>注意点</a:t>
            </a:r>
          </a:p>
        </p:txBody>
      </p:sp>
      <p:sp>
        <p:nvSpPr>
          <p:cNvPr id="12" name="TextBox 11"/>
          <p:cNvSpPr txBox="1"/>
          <p:nvPr/>
        </p:nvSpPr>
        <p:spPr>
          <a:xfrm>
            <a:off x="4434840" y="2194560"/>
            <a:ext cx="3200400" cy="2103120"/>
          </a:xfrm>
          <a:prstGeom prst="rect">
            <a:avLst/>
          </a:prstGeom>
          <a:noFill/>
        </p:spPr>
        <p:txBody>
          <a:bodyPr wrap="square"/>
          <a:lstStyle/>
          <a:p>
            <a:pPr>
              <a:spcAft>
                <a:spcPts val="400"/>
              </a:spcAft>
            </a:pPr>
            <a:r>
              <a:rPr sz="1400" b="0">
                <a:solidFill>
                  <a:srgbClr val="333333"/>
                </a:solidFill>
                <a:latin typeface="Yu Gothic"/>
              </a:rPr>
              <a:t>AIが生成したコードを</a:t>
            </a:r>
          </a:p>
          <a:p>
            <a:pPr>
              <a:spcAft>
                <a:spcPts val="400"/>
              </a:spcAft>
            </a:pPr>
            <a:r>
              <a:rPr sz="1400" b="0">
                <a:solidFill>
                  <a:srgbClr val="333333"/>
                </a:solidFill>
                <a:latin typeface="Yu Gothic"/>
              </a:rPr>
              <a:t>理解せず利用すると</a:t>
            </a:r>
          </a:p>
          <a:p>
            <a:pPr>
              <a:spcAft>
                <a:spcPts val="400"/>
              </a:spcAft>
            </a:pPr>
            <a:r>
              <a:rPr sz="1400" b="0">
                <a:solidFill>
                  <a:srgbClr val="333333"/>
                </a:solidFill>
                <a:latin typeface="Yu Gothic"/>
              </a:rPr>
              <a:t>脆弱性が生まれる可能性</a:t>
            </a:r>
          </a:p>
        </p:txBody>
      </p:sp>
      <p:sp>
        <p:nvSpPr>
          <p:cNvPr id="13" name="Rectangle 12"/>
          <p:cNvSpPr/>
          <p:nvPr/>
        </p:nvSpPr>
        <p:spPr>
          <a:xfrm>
            <a:off x="8138160" y="1645920"/>
            <a:ext cx="347472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645920"/>
            <a:ext cx="3474720" cy="457200"/>
          </a:xfrm>
          <a:prstGeom prst="rect">
            <a:avLst/>
          </a:prstGeom>
          <a:solidFill>
            <a:srgbClr val="3A7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20" y="1691640"/>
            <a:ext cx="3200400" cy="411480"/>
          </a:xfrm>
          <a:prstGeom prst="rect">
            <a:avLst/>
          </a:prstGeom>
          <a:noFill/>
        </p:spPr>
        <p:txBody>
          <a:bodyPr wrap="square"/>
          <a:lstStyle/>
          <a:p>
            <a:pPr algn="l"/>
            <a:r>
              <a:rPr sz="1300" b="1">
                <a:solidFill>
                  <a:srgbClr val="FFFFFF"/>
                </a:solidFill>
                <a:latin typeface="Yu Gothic"/>
              </a:rPr>
              <a:t>外注のポイント</a:t>
            </a:r>
          </a:p>
        </p:txBody>
      </p:sp>
      <p:sp>
        <p:nvSpPr>
          <p:cNvPr id="16" name="TextBox 15"/>
          <p:cNvSpPr txBox="1"/>
          <p:nvPr/>
        </p:nvSpPr>
        <p:spPr>
          <a:xfrm>
            <a:off x="8275320" y="2194560"/>
            <a:ext cx="3200400" cy="2103120"/>
          </a:xfrm>
          <a:prstGeom prst="rect">
            <a:avLst/>
          </a:prstGeom>
          <a:noFill/>
        </p:spPr>
        <p:txBody>
          <a:bodyPr wrap="square"/>
          <a:lstStyle/>
          <a:p>
            <a:pPr>
              <a:spcAft>
                <a:spcPts val="400"/>
              </a:spcAft>
            </a:pPr>
            <a:r>
              <a:rPr sz="1400" b="0">
                <a:solidFill>
                  <a:srgbClr val="333333"/>
                </a:solidFill>
                <a:latin typeface="Yu Gothic"/>
              </a:rPr>
              <a:t>実績や運用ノウハウを持つ</a:t>
            </a:r>
          </a:p>
          <a:p>
            <a:pPr>
              <a:spcAft>
                <a:spcPts val="400"/>
              </a:spcAft>
            </a:pPr>
            <a:r>
              <a:rPr sz="1400" b="0">
                <a:solidFill>
                  <a:srgbClr val="333333"/>
                </a:solidFill>
                <a:latin typeface="Yu Gothic"/>
              </a:rPr>
              <a:t>信頼性の高い会社を</a:t>
            </a:r>
          </a:p>
          <a:p>
            <a:pPr>
              <a:spcAft>
                <a:spcPts val="400"/>
              </a:spcAft>
            </a:pPr>
            <a:r>
              <a:rPr sz="1400" b="0">
                <a:solidFill>
                  <a:srgbClr val="333333"/>
                </a:solidFill>
                <a:latin typeface="Yu Gothic"/>
              </a:rPr>
              <a:t>選ぶことが重要</a:t>
            </a:r>
          </a:p>
        </p:txBody>
      </p:sp>
      <p:sp>
        <p:nvSpPr>
          <p:cNvPr id="17" name="Rectangle 16"/>
          <p:cNvSpPr/>
          <p:nvPr/>
        </p:nvSpPr>
        <p:spPr>
          <a:xfrm>
            <a:off x="457200" y="4846320"/>
            <a:ext cx="11247120" cy="1371600"/>
          </a:xfrm>
          <a:prstGeom prst="rect">
            <a:avLst/>
          </a:prstGeom>
          <a:solidFill>
            <a:srgbClr val="FD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937760"/>
            <a:ext cx="10515600" cy="457200"/>
          </a:xfrm>
          <a:prstGeom prst="rect">
            <a:avLst/>
          </a:prstGeom>
          <a:noFill/>
        </p:spPr>
        <p:txBody>
          <a:bodyPr wrap="square"/>
          <a:lstStyle/>
          <a:p>
            <a:pPr algn="l"/>
            <a:r>
              <a:rPr sz="1600" b="1">
                <a:solidFill>
                  <a:srgbClr val="E98212"/>
                </a:solidFill>
                <a:latin typeface="Yu Gothic"/>
              </a:rPr>
              <a:t>セキュリティの品質はツールではなく、設計・運用する人に依存する</a:t>
            </a:r>
          </a:p>
        </p:txBody>
      </p:sp>
      <p:sp>
        <p:nvSpPr>
          <p:cNvPr id="19" name="TextBox 18"/>
          <p:cNvSpPr txBox="1"/>
          <p:nvPr/>
        </p:nvSpPr>
        <p:spPr>
          <a:xfrm>
            <a:off x="731520" y="5486400"/>
            <a:ext cx="10515600" cy="457200"/>
          </a:xfrm>
          <a:prstGeom prst="rect">
            <a:avLst/>
          </a:prstGeom>
          <a:noFill/>
        </p:spPr>
        <p:txBody>
          <a:bodyPr wrap="square"/>
          <a:lstStyle/>
          <a:p>
            <a:pPr algn="l"/>
            <a:r>
              <a:rPr sz="1300" b="0">
                <a:solidFill>
                  <a:srgbClr val="333333"/>
                </a:solidFill>
                <a:latin typeface="Yu Gothic"/>
              </a:rPr>
              <a:t>主要なAIプラットフォームは高水準のセキュリティ対策を採用している</a:t>
            </a:r>
          </a:p>
        </p:txBody>
      </p:sp>
      <p:sp>
        <p:nvSpPr>
          <p:cNvPr id="20" name="Rectangle 19"/>
          <p:cNvSpPr/>
          <p:nvPr/>
        </p:nvSpPr>
        <p:spPr>
          <a:xfrm>
            <a:off x="0" y="6400800"/>
            <a:ext cx="12191695"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446520"/>
            <a:ext cx="10972800" cy="365760"/>
          </a:xfrm>
          <a:prstGeom prst="rect">
            <a:avLst/>
          </a:prstGeom>
          <a:noFill/>
        </p:spPr>
        <p:txBody>
          <a:bodyPr wrap="square"/>
          <a:lstStyle/>
          <a:p>
            <a:pPr algn="l"/>
            <a:r>
              <a:rPr sz="1000" b="0">
                <a:solidFill>
                  <a:srgbClr val="FFFFFF"/>
                </a:solidFill>
                <a:latin typeface="Yu Gothic"/>
              </a:rPr>
              <a:t>バイブコーディングのセキュリティ | アプリ開発研究所</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62895" cy="2743200"/>
          </a:xfrm>
          <a:prstGeom prst="rect">
            <a:avLst/>
          </a:prstGeom>
          <a:noFill/>
        </p:spPr>
        <p:txBody>
          <a:bodyPr wrap="square"/>
          <a:lstStyle/>
          <a:p>
            <a:pPr algn="ctr">
              <a:spcAft>
                <a:spcPts val="1600"/>
              </a:spcAft>
            </a:pPr>
            <a:r>
              <a:rPr sz="2600" b="1">
                <a:solidFill>
                  <a:srgbClr val="FFFFFF"/>
                </a:solidFill>
                <a:latin typeface="Yu Gothic"/>
              </a:rPr>
              <a:t>アプリ開発研究所ではノーコード×AI×補助金の活用で</a:t>
            </a:r>
          </a:p>
          <a:p>
            <a:pPr algn="ctr">
              <a:spcAft>
                <a:spcPts val="1600"/>
              </a:spcAft>
            </a:pPr>
            <a:r>
              <a:rPr sz="2600" b="1">
                <a:solidFill>
                  <a:srgbClr val="FFFFFF"/>
                </a:solidFill>
                <a:latin typeface="Yu Gothic"/>
              </a:rPr>
              <a:t>平均80％以上の費用削減を実現し、</a:t>
            </a:r>
          </a:p>
          <a:p>
            <a:pPr algn="ctr">
              <a:spcAft>
                <a:spcPts val="1600"/>
              </a:spcAft>
            </a:pPr>
            <a:r>
              <a:rPr sz="2600" b="1">
                <a:solidFill>
                  <a:srgbClr val="FFFFFF"/>
                </a:solidFill>
                <a:latin typeface="Yu Gothic"/>
              </a:rPr>
              <a:t>従来の1/3以下の期間での開発支援を承っています。</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3153286" y="538516"/>
            <a:ext cx="5872728" cy="578096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642538" y="1013972"/>
            <a:ext cx="10894225" cy="483005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jpg"/>
          <p:cNvPicPr>
            <a:picLocks noChangeAspect="1"/>
          </p:cNvPicPr>
          <p:nvPr/>
        </p:nvPicPr>
        <p:blipFill>
          <a:blip r:embed="rId2"/>
          <a:stretch>
            <a:fillRect/>
          </a:stretch>
        </p:blipFill>
        <p:spPr>
          <a:xfrm>
            <a:off x="1483467" y="757053"/>
            <a:ext cx="9212368" cy="534389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7638" y="2286000"/>
            <a:ext cx="10536419" cy="2743200"/>
          </a:xfrm>
          <a:prstGeom prst="rect">
            <a:avLst/>
          </a:prstGeom>
          <a:noFill/>
        </p:spPr>
        <p:txBody>
          <a:bodyPr wrap="square" lIns="91440" tIns="45720" rIns="91440" bIns="45720" anchor="t"/>
          <a:lstStyle/>
          <a:p>
            <a:pPr algn="ctr">
              <a:spcAft>
                <a:spcPts val="1600"/>
              </a:spcAft>
            </a:pPr>
            <a:r>
              <a:rPr sz="2600" b="1" dirty="0" err="1">
                <a:solidFill>
                  <a:srgbClr val="FFFFFF"/>
                </a:solidFill>
                <a:latin typeface="Yu Gothic"/>
              </a:rPr>
              <a:t>アプリ開発研究所では事業を成功に導くための</a:t>
            </a:r>
            <a:endParaRPr lang="ja-JP" altLang="en-US" sz="2600" b="1" dirty="0" err="1">
              <a:solidFill>
                <a:srgbClr val="FFFFFF"/>
              </a:solidFill>
              <a:latin typeface="Yu Gothic"/>
              <a:ea typeface="Yu Gothic"/>
            </a:endParaRPr>
          </a:p>
          <a:p>
            <a:pPr algn="ctr">
              <a:spcAft>
                <a:spcPts val="1600"/>
              </a:spcAft>
            </a:pPr>
            <a:r>
              <a:rPr sz="2600" b="1" dirty="0" err="1">
                <a:solidFill>
                  <a:srgbClr val="FFFFFF"/>
                </a:solidFill>
                <a:latin typeface="Yu Gothic"/>
              </a:rPr>
              <a:t>アプリ</a:t>
            </a:r>
            <a:r>
              <a:rPr sz="2600" b="1" dirty="0">
                <a:solidFill>
                  <a:srgbClr val="FFFFFF"/>
                </a:solidFill>
                <a:latin typeface="Yu Gothic"/>
              </a:rPr>
              <a:t>・</a:t>
            </a:r>
            <a:r>
              <a:rPr lang="ja-JP" sz="2600" b="1" dirty="0">
                <a:solidFill>
                  <a:srgbClr val="FFFFFF"/>
                </a:solidFill>
                <a:latin typeface="Yu Gothic"/>
                <a:ea typeface="Yu Gothic"/>
              </a:rPr>
              <a:t>システム開発</a:t>
            </a:r>
            <a:r>
              <a:rPr lang="ja-JP" altLang="en-US" sz="2600" b="1" dirty="0">
                <a:solidFill>
                  <a:srgbClr val="FFFFFF"/>
                </a:solidFill>
                <a:latin typeface="Yu Gothic"/>
                <a:ea typeface="Yu Gothic"/>
              </a:rPr>
              <a:t>、</a:t>
            </a:r>
            <a:r>
              <a:rPr lang="en-US" altLang="en-US" sz="2600" b="1" dirty="0">
                <a:solidFill>
                  <a:srgbClr val="FFFFFF"/>
                </a:solidFill>
                <a:latin typeface="Yu Gothic"/>
                <a:ea typeface="Yu Gothic"/>
              </a:rPr>
              <a:t>0</a:t>
            </a:r>
            <a:r>
              <a:rPr lang="ja-JP" altLang="en-US" sz="2600" b="1" dirty="0">
                <a:solidFill>
                  <a:srgbClr val="FFFFFF"/>
                </a:solidFill>
                <a:latin typeface="Yu Gothic"/>
                <a:ea typeface="Yu Gothic"/>
              </a:rPr>
              <a:t>→</a:t>
            </a:r>
            <a:r>
              <a:rPr lang="en-US" altLang="en-US" sz="2600" b="1" dirty="0">
                <a:solidFill>
                  <a:srgbClr val="FFFFFF"/>
                </a:solidFill>
                <a:latin typeface="Yu Gothic"/>
                <a:ea typeface="Yu Gothic"/>
              </a:rPr>
              <a:t>100</a:t>
            </a:r>
            <a:r>
              <a:rPr lang="ja-JP" altLang="en-US" sz="2600" b="1" dirty="0">
                <a:solidFill>
                  <a:srgbClr val="FFFFFF"/>
                </a:solidFill>
                <a:latin typeface="Yu Gothic"/>
                <a:ea typeface="Yu Gothic"/>
              </a:rPr>
              <a:t>の包括的な支援</a:t>
            </a:r>
            <a:r>
              <a:rPr lang="ja-JP" sz="2600" b="1" dirty="0">
                <a:solidFill>
                  <a:srgbClr val="FFFFFF"/>
                </a:solidFill>
                <a:latin typeface="Yu Gothic"/>
                <a:ea typeface="Yu Gothic"/>
              </a:rPr>
              <a:t>を承っていますので</a:t>
            </a:r>
            <a:r>
              <a:rPr sz="2600" b="1" dirty="0">
                <a:solidFill>
                  <a:srgbClr val="FFFFFF"/>
                </a:solidFill>
                <a:latin typeface="Yu Gothic"/>
              </a:rPr>
              <a:t>、</a:t>
            </a:r>
            <a:endParaRPr sz="2600" b="1" dirty="0">
              <a:solidFill>
                <a:srgbClr val="FFFFFF"/>
              </a:solidFill>
              <a:latin typeface="Yu Gothic"/>
              <a:ea typeface="Yu Gothic"/>
            </a:endParaRPr>
          </a:p>
          <a:p>
            <a:pPr algn="ctr">
              <a:spcAft>
                <a:spcPts val="1600"/>
              </a:spcAft>
            </a:pPr>
            <a:r>
              <a:rPr sz="2600" b="1" dirty="0" err="1">
                <a:solidFill>
                  <a:srgbClr val="FFFFFF"/>
                </a:solidFill>
                <a:latin typeface="Yu Gothic"/>
              </a:rPr>
              <a:t>お気軽に概要欄よりお問い合わせください</a:t>
            </a:r>
            <a:r>
              <a:rPr sz="2600" b="1" dirty="0">
                <a:solidFill>
                  <a:srgbClr val="FFFFFF"/>
                </a:solidFill>
                <a:latin typeface="Yu Gothic"/>
              </a:rPr>
              <a:t>。</a:t>
            </a:r>
            <a:endParaRPr sz="2600" b="1" dirty="0">
              <a:solidFill>
                <a:srgbClr val="FFFFFF"/>
              </a:solidFill>
              <a:latin typeface="Yu Gothic"/>
              <a:ea typeface="Yu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929516" y="1084161"/>
            <a:ext cx="10332967" cy="468967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62895" cy="3200400"/>
          </a:xfrm>
          <a:prstGeom prst="rect">
            <a:avLst/>
          </a:prstGeom>
          <a:noFill/>
        </p:spPr>
        <p:txBody>
          <a:bodyPr wrap="square"/>
          <a:lstStyle/>
          <a:p>
            <a:pPr algn="ctr">
              <a:spcAft>
                <a:spcPts val="1400"/>
              </a:spcAft>
            </a:pPr>
            <a:r>
              <a:rPr sz="2600" b="1">
                <a:solidFill>
                  <a:srgbClr val="FFFFFF"/>
                </a:solidFill>
                <a:latin typeface="Yu Gothic"/>
              </a:rPr>
              <a:t>たった10個の質問に答えるだけで、開発費用を</a:t>
            </a:r>
          </a:p>
          <a:p>
            <a:pPr algn="ctr">
              <a:spcAft>
                <a:spcPts val="1400"/>
              </a:spcAft>
            </a:pPr>
            <a:r>
              <a:rPr sz="2600" b="1">
                <a:solidFill>
                  <a:srgbClr val="FFFFFF"/>
                </a:solidFill>
                <a:latin typeface="Yu Gothic"/>
              </a:rPr>
              <a:t>見積もれるシミュレーターも用意しているので、</a:t>
            </a:r>
          </a:p>
          <a:p>
            <a:pPr algn="ctr">
              <a:spcAft>
                <a:spcPts val="1400"/>
              </a:spcAft>
            </a:pPr>
            <a:r>
              <a:rPr sz="2600" b="1">
                <a:solidFill>
                  <a:srgbClr val="FFFFFF"/>
                </a:solidFill>
                <a:latin typeface="Yu Gothic"/>
              </a:rPr>
              <a:t>ぜひ概要欄よりお見積もりしてみてください。</a:t>
            </a:r>
          </a:p>
          <a:p>
            <a:pPr algn="ctr">
              <a:spcAft>
                <a:spcPts val="1400"/>
              </a:spcAft>
            </a:pPr>
            <a:endParaRPr sz="2600" b="1">
              <a:solidFill>
                <a:srgbClr val="FFFFFF"/>
              </a:solidFill>
              <a:latin typeface="Yu Gothic"/>
            </a:endParaRPr>
          </a:p>
          <a:p>
            <a:pPr algn="ctr">
              <a:spcAft>
                <a:spcPts val="1400"/>
              </a:spcAft>
            </a:pPr>
            <a:r>
              <a:rPr sz="2600" b="1">
                <a:solidFill>
                  <a:srgbClr val="FFFFFF"/>
                </a:solidFill>
                <a:latin typeface="Yu Gothic"/>
              </a:rPr>
              <a:t>※個人情報の入力は必要ありません</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015065" y="1228882"/>
            <a:ext cx="10161870" cy="44002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ワイド画面</PresentationFormat>
  <Paragraphs>0</Paragraphs>
  <Slides>34</Slides>
  <Notes>0</Notes>
  <HiddenSlides>0</HiddenSlides>
  <MMClips>0</MMClips>
  <ScaleCrop>false</ScaleCrop>
  <HeadingPairs>
    <vt:vector size="4" baseType="variant">
      <vt:variant>
        <vt:lpstr>テーマ</vt:lpstr>
      </vt:variant>
      <vt:variant>
        <vt:i4>1</vt:i4>
      </vt:variant>
      <vt:variant>
        <vt:lpstr>スライド タイトル</vt:lpstr>
      </vt:variant>
      <vt:variant>
        <vt:i4>34</vt:i4>
      </vt:variant>
    </vt:vector>
  </HeadingPairs>
  <TitlesOfParts>
    <vt:vector size="35" baseType="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cp:revision>
  <dcterms:created xsi:type="dcterms:W3CDTF">2013-01-27T09:14:16Z</dcterms:created>
  <dcterms:modified xsi:type="dcterms:W3CDTF">2026-03-27T07:02:25Z</dcterms:modified>
  <cp:category/>
</cp:coreProperties>
</file>
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EF2DAE-0F0A-479C-88E3-1C228ECA16CC}" v="118" dt="2026-04-22T07:24:01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af-ZA" b="1">
                <a:solidFill>
                  <a:srgbClr val="E98212"/>
                </a:solidFill>
                <a:latin typeface="Yu Gothic"/>
              </a:rPr>
              <a:t>AI</a:t>
            </a:r>
            <a:r>
              <a:rPr lang="ja-JP" altLang="af-ZA" b="1">
                <a:solidFill>
                  <a:srgbClr val="E98212"/>
                </a:solidFill>
                <a:latin typeface="Yu Gothic"/>
                <a:ea typeface="Yu Gothic"/>
              </a:rPr>
              <a:t>アシスタント付き</a:t>
            </a:r>
            <a:r>
              <a:rPr lang="ja-JP" b="1">
                <a:solidFill>
                  <a:srgbClr val="E98212"/>
                </a:solidFill>
                <a:latin typeface="Yu Gothic"/>
                <a:ea typeface="ＭＳ Ｐゴシック"/>
              </a:rPr>
              <a:t>業務効率化</a:t>
            </a:r>
            <a:r>
              <a:rPr lang="ja-JP" altLang="en-US" b="1">
                <a:solidFill>
                  <a:srgbClr val="E98212"/>
                </a:solidFill>
                <a:latin typeface="Yu Gothic"/>
                <a:ea typeface="ＭＳ Ｐゴシック"/>
              </a:rPr>
              <a:t>ツール</a:t>
            </a:r>
            <a:endParaRPr lang="ja-JP" sz="1800" b="1">
              <a:solidFill>
                <a:srgbClr val="E98212"/>
              </a:solidFill>
              <a:latin typeface="ＭＳ Ｐゴシック" panose="020B0600070205080204" pitchFamily="34" charset="-128"/>
              <a:ea typeface="ＭＳ Ｐゴシック" panose="020B0600070205080204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464079"/>
            <a:ext cx="12191695" cy="164592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>
              <a:spcAft>
                <a:spcPts val="1400"/>
              </a:spcAft>
            </a:pPr>
            <a:r>
              <a:rPr sz="4400" b="1" dirty="0" err="1">
                <a:solidFill>
                  <a:srgbClr val="FFFFFF"/>
                </a:solidFill>
                <a:latin typeface="Yu Gothic"/>
              </a:rPr>
              <a:t>Zapier（ザピア</a:t>
            </a:r>
            <a:r>
              <a:rPr sz="4400" b="1" dirty="0">
                <a:solidFill>
                  <a:srgbClr val="FFFFFF"/>
                </a:solidFill>
                <a:latin typeface="Yu Gothic"/>
              </a:rPr>
              <a:t>ー）</a:t>
            </a:r>
            <a:r>
              <a:rPr sz="4400" b="1" dirty="0" err="1">
                <a:solidFill>
                  <a:srgbClr val="FFFFFF"/>
                </a:solidFill>
                <a:latin typeface="Yu Gothic"/>
              </a:rPr>
              <a:t>とは</a:t>
            </a:r>
            <a:r>
              <a:rPr sz="4400" b="1" dirty="0">
                <a:solidFill>
                  <a:srgbClr val="FFFFFF"/>
                </a:solidFill>
                <a:latin typeface="Yu Gothic"/>
              </a:rPr>
              <a:t>？</a:t>
            </a:r>
            <a:br>
              <a:rPr lang="en-US" altLang="ja-JP" sz="4400" b="1" dirty="0">
                <a:solidFill>
                  <a:srgbClr val="FFFFFF"/>
                </a:solidFill>
                <a:latin typeface="Yu Gothic"/>
              </a:rPr>
            </a:br>
            <a:r>
              <a:rPr lang="ja-JP" altLang="en-US" sz="4400" b="1" dirty="0">
                <a:solidFill>
                  <a:srgbClr val="FFFFFF"/>
                </a:solidFill>
                <a:latin typeface="Yu Gothic"/>
                <a:ea typeface="Yu Gothic"/>
              </a:rPr>
              <a:t>特徴・料金・使い方を</a:t>
            </a:r>
            <a:endParaRPr lang="en-US" altLang="ja-JP" sz="4400" b="1" dirty="0">
              <a:solidFill>
                <a:srgbClr val="000000"/>
              </a:solidFill>
              <a:latin typeface="Yu Gothic"/>
              <a:ea typeface="Yu Gothic"/>
            </a:endParaRPr>
          </a:p>
          <a:p>
            <a:pPr algn="ctr">
              <a:spcAft>
                <a:spcPts val="1400"/>
              </a:spcAft>
            </a:pPr>
            <a:r>
              <a:rPr lang="ja-JP" altLang="en-US" sz="4400" b="1">
                <a:solidFill>
                  <a:srgbClr val="FFFFFF"/>
                </a:solidFill>
                <a:latin typeface="Yu Gothic"/>
                <a:ea typeface="Yu Gothic"/>
              </a:rPr>
              <a:t>完全解説</a:t>
            </a:r>
            <a:endParaRPr lang="ja-JP" sz="4400" b="1">
              <a:latin typeface="Yu Gothic"/>
              <a:ea typeface="Yu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0" y="4228061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株式会社Walkers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80560"/>
            <a:ext cx="7619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・AI・ノーコード専門の開発会社。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・300件以上の開発/制作実績、200件以上の企業様を支援。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・社名にお客様と共に"歩む''という思いを込め、事業を成功に導くための支援を行っている。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Yu Gothic"/>
              </a:rPr>
              <a:t>アプリ開発研究所(株式会社Walkers)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00718"/>
            <a:ext cx="9448495" cy="36576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>
              <a:spcAft>
                <a:spcPts val="1400"/>
              </a:spcAft>
            </a:pPr>
            <a:r>
              <a:rPr lang="ja-JP" sz="3200" b="1">
                <a:solidFill>
                  <a:srgbClr val="FFFFFF"/>
                </a:solidFill>
                <a:latin typeface="Yu Gothic"/>
                <a:ea typeface="Yu Gothic"/>
              </a:rPr>
              <a:t>「</a:t>
            </a:r>
            <a:r>
              <a:rPr sz="3200" b="1">
                <a:solidFill>
                  <a:srgbClr val="FFFFFF"/>
                </a:solidFill>
                <a:latin typeface="Yu Gothic"/>
              </a:rPr>
              <a:t>毎回同じ作業を繰り返している</a:t>
            </a:r>
            <a:r>
              <a:rPr lang="ja-JP" sz="3200" b="1">
                <a:solidFill>
                  <a:srgbClr val="FFFFFF"/>
                </a:solidFill>
                <a:latin typeface="Yu Gothic"/>
                <a:ea typeface="Yu Gothic"/>
              </a:rPr>
              <a:t>」</a:t>
            </a:r>
            <a:endParaRPr lang="ja-JP" altLang="en-US" sz="3200" b="1">
              <a:solidFill>
                <a:srgbClr val="FFFFFF"/>
              </a:solidFill>
              <a:latin typeface="Yu Gothic"/>
              <a:ea typeface="Yu Gothic"/>
            </a:endParaRPr>
          </a:p>
          <a:p>
            <a:pPr algn="ctr">
              <a:spcAft>
                <a:spcPts val="1400"/>
              </a:spcAft>
            </a:pPr>
            <a:r>
              <a:rPr lang="ja-JP" altLang="en-US" sz="3200" b="1">
                <a:solidFill>
                  <a:srgbClr val="FFFFFF"/>
                </a:solidFill>
                <a:latin typeface="Yu Gothic"/>
                <a:ea typeface="Yu Gothic"/>
              </a:rPr>
              <a:t>「フォーム入力があったらスプシに転記して、</a:t>
            </a:r>
          </a:p>
          <a:p>
            <a:pPr algn="ctr">
              <a:spcAft>
                <a:spcPts val="1400"/>
              </a:spcAft>
            </a:pPr>
            <a:r>
              <a:rPr lang="ja-JP" altLang="en-US" sz="3200" b="1">
                <a:solidFill>
                  <a:srgbClr val="FFFFFF"/>
                </a:solidFill>
                <a:latin typeface="Yu Gothic"/>
                <a:ea typeface="Yu Gothic"/>
              </a:rPr>
              <a:t>さらにチャットで通知を送る」</a:t>
            </a:r>
          </a:p>
          <a:p>
            <a:pPr algn="ctr">
              <a:spcAft>
                <a:spcPts val="1400"/>
              </a:spcAft>
            </a:pPr>
            <a:endParaRPr lang="en-US" sz="2400" b="0" dirty="0">
              <a:solidFill>
                <a:srgbClr val="FFFFFF"/>
              </a:solidFill>
              <a:latin typeface="Yu Gothic"/>
              <a:ea typeface="Yu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>
              <a:spcAft>
                <a:spcPts val="1400"/>
              </a:spcAft>
            </a:pPr>
            <a:r>
              <a:rPr sz="3200" b="1">
                <a:solidFill>
                  <a:srgbClr val="FFFFFF"/>
                </a:solidFill>
                <a:latin typeface="Yu Gothic"/>
              </a:rPr>
              <a:t>8,000</a:t>
            </a:r>
            <a:r>
              <a:rPr lang="ja-JP" altLang="en-US" sz="3200" b="1">
                <a:solidFill>
                  <a:srgbClr val="FFFFFF"/>
                </a:solidFill>
                <a:latin typeface="Yu Gothic"/>
                <a:ea typeface="Yu Gothic"/>
              </a:rPr>
              <a:t>以上のアプリを連携で</a:t>
            </a:r>
            <a:endParaRPr lang="ja-JP" sz="3200" b="1">
              <a:solidFill>
                <a:srgbClr val="000000"/>
              </a:solidFill>
              <a:latin typeface="Calibri"/>
              <a:ea typeface="Yu Gothic"/>
              <a:cs typeface="Calibri"/>
            </a:endParaRPr>
          </a:p>
          <a:p>
            <a:pPr algn="ctr">
              <a:spcAft>
                <a:spcPts val="1400"/>
              </a:spcAft>
            </a:pPr>
            <a:r>
              <a:rPr sz="3200" b="1" dirty="0" err="1">
                <a:solidFill>
                  <a:srgbClr val="FFFFFF"/>
                </a:solidFill>
                <a:latin typeface="Yu Gothic"/>
              </a:rPr>
              <a:t>業務自動化をノーコードで実現</a:t>
            </a:r>
            <a:endParaRPr sz="3200" b="1">
              <a:solidFill>
                <a:srgbClr val="FFFFFF"/>
              </a:solidFill>
              <a:latin typeface="Yu Gothic"/>
              <a:ea typeface="Yu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山口 鳳汰の自己紹介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・AI・ノーコード専門の開発会社Walkersで事業企画を担当。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・累計100万PV以上のAI・ノーコード専門メディアの編集長。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・アプリ開発の電子書籍を3冊出版し、1冊はAmazonベストセラーを獲得。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・アプリ開発のオンラインスクール「Tech Studio(テックスタジオ)」運営。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・その他多数のAI・ノーコード事業に参画。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アプリ開発研究所では、AIとノーコードを組み合わせた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効率的な開発手法を発信しています。</a:t>
            </a:r>
          </a:p>
          <a:p>
            <a:pPr algn="ctr">
              <a:spcAft>
                <a:spcPts val="1400"/>
              </a:spcAft>
            </a:pPr>
            <a:endParaRPr sz="2400" b="0">
              <a:solidFill>
                <a:srgbClr val="FFFFFF"/>
              </a:solidFill>
              <a:latin typeface="Yu Gothic"/>
            </a:endParaRP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最新の開発トレンドを逃さないよう、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ぜひチャンネル登録をよろしくお願いします！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Zapier（ザピアー）とは？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Zapierとは？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概要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39746"/>
            <a:ext cx="3200400" cy="1028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ノーコード自動化ツール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プログラミング不要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8,000以上のアプリ連携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7472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417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活用例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39746"/>
            <a:ext cx="3200400" cy="1028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CRM→Slack通知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フォーム→スプシ転記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複数ツール間の連携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47472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417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最新機能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39746"/>
            <a:ext cx="3200400" cy="1028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AIアシスタント搭載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Tables・Interfaces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自然言語でフロー設計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Zapierの4つの特徴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特徴①：8,000超のアプリ連携が可能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連携数の比較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Zapier：8,000種以上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Make：約1,500種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IFTTT：約900種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対応範囲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営業支援・BIツール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IoT・スマホアプリ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CRM・Google連携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特徴②：コード不要で複雑なフローも自動化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自動化の仕組み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複数処理・条件分岐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GUI操作で構築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ドラッグ&amp;ドロップ式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競合との違い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シンプルなリスト構造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上から下への直感設計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初心者にも理解しやすい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特徴③：柔軟な拡張性・カスタマイズ性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開発者向け機能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Zapier Platform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独自アプリ連携を自作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コミュニティ公開も可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コード実行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Webhook対応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JavaScript実行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Python実行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特徴④：AIなどの最新機能に対応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AI連携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OpenAI・Claude対応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文章生成・要約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チャットボット構築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独自機能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Tables（DB機能）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Interfaces（UI構築）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AIアシスタント搭載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Zapierの4つの注意点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注意点①：プラン制限とコスト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無料プランの制限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タスク数100回/月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ステップ数2つまで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Webhook利用不可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コスト面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多用で高額になる場合も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事前の利用量把握が必要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有料プラン加入が必要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注意点②：日本語に対応していない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5156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英語UIのみ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102412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操作画面が全て英語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公式ドキュメントも英語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翻訳ツール併用が必要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注意点③：非対応アプリとの連携が難しい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非対応の場合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全アプリ対応ではない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Webhook・API自前構築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追加開発が必須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対処法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Zapier Platformで自作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コミュニティ開発を活用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API知識が求められる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注意点④：高度な設定に専門知識が必要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学習コスト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複雑フローは知識必要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エラー対処に慣れ必要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運用体制の整備も必要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対象機能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高度な条件分岐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独自アプリ作成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ユーザ管理・セキュリティ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Zapierの料金プラン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Zapierの料金プラン比較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Free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Professional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Team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月額料金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無料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$19.99〜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$69〜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月間タスク数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無制限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無制限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ステップ数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無制限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無制限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共同編集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25人まで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アプリ開発研究所ではノーコード×AI×補助金の活用で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平均80％以上の費用削減を実現し、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従来の1/3以下の期間での開発支援を承っています。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86" y="538516"/>
            <a:ext cx="5872728" cy="57809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38" y="1013972"/>
            <a:ext cx="10894225" cy="48300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67" y="757053"/>
            <a:ext cx="9212368" cy="534389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アプリ開発研究所では事業を成功に導くための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アプリ・システム開発支援を承っていますので、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お気軽に概要欄よりお問い合わせください。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16" y="1084161"/>
            <a:ext cx="10332967" cy="468967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たった10個の質問に答えるだけで、開発費用を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見積もれるシミュレーターも用意しているので、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ぜひ概要欄よりお見積もりしてみてください。</a:t>
            </a:r>
          </a:p>
          <a:p>
            <a:pPr algn="ctr">
              <a:spcAft>
                <a:spcPts val="1400"/>
              </a:spcAft>
            </a:pPr>
            <a:endParaRPr sz="2600" b="1">
              <a:solidFill>
                <a:srgbClr val="FFFFFF"/>
              </a:solidFill>
              <a:latin typeface="Yu Gothic"/>
            </a:endParaRP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※個人情報の入力は必要ありません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65" y="1228882"/>
            <a:ext cx="10161870" cy="4400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ワイド画面</PresentationFormat>
  <Paragraphs>0</Paragraphs>
  <Slides>27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28" baseType="lpstr"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44</cp:revision>
  <dcterms:created xsi:type="dcterms:W3CDTF">2013-01-27T09:14:16Z</dcterms:created>
  <dcterms:modified xsi:type="dcterms:W3CDTF">2026-04-22T07:25:10Z</dcterms:modified>
  <cp:category/>
</cp:coreProperties>
</file>
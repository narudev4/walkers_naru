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914400"/>
            <a:ext cx="12191695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E98212"/>
                </a:solidFill>
                <a:latin typeface="Yu Gothic"/>
              </a:rPr>
              <a:t>【意外と知らない】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1695" cy="1645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4400" b="1">
                <a:solidFill>
                  <a:srgbClr val="FFFFFF"/>
                </a:solidFill>
                <a:latin typeface="Yu Gothic"/>
              </a:rPr>
              <a:t>Claude Code失敗事例6選！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474720"/>
            <a:ext cx="2133295" cy="54864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株式会社Walkers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4480560"/>
            <a:ext cx="7619695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CCCCCC"/>
                </a:solidFill>
                <a:latin typeface="Yu Gothic"/>
              </a:rPr>
              <a:t>・AI・ノーコード専門の開発会社。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CCCCCC"/>
                </a:solidFill>
                <a:latin typeface="Yu Gothic"/>
              </a:rPr>
              <a:t>・300件以上の開発/制作実績、200件以上の企業様を支援。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CCCCCC"/>
                </a:solidFill>
                <a:latin typeface="Yu Gothic"/>
              </a:rPr>
              <a:t>・社名にお客様と共に"歩む''という思いを込め、事業を成功に導くための支援を行っている。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6126480"/>
            <a:ext cx="1219169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666666"/>
                </a:solidFill>
                <a:latin typeface="Yu Gothic"/>
              </a:rPr>
              <a:t>アプリ開発研究所(株式会社Walkers)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3600" b="1">
                <a:solidFill>
                  <a:srgbClr val="FFFFFF"/>
                </a:solidFill>
                <a:latin typeface="Yu Gothic"/>
              </a:rPr>
              <a:t>「Claude Codeって安全なの？」</a:t>
            </a:r>
          </a:p>
          <a:p>
            <a:pPr algn="ctr"/>
            <a:r>
              <a:rPr sz="3600" b="1">
                <a:solidFill>
                  <a:srgbClr val="FFFFFF"/>
                </a:solidFill>
                <a:latin typeface="Yu Gothic"/>
              </a:rPr>
              <a:t>「事故が起きそうで怖い…」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200000"/>
            <a:ext cx="12191695" cy="70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Yu Gothic"/>
              </a:rPr>
              <a:t>Claude Codeは設計次第で安全にも凶器にも！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45847" y="2400000"/>
            <a:ext cx="6500000" cy="3958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Aft>
                <a:spcPts val="1200"/>
              </a:spcAft>
            </a:pPr>
            <a:r>
              <a:rPr sz="2600" b="1">
                <a:solidFill>
                  <a:srgbClr val="FFFFFF"/>
                </a:solidFill>
                <a:latin typeface="Yu Gothic"/>
              </a:rPr>
              <a:t>【本動画の内容】</a:t>
            </a:r>
          </a:p>
          <a:p>
            <a:pPr algn="l">
              <a:spcAft>
                <a:spcPts val="1200"/>
              </a:spcAft>
            </a:pPr>
            <a:r>
              <a:rPr sz="2600" b="1">
                <a:solidFill>
                  <a:srgbClr val="FFFFFF"/>
                </a:solidFill>
                <a:latin typeface="Yu Gothic"/>
              </a:rPr>
              <a:t>① 実際の失敗事例6選</a:t>
            </a:r>
          </a:p>
          <a:p>
            <a:pPr algn="l">
              <a:spcAft>
                <a:spcPts val="1200"/>
              </a:spcAft>
            </a:pPr>
            <a:r>
              <a:rPr sz="2600" b="1">
                <a:solidFill>
                  <a:srgbClr val="FFFFFF"/>
                </a:solidFill>
                <a:latin typeface="Yu Gothic"/>
              </a:rPr>
              <a:t>② 失敗のメカニズム</a:t>
            </a:r>
          </a:p>
          <a:p>
            <a:pPr algn="l">
              <a:spcAft>
                <a:spcPts val="1200"/>
              </a:spcAft>
            </a:pPr>
            <a:r>
              <a:rPr sz="2600" b="1">
                <a:solidFill>
                  <a:srgbClr val="FFFFFF"/>
                </a:solidFill>
                <a:latin typeface="Yu Gothic"/>
              </a:rPr>
              <a:t>③ すぐ使える安全対策3つ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457200"/>
            <a:ext cx="1219169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400" b="1">
                <a:solidFill>
                  <a:srgbClr val="E98212"/>
                </a:solidFill>
                <a:latin typeface="Yu Gothic"/>
              </a:rPr>
              <a:t>山口 鳳汰の自己紹介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1188720"/>
            <a:ext cx="2133295" cy="54864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1828800"/>
            <a:ext cx="8534095" cy="4114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1600"/>
              </a:spcAft>
            </a:pPr>
            <a:r>
              <a:rPr sz="1800" b="0">
                <a:solidFill>
                  <a:srgbClr val="FFFFFF"/>
                </a:solidFill>
                <a:latin typeface="Yu Gothic"/>
              </a:rPr>
              <a:t>・AI・ノーコード専門の開発会社Walkersで事業企画を担当。</a:t>
            </a:r>
          </a:p>
          <a:p>
            <a:pPr algn="l">
              <a:spcAft>
                <a:spcPts val="1600"/>
              </a:spcAft>
            </a:pPr>
            <a:r>
              <a:rPr sz="1800" b="0">
                <a:solidFill>
                  <a:srgbClr val="FFFFFF"/>
                </a:solidFill>
                <a:latin typeface="Yu Gothic"/>
              </a:rPr>
              <a:t>・累計100万PV以上のAI・ノーコード専門メディアの編集長。</a:t>
            </a:r>
          </a:p>
          <a:p>
            <a:pPr algn="l">
              <a:spcAft>
                <a:spcPts val="1600"/>
              </a:spcAft>
            </a:pPr>
            <a:r>
              <a:rPr sz="1800" b="0">
                <a:solidFill>
                  <a:srgbClr val="FFFFFF"/>
                </a:solidFill>
                <a:latin typeface="Yu Gothic"/>
              </a:rPr>
              <a:t>・アプリ開発の電子書籍を3冊出版し、1冊はAmazonベストセラーを獲得。</a:t>
            </a:r>
          </a:p>
          <a:p>
            <a:pPr algn="l">
              <a:spcAft>
                <a:spcPts val="1600"/>
              </a:spcAft>
            </a:pPr>
            <a:r>
              <a:rPr sz="1800" b="0">
                <a:solidFill>
                  <a:srgbClr val="FFFFFF"/>
                </a:solidFill>
                <a:latin typeface="Yu Gothic"/>
              </a:rPr>
              <a:t>・アプリ開発のオンラインスクール「Tech Studio(テックスタジオ)」運営。</a:t>
            </a:r>
          </a:p>
          <a:p>
            <a:pPr algn="l">
              <a:spcAft>
                <a:spcPts val="1600"/>
              </a:spcAft>
            </a:pPr>
            <a:r>
              <a:rPr sz="1800" b="0">
                <a:solidFill>
                  <a:srgbClr val="FFFFFF"/>
                </a:solidFill>
                <a:latin typeface="Yu Gothic"/>
              </a:rPr>
              <a:t>・その他多数のAI・ノーコード事業に参画。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48495" cy="3657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Yu Gothic"/>
              </a:rPr>
              <a:t>アプリ開発研究所では、AIとノーコードを組み合わせた</a:t>
            </a:r>
          </a:p>
          <a:p>
            <a:pPr algn="ctr"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Yu Gothic"/>
              </a:rPr>
              <a:t>効率的な開発手法を発信しています。</a:t>
            </a:r>
          </a:p>
          <a:p>
            <a:pPr algn="ctr"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Yu Gothic"/>
              </a:rPr>
              <a:t/>
            </a:r>
          </a:p>
          <a:p>
            <a:pPr algn="ctr"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Yu Gothic"/>
              </a:rPr>
              <a:t>最新の開発トレンドを逃さないよう、</a:t>
            </a:r>
          </a:p>
          <a:p>
            <a:pPr algn="ctr"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Yu Gothic"/>
              </a:rPr>
              <a:t>ぜひチャンネル登録をよろしくお願いします！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0" y="2743200"/>
            <a:ext cx="3047695" cy="54864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914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4800" b="1">
                <a:solidFill>
                  <a:srgbClr val="E98212"/>
                </a:solidFill>
                <a:latin typeface="Yu Gothic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017520"/>
            <a:ext cx="12191695" cy="914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3600" b="1">
                <a:solidFill>
                  <a:srgbClr val="FFFFFF"/>
                </a:solidFill>
                <a:latin typeface="Yu Gothic"/>
              </a:rPr>
              <a:t>はじめに｜Claude Codeの光と影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3520"/>
            <a:ext cx="914400" cy="650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4400" b="1">
                <a:solidFill>
                  <a:srgbClr val="E98212"/>
                </a:solidFill>
                <a:latin typeface="Yu Gothic"/>
              </a:rPr>
              <a:t>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25120"/>
            <a:ext cx="9144000" cy="4470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Claude Codeの基本と最新データ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00" b="0">
                <a:solidFill>
                  <a:srgbClr val="FFFFFF"/>
                </a:solidFill>
                <a:latin typeface="Yu Gothic"/>
              </a:rPr>
              <a:t>Claude Code失敗事例6選 | アプリ開発研究所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概要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25446"/>
            <a:ext cx="4754880" cy="1257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Anthropic製AIツール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テキスト指示で開発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急速に普及中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5029200" cy="45720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効果は両極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425446"/>
            <a:ext cx="4754880" cy="1257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Shopify +20%向上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METR -19%遅延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使い方次第で激変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0" y="2743200"/>
            <a:ext cx="3047695" cy="54864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914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4800" b="1">
                <a:solidFill>
                  <a:srgbClr val="E98212"/>
                </a:solidFill>
                <a:latin typeface="Yu Gothic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017520"/>
            <a:ext cx="12191695" cy="914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3600" b="1">
                <a:solidFill>
                  <a:srgbClr val="FFFFFF"/>
                </a:solidFill>
                <a:latin typeface="Yu Gothic"/>
              </a:rPr>
              <a:t>失敗事例①｜本番DBが全部消えた話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3520"/>
            <a:ext cx="914400" cy="650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4400" b="1">
                <a:solidFill>
                  <a:srgbClr val="E98212"/>
                </a:solidFill>
                <a:latin typeface="Yu Gothic"/>
              </a:rPr>
              <a:t>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25120"/>
            <a:ext cx="9144000" cy="4470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事例①：何が起きたか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00" b="0">
                <a:solidFill>
                  <a:srgbClr val="FFFFFF"/>
                </a:solidFill>
                <a:latin typeface="Yu Gothic"/>
              </a:rPr>
              <a:t>Claude Code失敗事例6選 | アプリ開発研究所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経緯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25446"/>
            <a:ext cx="4754880" cy="1257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2026年2月末発生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DataTalks.Club創設者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インフラ作業を依頼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5029200" cy="457200"/>
          </a:xfrm>
          <a:prstGeom prst="rect">
            <a:avLst/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被害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425446"/>
            <a:ext cx="4754880" cy="1257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本番DB+バックアップ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2.5年分データ消失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24時間ダウン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48495" cy="3657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Yu Gothic"/>
              </a:rPr>
              <a:t>本番環境への書込権限まで</a:t>
            </a:r>
          </a:p>
          <a:p>
            <a:pPr algn="ctr"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Yu Gothic"/>
              </a:rPr>
              <a:t>AIに渡していたのが原因</a:t>
            </a:r>
          </a:p>
          <a:p>
            <a:pPr algn="ctr"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Yu Gothic"/>
              </a:rPr>
              <a:t/>
            </a:r>
          </a:p>
          <a:p>
            <a:pPr algn="ctr"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Yu Gothic"/>
              </a:rPr>
              <a:t>Claude Codeは初期設定で</a:t>
            </a:r>
          </a:p>
          <a:p>
            <a:pPr algn="ctr"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Yu Gothic"/>
              </a:rPr>
              <a:t>危険コマンドを禁止しない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3520"/>
            <a:ext cx="914400" cy="650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4400" b="1">
                <a:solidFill>
                  <a:srgbClr val="E98212"/>
                </a:solidFill>
                <a:latin typeface="Yu Gothic"/>
              </a:rPr>
              <a:t>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25120"/>
            <a:ext cx="9144000" cy="4470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事例①：教訓と対策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00" b="0">
                <a:solidFill>
                  <a:srgbClr val="FFFFFF"/>
                </a:solidFill>
                <a:latin typeface="Yu Gothic"/>
              </a:rPr>
              <a:t>Claude Code失敗事例6選 | アプリ開発研究所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対策1：denyリスト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25446"/>
            <a:ext cx="4754880" cy="1257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settings.jsonで禁止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terraform destroy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DROP TABLE / rm -rf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5029200" cy="4572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対策2：認証情報分離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425446"/>
            <a:ext cx="4754880" cy="1257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本番DB情報を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実行環境から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物理的に隔離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0" y="2743200"/>
            <a:ext cx="3047695" cy="54864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914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4800" b="1">
                <a:solidFill>
                  <a:srgbClr val="E98212"/>
                </a:solidFill>
                <a:latin typeface="Yu Gothic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017520"/>
            <a:ext cx="12191695" cy="914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3600" b="1">
                <a:solidFill>
                  <a:srgbClr val="FFFFFF"/>
                </a:solidFill>
                <a:latin typeface="Yu Gothic"/>
              </a:rPr>
              <a:t>失敗事例②｜数日分の作業が一瞬で消えた話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48495" cy="3657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Yu Gothic"/>
              </a:rPr>
              <a:t>セッション開始時に</a:t>
            </a:r>
          </a:p>
          <a:p>
            <a:pPr algn="ctr"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Yu Gothic"/>
              </a:rPr>
              <a:t>Claude Codeが自律的に</a:t>
            </a:r>
          </a:p>
          <a:p>
            <a:pPr algn="ctr"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Yu Gothic"/>
              </a:rPr>
              <a:t>git reset --hard を実行</a:t>
            </a:r>
          </a:p>
          <a:p>
            <a:pPr algn="ctr"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Yu Gothic"/>
              </a:rPr>
              <a:t/>
            </a:r>
          </a:p>
          <a:p>
            <a:pPr algn="ctr"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Yu Gothic"/>
              </a:rPr>
              <a:t>十数件のコミットが</a:t>
            </a:r>
          </a:p>
          <a:p>
            <a:pPr algn="ctr"/>
            <a:r>
              <a:rPr sz="2400" b="0">
                <a:solidFill>
                  <a:srgbClr val="FFFFFF"/>
                </a:solidFill>
                <a:latin typeface="Yu Gothic"/>
              </a:rPr>
              <a:t>永久消失するケースも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48495" cy="3657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Yu Gothic"/>
              </a:rPr>
              <a:t>「整理して」「きれいにして」</a:t>
            </a:r>
          </a:p>
          <a:p>
            <a:pPr algn="ctr"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Yu Gothic"/>
              </a:rPr>
              <a:t>→ 最強力な方法を選択</a:t>
            </a:r>
          </a:p>
          <a:p>
            <a:pPr algn="ctr"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Yu Gothic"/>
              </a:rPr>
              <a:t/>
            </a:r>
          </a:p>
          <a:p>
            <a:pPr algn="ctr"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Yu Gothic"/>
              </a:rPr>
              <a:t>人間なら加減する一歩を</a:t>
            </a:r>
          </a:p>
          <a:p>
            <a:pPr algn="ctr"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Yu Gothic"/>
              </a:rPr>
              <a:t>効率優先で踏み越える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3520"/>
            <a:ext cx="914400" cy="650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4400" b="1">
                <a:solidFill>
                  <a:srgbClr val="E98212"/>
                </a:solidFill>
                <a:latin typeface="Yu Gothic"/>
              </a:rPr>
              <a:t>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25120"/>
            <a:ext cx="9144000" cy="4470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事例②：教訓と対策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00" b="0">
                <a:solidFill>
                  <a:srgbClr val="FFFFFF"/>
                </a:solidFill>
                <a:latin typeface="Yu Gothic"/>
              </a:rPr>
              <a:t>Claude Code失敗事例6選 | アプリ開発研究所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対策1：作業を保護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25446"/>
            <a:ext cx="4754880" cy="1257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着手前に共有保存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クラウドにバックアップ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命綱を確保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5029200" cy="4572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対策2：Git制限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425446"/>
            <a:ext cx="4754880" cy="1257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自動Git操作を禁止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reset系は人間確認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コミット前に検証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0" y="2743200"/>
            <a:ext cx="3047695" cy="54864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914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4800" b="1">
                <a:solidFill>
                  <a:srgbClr val="E98212"/>
                </a:solidFill>
                <a:latin typeface="Yu Gothic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017520"/>
            <a:ext cx="12191695" cy="914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3600" b="1">
                <a:solidFill>
                  <a:srgbClr val="FFFFFF"/>
                </a:solidFill>
                <a:latin typeface="Yu Gothic"/>
              </a:rPr>
              <a:t>失敗事例③｜大事なパスワードが流出した話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3520"/>
            <a:ext cx="914400" cy="650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4400" b="1">
                <a:solidFill>
                  <a:srgbClr val="E98212"/>
                </a:solidFill>
                <a:latin typeface="Yu Gothic"/>
              </a:rPr>
              <a:t>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25120"/>
            <a:ext cx="9144000" cy="4470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事例③：衝撃の数字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00" b="0">
                <a:solidFill>
                  <a:srgbClr val="FFFFFF"/>
                </a:solidFill>
                <a:latin typeface="Yu Gothic"/>
              </a:rPr>
              <a:t>Claude Code失敗事例6選 | アプリ開発研究所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全体の傾向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25446"/>
            <a:ext cx="4754880" cy="1257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流出鍵 2864万件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前年比 +34%増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AI関連 +81%急増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5029200" cy="457200"/>
          </a:xfrm>
          <a:prstGeom prst="rect">
            <a:avLst/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Claude Codeの実態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425446"/>
            <a:ext cx="4754880" cy="1257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流出率は通常の約2倍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GitGuardian調査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詳しい人ほど油断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48495" cy="3657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Yu Gothic"/>
              </a:rPr>
              <a:t>渡されたファイルを</a:t>
            </a:r>
          </a:p>
          <a:p>
            <a:pPr algn="ctr"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Yu Gothic"/>
              </a:rPr>
              <a:t>慎重に判断しないAI</a:t>
            </a:r>
          </a:p>
          <a:p>
            <a:pPr algn="ctr"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Yu Gothic"/>
              </a:rPr>
              <a:t/>
            </a:r>
          </a:p>
          <a:p>
            <a:pPr algn="ctr"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Yu Gothic"/>
              </a:rPr>
              <a:t>.envが混じっても処理</a:t>
            </a:r>
          </a:p>
          <a:p>
            <a:pPr algn="ctr"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Yu Gothic"/>
              </a:rPr>
              <a:t>→ 数分で自動巡回が発見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3520"/>
            <a:ext cx="914400" cy="650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4400" b="1">
                <a:solidFill>
                  <a:srgbClr val="E98212"/>
                </a:solidFill>
                <a:latin typeface="Yu Gothic"/>
              </a:rPr>
              <a:t>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25120"/>
            <a:ext cx="9144000" cy="4470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事例③：教訓と対策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00" b="0">
                <a:solidFill>
                  <a:srgbClr val="FFFFFF"/>
                </a:solidFill>
                <a:latin typeface="Yu Gothic"/>
              </a:rPr>
              <a:t>Claude Code失敗事例6選 | アプリ開発研究所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対策1：鍵の隔離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25446"/>
            <a:ext cx="4754880" cy="1257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.env を別の場所に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作業ディレクトリと分離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AIに渡さない設計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5029200" cy="4572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対策2：自動検知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425446"/>
            <a:ext cx="4754880" cy="1257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コミット前に検知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Secret Scanning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pre-commit hook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0" y="2743200"/>
            <a:ext cx="3047695" cy="54864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914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4800" b="1">
                <a:solidFill>
                  <a:srgbClr val="E98212"/>
                </a:solidFill>
                <a:latin typeface="Yu Gothic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017520"/>
            <a:ext cx="12191695" cy="914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3600" b="1">
                <a:solidFill>
                  <a:srgbClr val="FFFFFF"/>
                </a:solidFill>
                <a:latin typeface="Yu Gothic"/>
              </a:rPr>
              <a:t>失敗事例④｜AIが推薦した架空部品で感染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3520"/>
            <a:ext cx="914400" cy="650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4400" b="1">
                <a:solidFill>
                  <a:srgbClr val="E98212"/>
                </a:solidFill>
                <a:latin typeface="Yu Gothic"/>
              </a:rPr>
              <a:t>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25120"/>
            <a:ext cx="9144000" cy="4470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事例④：スロップスクワッティング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00" b="0">
                <a:solidFill>
                  <a:srgbClr val="FFFFFF"/>
                </a:solidFill>
                <a:latin typeface="Yu Gothic"/>
              </a:rPr>
              <a:t>Claude Code失敗事例6選 | アプリ開発研究所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AIの罠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25446"/>
            <a:ext cx="4754880" cy="1257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架空パッケージを推薦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もっともらしい名前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21.7%が実在しない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5029200" cy="457200"/>
          </a:xfrm>
          <a:prstGeom prst="rect">
            <a:avLst/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攻撃の手口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425446"/>
            <a:ext cx="4754880" cy="1257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ウソ名を先回り登録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ウイルスを仕込む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自動実行で感染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48495" cy="3657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Yu Gothic"/>
              </a:rPr>
              <a:t>AIは「自然な続き」を選ぶ</a:t>
            </a:r>
          </a:p>
          <a:p>
            <a:pPr algn="ctr"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Yu Gothic"/>
              </a:rPr>
              <a:t>→ 実在性より「それっぽさ」</a:t>
            </a:r>
          </a:p>
          <a:p>
            <a:pPr algn="ctr"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Yu Gothic"/>
              </a:rPr>
              <a:t/>
            </a:r>
          </a:p>
          <a:p>
            <a:pPr algn="ctr"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Yu Gothic"/>
              </a:rPr>
              <a:t>攻撃者はウソパターンを</a:t>
            </a:r>
          </a:p>
          <a:p>
            <a:pPr algn="ctr"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Yu Gothic"/>
              </a:rPr>
              <a:t>研究済みで先回り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3520"/>
            <a:ext cx="914400" cy="650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4400" b="1">
                <a:solidFill>
                  <a:srgbClr val="E98212"/>
                </a:solidFill>
                <a:latin typeface="Yu Gothic"/>
              </a:rPr>
              <a:t>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25120"/>
            <a:ext cx="9144000" cy="4470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事例④：教訓と対策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00" b="0">
                <a:solidFill>
                  <a:srgbClr val="FFFFFF"/>
                </a:solidFill>
                <a:latin typeface="Yu Gothic"/>
              </a:rPr>
              <a:t>Claude Code失敗事例6選 | アプリ開発研究所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対策1：実在確認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25446"/>
            <a:ext cx="4754880" cy="1257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公式サイトで検索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npmjs.com / pypi.org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存在を必ず確認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5029200" cy="4572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対策2：人間確認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425446"/>
            <a:ext cx="4754880" cy="1257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npm/pip 自動実行禁止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コマンドを目視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確認後に実行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0" y="2743200"/>
            <a:ext cx="3047695" cy="54864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914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4800" b="1">
                <a:solidFill>
                  <a:srgbClr val="E98212"/>
                </a:solidFill>
                <a:latin typeface="Yu Gothic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017520"/>
            <a:ext cx="12191695" cy="914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3600" b="1">
                <a:solidFill>
                  <a:srgbClr val="FFFFFF"/>
                </a:solidFill>
                <a:latin typeface="Yu Gothic"/>
              </a:rPr>
              <a:t>失敗事例⑤｜ツール代が給料より高くなった話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3520"/>
            <a:ext cx="914400" cy="650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4400" b="1">
                <a:solidFill>
                  <a:srgbClr val="E98212"/>
                </a:solidFill>
                <a:latin typeface="Yu Gothic"/>
              </a:rPr>
              <a:t>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25120"/>
            <a:ext cx="9144000" cy="4470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事例⑤：コストの実態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00" b="0">
                <a:solidFill>
                  <a:srgbClr val="FFFFFF"/>
                </a:solidFill>
                <a:latin typeface="Yu Gothic"/>
              </a:rPr>
              <a:t>Claude Code失敗事例6選 | アプリ開発研究所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公式の標準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25446"/>
            <a:ext cx="4754880" cy="1257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平均 1日 約2000円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Anthropic公表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賢く使う前提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5029200" cy="457200"/>
          </a:xfrm>
          <a:prstGeom prst="rect">
            <a:avLst/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暴走するケース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425446"/>
            <a:ext cx="4754880" cy="1257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1日 約6000円消費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月20万円超え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給料超えも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48495" cy="3657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Yu Gothic"/>
              </a:rPr>
              <a:t>料金は「投げる文字量」で決定</a:t>
            </a:r>
          </a:p>
          <a:p>
            <a:pPr algn="ctr"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Yu Gothic"/>
              </a:rPr>
              <a:t/>
            </a:r>
          </a:p>
          <a:p>
            <a:pPr algn="ctr"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Yu Gothic"/>
              </a:rPr>
              <a:t>長文・大量ファイルを毎回</a:t>
            </a:r>
          </a:p>
          <a:p>
            <a:pPr algn="ctr"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Yu Gothic"/>
              </a:rPr>
              <a:t>まとめて送って暴走</a:t>
            </a:r>
          </a:p>
          <a:p>
            <a:pPr algn="ctr"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Yu Gothic"/>
              </a:rPr>
              <a:t>→ AIの料金はメーター式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3520"/>
            <a:ext cx="914400" cy="650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4400" b="1">
                <a:solidFill>
                  <a:srgbClr val="E98212"/>
                </a:solidFill>
                <a:latin typeface="Yu Gothic"/>
              </a:rPr>
              <a:t>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25120"/>
            <a:ext cx="9144000" cy="4470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事例⑤：教訓と対策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00" b="0">
                <a:solidFill>
                  <a:srgbClr val="FFFFFF"/>
                </a:solidFill>
                <a:latin typeface="Yu Gothic"/>
              </a:rPr>
              <a:t>Claude Code失敗事例6選 | アプリ開発研究所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対策1：週次確認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25446"/>
            <a:ext cx="4754880" cy="1257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毎週金曜に開く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利用量管理画面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請求書ショック防止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5029200" cy="4572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対策2：上限設定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425446"/>
            <a:ext cx="4754880" cy="1257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1人あたり予算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管理コンソールで設定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上限アラートを有効化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0" y="2743200"/>
            <a:ext cx="3047695" cy="54864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914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4800" b="1">
                <a:solidFill>
                  <a:srgbClr val="E98212"/>
                </a:solidFill>
                <a:latin typeface="Yu Gothic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017520"/>
            <a:ext cx="12191695" cy="914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3600" b="1">
                <a:solidFill>
                  <a:srgbClr val="FFFFFF"/>
                </a:solidFill>
                <a:latin typeface="Yu Gothic"/>
              </a:rPr>
              <a:t>失敗事例⑥｜確認スキップで大事故になった話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48495" cy="3657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Yu Gothic"/>
              </a:rPr>
              <a:t>「確認スキップモード」を</a:t>
            </a:r>
          </a:p>
          <a:p>
            <a:pPr algn="ctr"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Yu Gothic"/>
              </a:rPr>
              <a:t>日常的に使ってしまう</a:t>
            </a:r>
          </a:p>
          <a:p>
            <a:pPr algn="ctr"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Yu Gothic"/>
              </a:rPr>
              <a:t/>
            </a:r>
          </a:p>
          <a:p>
            <a:pPr algn="ctr"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Yu Gothic"/>
              </a:rPr>
              <a:t>2025年12月、rm -rfが</a:t>
            </a:r>
          </a:p>
          <a:p>
            <a:pPr algn="ctr"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Yu Gothic"/>
              </a:rPr>
              <a:t>想定外に広がりPC崩壊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48495" cy="3657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Yu Gothic"/>
              </a:rPr>
              <a:t>確認プロンプトは</a:t>
            </a:r>
          </a:p>
          <a:p>
            <a:pPr algn="ctr"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Yu Gothic"/>
              </a:rPr>
              <a:t>人間の最後のブレーキ</a:t>
            </a:r>
          </a:p>
          <a:p>
            <a:pPr algn="ctr"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Yu Gothic"/>
              </a:rPr>
              <a:t/>
            </a:r>
          </a:p>
          <a:p>
            <a:pPr algn="ctr"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Yu Gothic"/>
              </a:rPr>
              <a:t>AIは削除範囲を</a:t>
            </a:r>
          </a:p>
          <a:p>
            <a:pPr algn="ctr"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Yu Gothic"/>
              </a:rPr>
              <a:t>予期より広く解釈する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3520"/>
            <a:ext cx="914400" cy="650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4400" b="1">
                <a:solidFill>
                  <a:srgbClr val="E98212"/>
                </a:solidFill>
                <a:latin typeface="Yu Gothic"/>
              </a:rPr>
              <a:t>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25120"/>
            <a:ext cx="9144000" cy="4470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事例⑥：教訓と対策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00" b="0">
                <a:solidFill>
                  <a:srgbClr val="FFFFFF"/>
                </a:solidFill>
                <a:latin typeface="Yu Gothic"/>
              </a:rPr>
              <a:t>Claude Code失敗事例6選 | アプリ開発研究所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対策1：設定見直し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25446"/>
            <a:ext cx="4754880" cy="1257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スキップ設定を確認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本当に必要か検証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デフォルトを尊重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5029200" cy="4572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対策2：隔離環境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425446"/>
            <a:ext cx="4754880" cy="1257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練習用環境のみ可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本番では使用禁止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コンテナ等で隔離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0" y="2743200"/>
            <a:ext cx="3047695" cy="54864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914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4800" b="1">
                <a:solidFill>
                  <a:srgbClr val="E98212"/>
                </a:solidFill>
                <a:latin typeface="Yu Gothic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017520"/>
            <a:ext cx="12191695" cy="914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3600" b="1">
                <a:solidFill>
                  <a:srgbClr val="FFFFFF"/>
                </a:solidFill>
                <a:latin typeface="Yu Gothic"/>
              </a:rPr>
              <a:t>安全に使うための3つの対策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3520"/>
            <a:ext cx="914400" cy="650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4400" b="1">
                <a:solidFill>
                  <a:srgbClr val="E98212"/>
                </a:solidFill>
                <a:latin typeface="Yu Gothic"/>
              </a:rPr>
              <a:t>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25120"/>
            <a:ext cx="9144000" cy="4470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対策①：使える範囲を決める（権限設計）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00" b="0">
                <a:solidFill>
                  <a:srgbClr val="FFFFFF"/>
                </a:solidFill>
                <a:latin typeface="Yu Gothic"/>
              </a:rPr>
              <a:t>Claude Code失敗事例6選 | アプリ開発研究所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アクセス制限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25446"/>
            <a:ext cx="4754880" cy="1257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本番DBに触らせない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本番サーバー禁止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秘密鍵フォルダ禁止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5029200" cy="45720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denyリスト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425446"/>
            <a:ext cx="4754880" cy="1257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settings.json設定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危険コマンド禁止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言葉でなく設計で守る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3520"/>
            <a:ext cx="914400" cy="650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4400" b="1">
                <a:solidFill>
                  <a:srgbClr val="E98212"/>
                </a:solidFill>
                <a:latin typeface="Yu Gothic"/>
              </a:rPr>
              <a:t>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25120"/>
            <a:ext cx="9144000" cy="4470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対策②：動きの見える化（コスト&amp;ログ）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00" b="0">
                <a:solidFill>
                  <a:srgbClr val="FFFFFF"/>
                </a:solidFill>
                <a:latin typeface="Yu Gothic"/>
              </a:rPr>
              <a:t>Claude Code失敗事例6選 | アプリ開発研究所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週次確認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25446"/>
            <a:ext cx="4754880" cy="1257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金曜に管理画面チェック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今月の利用量把握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請求書ショック防止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5029200" cy="4572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予算管理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425446"/>
            <a:ext cx="4754880" cy="1257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1人あたり上限設定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上限アラート有効化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見えれば管理できる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3520"/>
            <a:ext cx="914400" cy="650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4400" b="1">
                <a:solidFill>
                  <a:srgbClr val="E98212"/>
                </a:solidFill>
                <a:latin typeface="Yu Gothic"/>
              </a:rPr>
              <a:t>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25120"/>
            <a:ext cx="9144000" cy="4470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対策③：引き返し方を用意（バックアップ&amp;更新）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00" b="0">
                <a:solidFill>
                  <a:srgbClr val="FFFFFF"/>
                </a:solidFill>
                <a:latin typeface="Yu Gothic"/>
              </a:rPr>
              <a:t>Claude Code失敗事例6選 | アプリ開発研究所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バックアップ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25446"/>
            <a:ext cx="4754880" cy="1257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共有サーバー保存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クラウドにも保存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AI実行環境と分離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5029200" cy="457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更新体制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425446"/>
            <a:ext cx="4754880" cy="1257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新バージョン1週間以内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セキュリティ修正反映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便利さと慎重さの両立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2743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1600"/>
              </a:spcAft>
            </a:pPr>
            <a:r>
              <a:rPr sz="2600" b="1">
                <a:solidFill>
                  <a:srgbClr val="FFFFFF"/>
                </a:solidFill>
                <a:latin typeface="Yu Gothic"/>
              </a:rPr>
              <a:t>アプリ開発研究所ではノーコード×AI×補助金の活用で</a:t>
            </a:r>
          </a:p>
          <a:p>
            <a:pPr algn="ctr">
              <a:spcAft>
                <a:spcPts val="1600"/>
              </a:spcAft>
            </a:pPr>
            <a:r>
              <a:rPr sz="2600" b="1">
                <a:solidFill>
                  <a:srgbClr val="FFFFFF"/>
                </a:solidFill>
                <a:latin typeface="Yu Gothic"/>
              </a:rPr>
              <a:t>平均80％以上の費用削減を実現し、</a:t>
            </a:r>
          </a:p>
          <a:p>
            <a:pPr algn="ctr">
              <a:spcAft>
                <a:spcPts val="1600"/>
              </a:spcAft>
            </a:pPr>
            <a:r>
              <a:rPr sz="2600" b="1">
                <a:solidFill>
                  <a:srgbClr val="FFFFFF"/>
                </a:solidFill>
                <a:latin typeface="Yu Gothic"/>
              </a:rPr>
              <a:t>従来の1/3以下の期間での開発支援を承っています。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3286" y="538516"/>
            <a:ext cx="5872728" cy="5780969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538" y="1013972"/>
            <a:ext cx="10894225" cy="4830056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3467" y="757053"/>
            <a:ext cx="9212368" cy="5343894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2743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1600"/>
              </a:spcAft>
            </a:pPr>
            <a:r>
              <a:rPr sz="2600" b="1">
                <a:solidFill>
                  <a:srgbClr val="FFFFFF"/>
                </a:solidFill>
                <a:latin typeface="Yu Gothic"/>
              </a:rPr>
              <a:t>アプリ開発研究所では事業を成功に導くための</a:t>
            </a:r>
          </a:p>
          <a:p>
            <a:pPr algn="ctr">
              <a:spcAft>
                <a:spcPts val="1600"/>
              </a:spcAft>
            </a:pPr>
            <a:r>
              <a:rPr sz="2600" b="1">
                <a:solidFill>
                  <a:srgbClr val="FFFFFF"/>
                </a:solidFill>
                <a:latin typeface="Yu Gothic"/>
              </a:rPr>
              <a:t>アプリ・システム開発支援を承っていますので、</a:t>
            </a:r>
          </a:p>
          <a:p>
            <a:pPr algn="ctr">
              <a:spcAft>
                <a:spcPts val="1600"/>
              </a:spcAft>
            </a:pPr>
            <a:r>
              <a:rPr sz="2600" b="1">
                <a:solidFill>
                  <a:srgbClr val="FFFFFF"/>
                </a:solidFill>
                <a:latin typeface="Yu Gothic"/>
              </a:rPr>
              <a:t>お気軽に概要欄よりお問い合わせください。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516" y="1084161"/>
            <a:ext cx="10332967" cy="4689677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3200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1400"/>
              </a:spcAft>
            </a:pPr>
            <a:r>
              <a:rPr sz="2600" b="1">
                <a:solidFill>
                  <a:srgbClr val="FFFFFF"/>
                </a:solidFill>
                <a:latin typeface="Yu Gothic"/>
              </a:rPr>
              <a:t>たった10個の質問に答えるだけで、開発費用を</a:t>
            </a:r>
          </a:p>
          <a:p>
            <a:pPr algn="ctr">
              <a:spcAft>
                <a:spcPts val="1400"/>
              </a:spcAft>
            </a:pPr>
            <a:r>
              <a:rPr sz="2600" b="1">
                <a:solidFill>
                  <a:srgbClr val="FFFFFF"/>
                </a:solidFill>
                <a:latin typeface="Yu Gothic"/>
              </a:rPr>
              <a:t>見積もれるシミュレーターも用意しているので、</a:t>
            </a:r>
          </a:p>
          <a:p>
            <a:pPr algn="ctr">
              <a:spcAft>
                <a:spcPts val="1400"/>
              </a:spcAft>
            </a:pPr>
            <a:r>
              <a:rPr sz="2600" b="1">
                <a:solidFill>
                  <a:srgbClr val="FFFFFF"/>
                </a:solidFill>
                <a:latin typeface="Yu Gothic"/>
              </a:rPr>
              <a:t>ぜひ概要欄よりお見積もりしてみてください。</a:t>
            </a:r>
          </a:p>
          <a:p>
            <a:pPr algn="ctr">
              <a:spcAft>
                <a:spcPts val="1400"/>
              </a:spcAft>
            </a:pPr>
            <a:r>
              <a:rPr sz="2600" b="1">
                <a:solidFill>
                  <a:srgbClr val="FFFFFF"/>
                </a:solidFill>
                <a:latin typeface="Yu Gothic"/>
              </a:rPr>
              <a:t/>
            </a:r>
          </a:p>
          <a:p>
            <a:pPr algn="ctr">
              <a:spcAft>
                <a:spcPts val="1400"/>
              </a:spcAft>
            </a:pPr>
            <a:r>
              <a:rPr sz="2600" b="1">
                <a:solidFill>
                  <a:srgbClr val="FFFFFF"/>
                </a:solidFill>
                <a:latin typeface="Yu Gothic"/>
              </a:rPr>
              <a:t>※個人情報の入力は必要ありません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065" y="1228882"/>
            <a:ext cx="10161870" cy="440023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
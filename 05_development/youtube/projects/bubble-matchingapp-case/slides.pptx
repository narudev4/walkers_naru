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914400"/>
            <a:ext cx="12191695" cy="548640"/>
          </a:xfrm>
          <a:prstGeom prst="rect">
            <a:avLst/>
          </a:prstGeom>
          <a:noFill/>
        </p:spPr>
        <p:txBody>
          <a:bodyPr wrap="square"/>
          <a:lstStyle/>
          <a:p>
            <a:pPr algn="ctr"/>
            <a:r>
              <a:rPr sz="1800" b="1">
                <a:solidFill>
                  <a:srgbClr val="E98212"/>
                </a:solidFill>
                <a:latin typeface="Yu Gothic"/>
              </a:rPr>
              <a:t>【厳選】</a:t>
            </a:r>
          </a:p>
        </p:txBody>
      </p:sp>
      <p:sp>
        <p:nvSpPr>
          <p:cNvPr id="4" name="TextBox 3"/>
          <p:cNvSpPr txBox="1"/>
          <p:nvPr/>
        </p:nvSpPr>
        <p:spPr>
          <a:xfrm>
            <a:off x="0" y="1645920"/>
            <a:ext cx="12191695" cy="1645920"/>
          </a:xfrm>
          <a:prstGeom prst="rect">
            <a:avLst/>
          </a:prstGeom>
          <a:noFill/>
        </p:spPr>
        <p:txBody>
          <a:bodyPr wrap="square"/>
          <a:lstStyle/>
          <a:p>
            <a:pPr algn="ctr"/>
            <a:r>
              <a:rPr sz="4400" b="1">
                <a:solidFill>
                  <a:srgbClr val="FFFFFF"/>
                </a:solidFill>
                <a:latin typeface="Yu Gothic"/>
              </a:rPr>
              <a:t>Bubbleのマッチングアプリ</a:t>
            </a:r>
          </a:p>
          <a:p>
            <a:pPr algn="ctr"/>
            <a:r>
              <a:rPr sz="4400" b="1">
                <a:solidFill>
                  <a:srgbClr val="FFFFFF"/>
                </a:solidFill>
                <a:latin typeface="Yu Gothic"/>
              </a:rPr>
              <a:t>開発事例12選</a:t>
            </a:r>
          </a:p>
        </p:txBody>
      </p:sp>
      <p:sp>
        <p:nvSpPr>
          <p:cNvPr id="5" name="Rectangle 4"/>
          <p:cNvSpPr/>
          <p:nvPr/>
        </p:nvSpPr>
        <p:spPr>
          <a:xfrm>
            <a:off x="5029200" y="3474720"/>
            <a:ext cx="2133295" cy="54864"/>
          </a:xfrm>
          <a:prstGeom prst="rect">
            <a:avLst/>
          </a:prstGeom>
          <a:solidFill>
            <a:srgbClr val="E98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3840480"/>
            <a:ext cx="12191695" cy="457200"/>
          </a:xfrm>
          <a:prstGeom prst="rect">
            <a:avLst/>
          </a:prstGeom>
          <a:noFill/>
        </p:spPr>
        <p:txBody>
          <a:bodyPr wrap="square"/>
          <a:lstStyle/>
          <a:p>
            <a:pPr algn="ctr"/>
            <a:r>
              <a:rPr sz="2000" b="1">
                <a:solidFill>
                  <a:srgbClr val="FFFFFF"/>
                </a:solidFill>
                <a:latin typeface="Yu Gothic"/>
              </a:rPr>
              <a:t>株式会社Walkers</a:t>
            </a:r>
          </a:p>
        </p:txBody>
      </p:sp>
      <p:sp>
        <p:nvSpPr>
          <p:cNvPr id="7" name="TextBox 6"/>
          <p:cNvSpPr txBox="1"/>
          <p:nvPr/>
        </p:nvSpPr>
        <p:spPr>
          <a:xfrm>
            <a:off x="2286000" y="4480560"/>
            <a:ext cx="7619695" cy="1371600"/>
          </a:xfrm>
          <a:prstGeom prst="rect">
            <a:avLst/>
          </a:prstGeom>
          <a:noFill/>
        </p:spPr>
        <p:txBody>
          <a:bodyPr wrap="square"/>
          <a:lstStyle/>
          <a:p>
            <a:pPr algn="l">
              <a:spcAft>
                <a:spcPts val="800"/>
              </a:spcAft>
            </a:pPr>
            <a:r>
              <a:rPr sz="1300" b="0">
                <a:solidFill>
                  <a:srgbClr val="CCCCCC"/>
                </a:solidFill>
                <a:latin typeface="Yu Gothic"/>
              </a:rPr>
              <a:t>・AI・ノーコード専門の開発会社。</a:t>
            </a:r>
          </a:p>
          <a:p>
            <a:pPr algn="l">
              <a:spcAft>
                <a:spcPts val="800"/>
              </a:spcAft>
            </a:pPr>
            <a:r>
              <a:rPr sz="1300" b="0">
                <a:solidFill>
                  <a:srgbClr val="CCCCCC"/>
                </a:solidFill>
                <a:latin typeface="Yu Gothic"/>
              </a:rPr>
              <a:t>・300件以上の開発/制作実績、200件以上の企業様を支援。</a:t>
            </a:r>
          </a:p>
          <a:p>
            <a:pPr algn="l">
              <a:spcAft>
                <a:spcPts val="800"/>
              </a:spcAft>
            </a:pPr>
            <a:r>
              <a:rPr sz="1300" b="0">
                <a:solidFill>
                  <a:srgbClr val="CCCCCC"/>
                </a:solidFill>
                <a:latin typeface="Yu Gothic"/>
              </a:rPr>
              <a:t>・社名にお客様と共に"歩む''という思いを込め、事業を成功に導くための支援を行っている。</a:t>
            </a:r>
          </a:p>
        </p:txBody>
      </p:sp>
      <p:sp>
        <p:nvSpPr>
          <p:cNvPr id="8" name="TextBox 7"/>
          <p:cNvSpPr txBox="1"/>
          <p:nvPr/>
        </p:nvSpPr>
        <p:spPr>
          <a:xfrm>
            <a:off x="0" y="6126480"/>
            <a:ext cx="12191695" cy="365760"/>
          </a:xfrm>
          <a:prstGeom prst="rect">
            <a:avLst/>
          </a:prstGeom>
          <a:noFill/>
        </p:spPr>
        <p:txBody>
          <a:bodyPr wrap="square"/>
          <a:lstStyle/>
          <a:p>
            <a:pPr algn="ctr"/>
            <a:r>
              <a:rPr sz="1200" b="0">
                <a:solidFill>
                  <a:srgbClr val="666666"/>
                </a:solidFill>
                <a:latin typeface="Yu Gothic"/>
              </a:rPr>
              <a:t>アプリ開発研究所(株式会社Walkers)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9448495" cy="3657600"/>
          </a:xfrm>
          <a:prstGeom prst="rect">
            <a:avLst/>
          </a:prstGeom>
          <a:noFill/>
        </p:spPr>
        <p:txBody>
          <a:bodyPr wrap="square"/>
          <a:lstStyle/>
          <a:p>
            <a:pPr algn="ctr"/>
            <a:r>
              <a:rPr lang="ja-JP" sz="2400">
                <a:latin typeface="Yu Gothic"/>
                <a:ea typeface="Yu Gothic"/>
                <a:solidFill>
                  <a:srgbClr val="FFFFFF"/>
                </a:solidFill>
              </a:rPr>
              <a:t>「マッチングアプリを作りたいけど、</a:t>
            </a:r>
          </a:p>
          <a:p>
            <a:pPr algn="ctr"/>
            <a:r>
              <a:rPr lang="ja-JP" sz="2400">
                <a:latin typeface="Yu Gothic"/>
                <a:ea typeface="Yu Gothic"/>
                <a:solidFill>
                  <a:srgbClr val="FFFFFF"/>
                </a:solidFill>
              </a:rPr>
              <a:t>開発費用が高すぎて手が出ない」</a:t>
            </a:r>
          </a:p>
          <a:p>
            <a:pPr algn="ctr"/>
            <a:r>
              <a:rPr lang="ja-JP" sz="2400">
                <a:latin typeface="Yu Gothic"/>
                <a:ea typeface="Yu Gothic"/>
                <a:solidFill>
                  <a:srgbClr val="FFFFFF"/>
                </a:solidFill>
              </a:rPr>
              <a:t>そんなご相談をめちゃめちゃよくいただきます。</a:t>
            </a:r>
          </a:p>
          <a:p>
            <a:pPr algn="ctr"/>
            <a:r>
              <a:rPr lang="ja-JP" sz="2400">
                <a:latin typeface="Yu Gothic"/>
                <a:ea typeface="Yu Gothic"/>
                <a:solidFill>
                  <a:srgbClr val="FFFFFF"/>
                </a:solidFill>
              </a:rPr>
              <a:t/>
            </a:r>
          </a:p>
          <a:p>
            <a:pPr algn="ctr"/>
            <a:r>
              <a:rPr lang="ja-JP" sz="2400">
                <a:latin typeface="Yu Gothic"/>
                <a:ea typeface="Yu Gothic"/>
                <a:solidFill>
                  <a:srgbClr val="FFFFFF"/>
                </a:solidFill>
              </a:rPr>
              <a:t>実はノーコードツールのBubbleを使えば、</a:t>
            </a:r>
          </a:p>
          <a:p>
            <a:pPr algn="ctr"/>
            <a:r>
              <a:rPr lang="ja-JP" sz="2400">
                <a:latin typeface="Yu Gothic"/>
                <a:ea typeface="Yu Gothic"/>
                <a:solidFill>
                  <a:srgbClr val="FFFFFF"/>
                </a:solidFill>
              </a:rPr>
              <a:t>費用を大幅に抑えながら</a:t>
            </a:r>
          </a:p>
          <a:p>
            <a:pPr algn="ctr"/>
            <a:r>
              <a:rPr lang="ja-JP" sz="2400">
                <a:latin typeface="Yu Gothic"/>
                <a:ea typeface="Yu Gothic"/>
                <a:solidFill>
                  <a:srgbClr val="FFFFFF"/>
                </a:solidFill>
              </a:rPr>
              <a:t>高品質なアプリが作れる時代になっています。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9448495" cy="3657600"/>
          </a:xfrm>
          <a:prstGeom prst="rect">
            <a:avLst/>
          </a:prstGeom>
          <a:noFill/>
        </p:spPr>
        <p:txBody>
          <a:bodyPr wrap="square"/>
          <a:lstStyle/>
          <a:p>
            <a:pPr algn="ctr"/>
            <a:r>
              <a:rPr lang="ja-JP" sz="2400">
                <a:latin typeface="Yu Gothic"/>
                <a:ea typeface="Yu Gothic"/>
                <a:solidFill>
                  <a:srgbClr val="FFFFFF"/>
                </a:solidFill>
              </a:rPr>
              <a:t>過去200社以上を支援する中で、</a:t>
            </a:r>
          </a:p>
          <a:p>
            <a:pPr algn="ctr"/>
            <a:r>
              <a:rPr lang="ja-JP" sz="2400">
                <a:latin typeface="Yu Gothic"/>
                <a:ea typeface="Yu Gothic"/>
                <a:solidFill>
                  <a:srgbClr val="FFFFFF"/>
                </a:solidFill>
              </a:rPr>
              <a:t>特に参考になる12個の</a:t>
            </a:r>
          </a:p>
          <a:p>
            <a:pPr algn="ctr"/>
            <a:r>
              <a:rPr lang="ja-JP" sz="2400">
                <a:latin typeface="Yu Gothic"/>
                <a:ea typeface="Yu Gothic"/>
                <a:solidFill>
                  <a:srgbClr val="FFFFFF"/>
                </a:solidFill>
              </a:rPr>
              <a:t>Bubbleマッチングアプリ開発事例を紹介。</a:t>
            </a:r>
          </a:p>
          <a:p>
            <a:pPr algn="ctr"/>
            <a:r>
              <a:rPr lang="ja-JP" sz="2400">
                <a:latin typeface="Yu Gothic"/>
                <a:ea typeface="Yu Gothic"/>
                <a:solidFill>
                  <a:srgbClr val="FFFFFF"/>
                </a:solidFill>
              </a:rPr>
              <a:t/>
            </a:r>
          </a:p>
          <a:p>
            <a:pPr algn="ctr"/>
            <a:r>
              <a:rPr lang="ja-JP" sz="2400">
                <a:latin typeface="Yu Gothic"/>
                <a:ea typeface="Yu Gothic"/>
                <a:solidFill>
                  <a:srgbClr val="FFFFFF"/>
                </a:solidFill>
              </a:rPr>
              <a:t>後半ではBubble開発の3つのメリットと</a:t>
            </a:r>
          </a:p>
          <a:p>
            <a:pPr algn="ctr"/>
            <a:r>
              <a:rPr lang="ja-JP" sz="2400">
                <a:latin typeface="Yu Gothic"/>
                <a:ea typeface="Yu Gothic"/>
                <a:solidFill>
                  <a:srgbClr val="FFFFFF"/>
                </a:solidFill>
              </a:rPr>
              <a:t>よくある質問にもお答えします。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57200"/>
            <a:ext cx="12191695" cy="731520"/>
          </a:xfrm>
          <a:prstGeom prst="rect">
            <a:avLst/>
          </a:prstGeom>
          <a:noFill/>
        </p:spPr>
        <p:txBody>
          <a:bodyPr wrap="square"/>
          <a:lstStyle/>
          <a:p>
            <a:pPr algn="ctr"/>
            <a:r>
              <a:rPr sz="2400" b="1">
                <a:solidFill>
                  <a:srgbClr val="E98212"/>
                </a:solidFill>
                <a:latin typeface="Yu Gothic"/>
              </a:rPr>
              <a:t>山口 鳳汰の自己紹介</a:t>
            </a:r>
          </a:p>
        </p:txBody>
      </p:sp>
      <p:sp>
        <p:nvSpPr>
          <p:cNvPr id="4" name="Rectangle 3"/>
          <p:cNvSpPr/>
          <p:nvPr/>
        </p:nvSpPr>
        <p:spPr>
          <a:xfrm>
            <a:off x="5029200" y="1188720"/>
            <a:ext cx="2133295" cy="54864"/>
          </a:xfrm>
          <a:prstGeom prst="rect">
            <a:avLst/>
          </a:prstGeom>
          <a:solidFill>
            <a:srgbClr val="E98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534095" cy="4114800"/>
          </a:xfrm>
          <a:prstGeom prst="rect">
            <a:avLst/>
          </a:prstGeom>
          <a:noFill/>
        </p:spPr>
        <p:txBody>
          <a:bodyPr wrap="square"/>
          <a:lstStyle/>
          <a:p>
            <a:pPr algn="l">
              <a:spcAft>
                <a:spcPts val="1600"/>
              </a:spcAft>
            </a:pPr>
            <a:r>
              <a:rPr sz="1800" b="0">
                <a:solidFill>
                  <a:srgbClr val="FFFFFF"/>
                </a:solidFill>
                <a:latin typeface="Yu Gothic"/>
              </a:rPr>
              <a:t>・AI・ノーコード専門の開発会社Walkersで事業企画を担当。</a:t>
            </a:r>
          </a:p>
          <a:p>
            <a:pPr algn="l">
              <a:spcAft>
                <a:spcPts val="1600"/>
              </a:spcAft>
            </a:pPr>
            <a:r>
              <a:rPr sz="1800" b="0">
                <a:solidFill>
                  <a:srgbClr val="FFFFFF"/>
                </a:solidFill>
                <a:latin typeface="Yu Gothic"/>
              </a:rPr>
              <a:t>・累計100万PV以上のAI・ノーコード専門メディアの編集長。</a:t>
            </a:r>
          </a:p>
          <a:p>
            <a:pPr algn="l">
              <a:spcAft>
                <a:spcPts val="1600"/>
              </a:spcAft>
            </a:pPr>
            <a:r>
              <a:rPr sz="1800" b="0">
                <a:solidFill>
                  <a:srgbClr val="FFFFFF"/>
                </a:solidFill>
                <a:latin typeface="Yu Gothic"/>
              </a:rPr>
              <a:t>・アプリ開発の電子書籍を3冊出版し、1冊はAmazonベストセラーを獲得。</a:t>
            </a:r>
          </a:p>
          <a:p>
            <a:pPr algn="l">
              <a:spcAft>
                <a:spcPts val="1600"/>
              </a:spcAft>
            </a:pPr>
            <a:r>
              <a:rPr sz="1800" b="0">
                <a:solidFill>
                  <a:srgbClr val="FFFFFF"/>
                </a:solidFill>
                <a:latin typeface="Yu Gothic"/>
              </a:rPr>
              <a:t>・アプリ開発のオンラインスクール「Tech Studio(テックスタジオ)」運営。</a:t>
            </a:r>
          </a:p>
          <a:p>
            <a:pPr algn="l">
              <a:spcAft>
                <a:spcPts val="1600"/>
              </a:spcAft>
            </a:pPr>
            <a:r>
              <a:rPr sz="1800" b="0">
                <a:solidFill>
                  <a:srgbClr val="FFFFFF"/>
                </a:solidFill>
                <a:latin typeface="Yu Gothic"/>
              </a:rPr>
              <a:t>・その他多数のAI・ノーコード事業に参画。</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9448495" cy="3657600"/>
          </a:xfrm>
          <a:prstGeom prst="rect">
            <a:avLst/>
          </a:prstGeom>
          <a:noFill/>
        </p:spPr>
        <p:txBody>
          <a:bodyPr wrap="square"/>
          <a:lstStyle/>
          <a:p>
            <a:pPr algn="ctr">
              <a:spcAft>
                <a:spcPts val="1400"/>
              </a:spcAft>
            </a:pPr>
            <a:r>
              <a:rPr sz="2400" b="0">
                <a:solidFill>
                  <a:srgbClr val="FFFFFF"/>
                </a:solidFill>
                <a:latin typeface="Yu Gothic"/>
              </a:rPr>
              <a:t>アプリ開発研究所では、AIとノーコードを組み合わせた</a:t>
            </a:r>
          </a:p>
          <a:p>
            <a:pPr algn="ctr">
              <a:spcAft>
                <a:spcPts val="1400"/>
              </a:spcAft>
            </a:pPr>
            <a:r>
              <a:rPr sz="2400" b="0">
                <a:solidFill>
                  <a:srgbClr val="FFFFFF"/>
                </a:solidFill>
                <a:latin typeface="Yu Gothic"/>
              </a:rPr>
              <a:t>効率的な開発手法を発信しています。</a:t>
            </a:r>
          </a:p>
          <a:p>
            <a:pPr algn="ctr">
              <a:spcAft>
                <a:spcPts val="1400"/>
              </a:spcAft>
            </a:pPr>
            <a:r>
              <a:rPr sz="2400" b="0">
                <a:solidFill>
                  <a:srgbClr val="FFFFFF"/>
                </a:solidFill>
                <a:latin typeface="Yu Gothic"/>
              </a:rPr>
              <a:t/>
            </a:r>
          </a:p>
          <a:p>
            <a:pPr algn="ctr">
              <a:spcAft>
                <a:spcPts val="1400"/>
              </a:spcAft>
            </a:pPr>
            <a:r>
              <a:rPr sz="2400" b="0">
                <a:solidFill>
                  <a:srgbClr val="FFFFFF"/>
                </a:solidFill>
                <a:latin typeface="Yu Gothic"/>
              </a:rPr>
              <a:t>最新の開発トレンドを逃さないよう、</a:t>
            </a:r>
          </a:p>
          <a:p>
            <a:pPr algn="ctr">
              <a:spcAft>
                <a:spcPts val="1400"/>
              </a:spcAft>
            </a:pPr>
            <a:r>
              <a:rPr sz="2400" b="0">
                <a:solidFill>
                  <a:srgbClr val="FFFFFF"/>
                </a:solidFill>
                <a:latin typeface="Yu Gothic"/>
              </a:rPr>
              <a:t>ぜひチャンネル登録をよろしくお願いします！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2743200"/>
            <a:ext cx="3047695" cy="54864"/>
          </a:xfrm>
          <a:prstGeom prst="rect">
            <a:avLst/>
          </a:prstGeom>
          <a:solidFill>
            <a:srgbClr val="E98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828800"/>
            <a:ext cx="12191695" cy="914400"/>
          </a:xfrm>
          <a:prstGeom prst="rect">
            <a:avLst/>
          </a:prstGeom>
          <a:noFill/>
        </p:spPr>
        <p:txBody>
          <a:bodyPr wrap="square"/>
          <a:lstStyle/>
          <a:p>
            <a:pPr algn="ctr"/>
            <a:r>
              <a:rPr sz="3900" b="1">
                <a:solidFill>
                  <a:srgbClr val="E98212"/>
                </a:solidFill>
                <a:latin typeface="Yu Gothic"/>
              </a:rPr>
              <a:t>01</a:t>
            </a:r>
          </a:p>
        </p:txBody>
      </p:sp>
      <p:sp>
        <p:nvSpPr>
          <p:cNvPr id="5" name="TextBox 4"/>
          <p:cNvSpPr txBox="1"/>
          <p:nvPr/>
        </p:nvSpPr>
        <p:spPr>
          <a:xfrm>
            <a:off x="0" y="3017520"/>
            <a:ext cx="12191695" cy="914400"/>
          </a:xfrm>
          <a:prstGeom prst="rect">
            <a:avLst/>
          </a:prstGeom>
          <a:noFill/>
        </p:spPr>
        <p:txBody>
          <a:bodyPr wrap="square"/>
          <a:lstStyle/>
          <a:p>
            <a:pPr algn="ctr"/>
            <a:r>
              <a:rPr sz="3200" b="1">
                <a:solidFill>
                  <a:srgbClr val="FFFFFF"/>
                </a:solidFill>
                <a:latin typeface="Yu Gothic"/>
              </a:rPr>
              <a:t>Bubbleのマッチングアプリ開発事例12選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822960"/>
          </a:xfrm>
          <a:prstGeom prst="rect">
            <a:avLst/>
          </a:prstGeom>
          <a:noFill/>
        </p:spPr>
        <p:txBody>
          <a:bodyPr wrap="square"/>
          <a:lstStyle/>
          <a:p>
            <a:pPr algn="ctr"/>
            <a:r>
              <a:rPr sz="2800" b="1">
                <a:solidFill>
                  <a:srgbClr val="FFFFFF"/>
                </a:solidFill>
                <a:latin typeface="Yu Gothic"/>
              </a:rPr>
              <a:t>01</a:t>
            </a:r>
          </a:p>
        </p:txBody>
      </p:sp>
      <p:sp>
        <p:nvSpPr>
          <p:cNvPr id="5" name="TextBox 4"/>
          <p:cNvSpPr txBox="1"/>
          <p:nvPr/>
        </p:nvSpPr>
        <p:spPr>
          <a:xfrm>
            <a:off x="1645920" y="228600"/>
            <a:ext cx="9144000" cy="731520"/>
          </a:xfrm>
          <a:prstGeom prst="rect">
            <a:avLst/>
          </a:prstGeom>
          <a:noFill/>
        </p:spPr>
        <p:txBody>
          <a:bodyPr wrap="square"/>
          <a:lstStyle/>
          <a:p>
            <a:pPr algn="l"/>
            <a:r>
              <a:rPr sz="2400" b="1">
                <a:solidFill>
                  <a:srgbClr val="FFFFFF"/>
                </a:solidFill>
                <a:latin typeface="Yu Gothic"/>
              </a:rPr>
              <a:t>①PM Career — PM専用の転職マッチングアプリ</a:t>
            </a:r>
          </a:p>
        </p:txBody>
      </p:sp>
      <p:sp>
        <p:nvSpPr>
          <p:cNvPr id="6" name="TextBox 5"/>
          <p:cNvSpPr txBox="1"/>
          <p:nvPr/>
        </p:nvSpPr>
        <p:spPr>
          <a:xfrm>
            <a:off x="731520" y="1371600"/>
            <a:ext cx="10515600" cy="731520"/>
          </a:xfrm>
          <a:prstGeom prst="rect">
            <a:avLst/>
          </a:prstGeom>
          <a:noFill/>
        </p:spPr>
        <p:txBody>
          <a:bodyPr wrap="square"/>
          <a:lstStyle/>
          <a:p>
            <a:pPr algn="l"/>
            <a:r>
              <a:rPr sz="2000" b="0">
                <a:solidFill>
                  <a:srgbClr val="333333"/>
                </a:solidFill>
                <a:latin typeface="Yu Gothic"/>
              </a:rPr>
              <a:t>プロダクトマネージャーを優秀なプロダクト開発企業と結びつけるサービス</a:t>
            </a:r>
          </a:p>
        </p:txBody>
      </p:sp>
      <p:sp>
        <p:nvSpPr>
          <p:cNvPr id="7" name="Rectangle 6"/>
          <p:cNvSpPr/>
          <p:nvPr/>
        </p:nvSpPr>
        <p:spPr>
          <a:xfrm>
            <a:off x="7315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06040"/>
            <a:ext cx="4754880" cy="411480"/>
          </a:xfrm>
          <a:prstGeom prst="rect">
            <a:avLst/>
          </a:prstGeom>
          <a:noFill/>
        </p:spPr>
        <p:txBody>
          <a:bodyPr wrap="square"/>
          <a:lstStyle/>
          <a:p>
            <a:pPr algn="l"/>
            <a:r>
              <a:rPr sz="1800" b="1">
                <a:solidFill>
                  <a:srgbClr val="FFFFFF"/>
                </a:solidFill>
                <a:latin typeface="Yu Gothic"/>
              </a:rPr>
              <a:t>概要</a:t>
            </a:r>
          </a:p>
        </p:txBody>
      </p:sp>
      <p:sp>
        <p:nvSpPr>
          <p:cNvPr id="10" name="TextBox 9"/>
          <p:cNvSpPr txBox="1"/>
          <p:nvPr/>
        </p:nvSpPr>
        <p:spPr>
          <a:xfrm>
            <a:off x="868680" y="3108960"/>
            <a:ext cx="4754880" cy="2606040"/>
          </a:xfrm>
          <a:prstGeom prst="rect">
            <a:avLst/>
          </a:prstGeom>
          <a:noFill/>
        </p:spPr>
        <p:txBody>
          <a:bodyPr wrap="square"/>
          <a:lstStyle/>
          <a:p>
            <a:pPr algn="l"/>
            <a:r>
              <a:rPr sz="1600" b="0">
                <a:solidFill>
                  <a:srgbClr val="333333"/>
                </a:solidFill>
                <a:latin typeface="Yu Gothic"/>
              </a:rPr>
              <a:t>・PM専門の転職支援サービス</a:t>
            </a:r>
          </a:p>
          <a:p>
            <a:pPr algn="l"/>
            <a:r>
              <a:rPr sz="1600" b="0">
                <a:solidFill>
                  <a:srgbClr val="333333"/>
                </a:solidFill>
                <a:latin typeface="Yu Gothic"/>
              </a:rPr>
              <a:t>・弊社Walkersが約3ヶ月で開発</a:t>
            </a:r>
          </a:p>
          <a:p>
            <a:pPr algn="l"/>
            <a:r>
              <a:rPr sz="1600" b="0">
                <a:solidFill>
                  <a:srgbClr val="333333"/>
                </a:solidFill>
                <a:latin typeface="Yu Gothic"/>
              </a:rPr>
              <a:t>・開始1年以内に利益化を達成</a:t>
            </a:r>
          </a:p>
        </p:txBody>
      </p:sp>
      <p:sp>
        <p:nvSpPr>
          <p:cNvPr id="11" name="Rectangle 10"/>
          <p:cNvSpPr/>
          <p:nvPr/>
        </p:nvSpPr>
        <p:spPr>
          <a:xfrm>
            <a:off x="62179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06040"/>
            <a:ext cx="4754880" cy="411480"/>
          </a:xfrm>
          <a:prstGeom prst="rect">
            <a:avLst/>
          </a:prstGeom>
          <a:noFill/>
        </p:spPr>
        <p:txBody>
          <a:bodyPr wrap="square"/>
          <a:lstStyle/>
          <a:p>
            <a:pPr algn="l"/>
            <a:r>
              <a:rPr sz="1800" b="1">
                <a:solidFill>
                  <a:srgbClr val="FFFFFF"/>
                </a:solidFill>
                <a:latin typeface="Yu Gothic"/>
              </a:rPr>
              <a:t>ポイント</a:t>
            </a:r>
          </a:p>
        </p:txBody>
      </p:sp>
      <p:sp>
        <p:nvSpPr>
          <p:cNvPr id="14" name="TextBox 13"/>
          <p:cNvSpPr txBox="1"/>
          <p:nvPr/>
        </p:nvSpPr>
        <p:spPr>
          <a:xfrm>
            <a:off x="6355080" y="3108960"/>
            <a:ext cx="4754880" cy="2606040"/>
          </a:xfrm>
          <a:prstGeom prst="rect">
            <a:avLst/>
          </a:prstGeom>
          <a:noFill/>
        </p:spPr>
        <p:txBody>
          <a:bodyPr wrap="square"/>
          <a:lstStyle/>
          <a:p>
            <a:pPr algn="l"/>
            <a:r>
              <a:rPr sz="1600" b="0">
                <a:solidFill>
                  <a:srgbClr val="333333"/>
                </a:solidFill>
                <a:latin typeface="Yu Gothic"/>
              </a:rPr>
              <a:t>・「リリース時に一行もプログラムを</a:t>
            </a:r>
          </a:p>
          <a:p>
            <a:pPr algn="l"/>
            <a:r>
              <a:rPr sz="1600" b="0">
                <a:solidFill>
                  <a:srgbClr val="333333"/>
                </a:solidFill>
                <a:latin typeface="Yu Gothic"/>
              </a:rPr>
              <a:t>  書いていない」</a:t>
            </a:r>
          </a:p>
          <a:p>
            <a:pPr algn="l"/>
            <a:r>
              <a:rPr sz="1600" b="0">
                <a:solidFill>
                  <a:srgbClr val="333333"/>
                </a:solidFill>
                <a:latin typeface="Yu Gothic"/>
              </a:rPr>
              <a:t>・Bubbleで爆速サービス立ち上げ</a:t>
            </a:r>
          </a:p>
          <a:p>
            <a:pPr algn="l"/>
            <a:r>
              <a:rPr sz="1600" b="0">
                <a:solidFill>
                  <a:srgbClr val="333333"/>
                </a:solidFill>
                <a:latin typeface="Yu Gothic"/>
              </a:rPr>
              <a:t>・Walkers開発実績</a:t>
            </a:r>
          </a:p>
        </p:txBody>
      </p:sp>
      <p:sp>
        <p:nvSpPr>
          <p:cNvPr id="15" name="Rectangle 14"/>
          <p:cNvSpPr/>
          <p:nvPr/>
        </p:nvSpPr>
        <p:spPr>
          <a:xfrm>
            <a:off x="0" y="6400800"/>
            <a:ext cx="12191695" cy="45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46520"/>
            <a:ext cx="10972800" cy="365760"/>
          </a:xfrm>
          <a:prstGeom prst="rect">
            <a:avLst/>
          </a:prstGeom>
          <a:noFill/>
        </p:spPr>
        <p:txBody>
          <a:bodyPr wrap="square"/>
          <a:lstStyle/>
          <a:p>
            <a:pPr algn="l"/>
            <a:r>
              <a:rPr sz="1400" b="0">
                <a:solidFill>
                  <a:srgbClr val="666666"/>
                </a:solidFill>
                <a:latin typeface="Yu Gothic"/>
              </a:rPr>
              <a:t>Bubbleマッチングアプリ開発事例12選 | アプリ開発研究所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822960"/>
          </a:xfrm>
          <a:prstGeom prst="rect">
            <a:avLst/>
          </a:prstGeom>
          <a:noFill/>
        </p:spPr>
        <p:txBody>
          <a:bodyPr wrap="square"/>
          <a:lstStyle/>
          <a:p>
            <a:pPr algn="ctr"/>
            <a:r>
              <a:rPr sz="2800" b="1">
                <a:solidFill>
                  <a:srgbClr val="FFFFFF"/>
                </a:solidFill>
                <a:latin typeface="Yu Gothic"/>
              </a:rPr>
              <a:t>01</a:t>
            </a:r>
          </a:p>
        </p:txBody>
      </p:sp>
      <p:sp>
        <p:nvSpPr>
          <p:cNvPr id="5" name="TextBox 4"/>
          <p:cNvSpPr txBox="1"/>
          <p:nvPr/>
        </p:nvSpPr>
        <p:spPr>
          <a:xfrm>
            <a:off x="1645920" y="228600"/>
            <a:ext cx="9144000" cy="731520"/>
          </a:xfrm>
          <a:prstGeom prst="rect">
            <a:avLst/>
          </a:prstGeom>
          <a:noFill/>
        </p:spPr>
        <p:txBody>
          <a:bodyPr wrap="square"/>
          <a:lstStyle/>
          <a:p>
            <a:pPr algn="l"/>
            <a:r>
              <a:rPr sz="2400" b="1">
                <a:solidFill>
                  <a:srgbClr val="FFFFFF"/>
                </a:solidFill>
                <a:latin typeface="Yu Gothic"/>
              </a:rPr>
              <a:t>②Flexiple — エンジニアと企業を結ぶマッチング</a:t>
            </a:r>
          </a:p>
        </p:txBody>
      </p:sp>
      <p:sp>
        <p:nvSpPr>
          <p:cNvPr id="6" name="TextBox 5"/>
          <p:cNvSpPr txBox="1"/>
          <p:nvPr/>
        </p:nvSpPr>
        <p:spPr>
          <a:xfrm>
            <a:off x="731520" y="1371600"/>
            <a:ext cx="10515600" cy="731520"/>
          </a:xfrm>
          <a:prstGeom prst="rect">
            <a:avLst/>
          </a:prstGeom>
          <a:noFill/>
        </p:spPr>
        <p:txBody>
          <a:bodyPr wrap="square"/>
          <a:lstStyle/>
          <a:p>
            <a:pPr algn="l"/>
            <a:r>
              <a:rPr sz="2000" b="0">
                <a:solidFill>
                  <a:srgbClr val="333333"/>
                </a:solidFill>
                <a:latin typeface="Yu Gothic"/>
              </a:rPr>
              <a:t>エンジニアと企業をつなぐマッチングサービス</a:t>
            </a:r>
          </a:p>
        </p:txBody>
      </p:sp>
      <p:sp>
        <p:nvSpPr>
          <p:cNvPr id="7" name="Rectangle 6"/>
          <p:cNvSpPr/>
          <p:nvPr/>
        </p:nvSpPr>
        <p:spPr>
          <a:xfrm>
            <a:off x="7315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06040"/>
            <a:ext cx="4754880" cy="411480"/>
          </a:xfrm>
          <a:prstGeom prst="rect">
            <a:avLst/>
          </a:prstGeom>
          <a:noFill/>
        </p:spPr>
        <p:txBody>
          <a:bodyPr wrap="square"/>
          <a:lstStyle/>
          <a:p>
            <a:pPr algn="l"/>
            <a:r>
              <a:rPr sz="1800" b="1">
                <a:solidFill>
                  <a:srgbClr val="FFFFFF"/>
                </a:solidFill>
                <a:latin typeface="Yu Gothic"/>
              </a:rPr>
              <a:t>実績</a:t>
            </a:r>
          </a:p>
        </p:txBody>
      </p:sp>
      <p:sp>
        <p:nvSpPr>
          <p:cNvPr id="10" name="TextBox 9"/>
          <p:cNvSpPr txBox="1"/>
          <p:nvPr/>
        </p:nvSpPr>
        <p:spPr>
          <a:xfrm>
            <a:off x="868680" y="3108960"/>
            <a:ext cx="4754880" cy="2606040"/>
          </a:xfrm>
          <a:prstGeom prst="rect">
            <a:avLst/>
          </a:prstGeom>
          <a:noFill/>
        </p:spPr>
        <p:txBody>
          <a:bodyPr wrap="square"/>
          <a:lstStyle/>
          <a:p>
            <a:pPr algn="l"/>
            <a:r>
              <a:rPr sz="1600" b="0">
                <a:solidFill>
                  <a:srgbClr val="333333"/>
                </a:solidFill>
                <a:latin typeface="Yu Gothic"/>
              </a:rPr>
              <a:t>・求職者数10万人超</a:t>
            </a:r>
          </a:p>
          <a:p>
            <a:pPr algn="l"/>
            <a:r>
              <a:rPr sz="1600" b="0">
                <a:solidFill>
                  <a:srgbClr val="333333"/>
                </a:solidFill>
                <a:latin typeface="Yu Gothic"/>
              </a:rPr>
              <a:t>・年間収益 約300万ドル（約4.5億円）</a:t>
            </a:r>
          </a:p>
          <a:p>
            <a:pPr algn="l"/>
            <a:r>
              <a:rPr sz="1600" b="0">
                <a:solidFill>
                  <a:srgbClr val="333333"/>
                </a:solidFill>
                <a:latin typeface="Yu Gothic"/>
              </a:rPr>
              <a:t>・年間 最大3万ドルの運用コスト削減</a:t>
            </a:r>
          </a:p>
        </p:txBody>
      </p:sp>
      <p:sp>
        <p:nvSpPr>
          <p:cNvPr id="11" name="Rectangle 10"/>
          <p:cNvSpPr/>
          <p:nvPr/>
        </p:nvSpPr>
        <p:spPr>
          <a:xfrm>
            <a:off x="62179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06040"/>
            <a:ext cx="4754880" cy="411480"/>
          </a:xfrm>
          <a:prstGeom prst="rect">
            <a:avLst/>
          </a:prstGeom>
          <a:noFill/>
        </p:spPr>
        <p:txBody>
          <a:bodyPr wrap="square"/>
          <a:lstStyle/>
          <a:p>
            <a:pPr algn="l"/>
            <a:r>
              <a:rPr sz="1800" b="1">
                <a:solidFill>
                  <a:srgbClr val="FFFFFF"/>
                </a:solidFill>
                <a:latin typeface="Yu Gothic"/>
              </a:rPr>
              <a:t>ポイント</a:t>
            </a:r>
          </a:p>
        </p:txBody>
      </p:sp>
      <p:sp>
        <p:nvSpPr>
          <p:cNvPr id="14" name="TextBox 13"/>
          <p:cNvSpPr txBox="1"/>
          <p:nvPr/>
        </p:nvSpPr>
        <p:spPr>
          <a:xfrm>
            <a:off x="6355080" y="3108960"/>
            <a:ext cx="4754880" cy="2606040"/>
          </a:xfrm>
          <a:prstGeom prst="rect">
            <a:avLst/>
          </a:prstGeom>
          <a:noFill/>
        </p:spPr>
        <p:txBody>
          <a:bodyPr wrap="square"/>
          <a:lstStyle/>
          <a:p>
            <a:pPr algn="l"/>
            <a:r>
              <a:rPr sz="1600" b="0">
                <a:solidFill>
                  <a:srgbClr val="333333"/>
                </a:solidFill>
                <a:latin typeface="Yu Gothic"/>
              </a:rPr>
              <a:t>・Bubbleで大規模サービス運用を実現</a:t>
            </a:r>
          </a:p>
          <a:p>
            <a:pPr algn="l"/>
            <a:r>
              <a:rPr sz="1600" b="0">
                <a:solidFill>
                  <a:srgbClr val="333333"/>
                </a:solidFill>
                <a:latin typeface="Yu Gothic"/>
              </a:rPr>
              <a:t>・「問題を解決することが目的なら</a:t>
            </a:r>
          </a:p>
          <a:p>
            <a:pPr algn="l"/>
            <a:r>
              <a:rPr sz="1600" b="0">
                <a:solidFill>
                  <a:srgbClr val="333333"/>
                </a:solidFill>
                <a:latin typeface="Yu Gothic"/>
              </a:rPr>
              <a:t>  Bubbleは優れたツール」</a:t>
            </a:r>
          </a:p>
        </p:txBody>
      </p:sp>
      <p:sp>
        <p:nvSpPr>
          <p:cNvPr id="15" name="Rectangle 14"/>
          <p:cNvSpPr/>
          <p:nvPr/>
        </p:nvSpPr>
        <p:spPr>
          <a:xfrm>
            <a:off x="0" y="6400800"/>
            <a:ext cx="12191695" cy="45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46520"/>
            <a:ext cx="10972800" cy="365760"/>
          </a:xfrm>
          <a:prstGeom prst="rect">
            <a:avLst/>
          </a:prstGeom>
          <a:noFill/>
        </p:spPr>
        <p:txBody>
          <a:bodyPr wrap="square"/>
          <a:lstStyle/>
          <a:p>
            <a:pPr algn="l"/>
            <a:r>
              <a:rPr sz="1400" b="0">
                <a:solidFill>
                  <a:srgbClr val="666666"/>
                </a:solidFill>
                <a:latin typeface="Yu Gothic"/>
              </a:rPr>
              <a:t>Bubbleマッチングアプリ開発事例12選 | アプリ開発研究所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822960"/>
          </a:xfrm>
          <a:prstGeom prst="rect">
            <a:avLst/>
          </a:prstGeom>
          <a:noFill/>
        </p:spPr>
        <p:txBody>
          <a:bodyPr wrap="square"/>
          <a:lstStyle/>
          <a:p>
            <a:pPr algn="ctr"/>
            <a:r>
              <a:rPr sz="2800" b="1">
                <a:solidFill>
                  <a:srgbClr val="FFFFFF"/>
                </a:solidFill>
                <a:latin typeface="Yu Gothic"/>
              </a:rPr>
              <a:t>01</a:t>
            </a:r>
          </a:p>
        </p:txBody>
      </p:sp>
      <p:sp>
        <p:nvSpPr>
          <p:cNvPr id="5" name="TextBox 4"/>
          <p:cNvSpPr txBox="1"/>
          <p:nvPr/>
        </p:nvSpPr>
        <p:spPr>
          <a:xfrm>
            <a:off x="1645920" y="228600"/>
            <a:ext cx="9144000" cy="731520"/>
          </a:xfrm>
          <a:prstGeom prst="rect">
            <a:avLst/>
          </a:prstGeom>
          <a:noFill/>
        </p:spPr>
        <p:txBody>
          <a:bodyPr wrap="square"/>
          <a:lstStyle/>
          <a:p>
            <a:pPr algn="l"/>
            <a:r>
              <a:rPr sz="2400" b="1">
                <a:solidFill>
                  <a:srgbClr val="FFFFFF"/>
                </a:solidFill>
                <a:latin typeface="Yu Gothic"/>
              </a:rPr>
              <a:t>③Messly — 非常勤医師と病院を結ぶマッチング</a:t>
            </a:r>
          </a:p>
        </p:txBody>
      </p:sp>
      <p:sp>
        <p:nvSpPr>
          <p:cNvPr id="6" name="TextBox 5"/>
          <p:cNvSpPr txBox="1"/>
          <p:nvPr/>
        </p:nvSpPr>
        <p:spPr>
          <a:xfrm>
            <a:off x="731520" y="1371600"/>
            <a:ext cx="10515600" cy="731520"/>
          </a:xfrm>
          <a:prstGeom prst="rect">
            <a:avLst/>
          </a:prstGeom>
          <a:noFill/>
        </p:spPr>
        <p:txBody>
          <a:bodyPr wrap="square"/>
          <a:lstStyle/>
          <a:p>
            <a:pPr algn="l"/>
            <a:r>
              <a:rPr sz="2000" b="0">
                <a:solidFill>
                  <a:srgbClr val="333333"/>
                </a:solidFill>
                <a:latin typeface="Yu Gothic"/>
              </a:rPr>
              <a:t>登録医師25,000人超の医師マッチングサービス</a:t>
            </a:r>
          </a:p>
        </p:txBody>
      </p:sp>
      <p:sp>
        <p:nvSpPr>
          <p:cNvPr id="7" name="Rectangle 6"/>
          <p:cNvSpPr/>
          <p:nvPr/>
        </p:nvSpPr>
        <p:spPr>
          <a:xfrm>
            <a:off x="7315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06040"/>
            <a:ext cx="4754880" cy="411480"/>
          </a:xfrm>
          <a:prstGeom prst="rect">
            <a:avLst/>
          </a:prstGeom>
          <a:noFill/>
        </p:spPr>
        <p:txBody>
          <a:bodyPr wrap="square"/>
          <a:lstStyle/>
          <a:p>
            <a:pPr algn="l"/>
            <a:r>
              <a:rPr sz="1800" b="1">
                <a:solidFill>
                  <a:srgbClr val="FFFFFF"/>
                </a:solidFill>
                <a:latin typeface="Yu Gothic"/>
              </a:rPr>
              <a:t>実績</a:t>
            </a:r>
          </a:p>
        </p:txBody>
      </p:sp>
      <p:sp>
        <p:nvSpPr>
          <p:cNvPr id="10" name="TextBox 9"/>
          <p:cNvSpPr txBox="1"/>
          <p:nvPr/>
        </p:nvSpPr>
        <p:spPr>
          <a:xfrm>
            <a:off x="868680" y="3108960"/>
            <a:ext cx="4754880" cy="2606040"/>
          </a:xfrm>
          <a:prstGeom prst="rect">
            <a:avLst/>
          </a:prstGeom>
          <a:noFill/>
        </p:spPr>
        <p:txBody>
          <a:bodyPr wrap="square"/>
          <a:lstStyle/>
          <a:p>
            <a:pPr algn="l"/>
            <a:r>
              <a:rPr sz="1600" b="0">
                <a:solidFill>
                  <a:srgbClr val="333333"/>
                </a:solidFill>
                <a:latin typeface="Yu Gothic"/>
              </a:rPr>
              <a:t>・登録医師25,000人超</a:t>
            </a:r>
          </a:p>
          <a:p>
            <a:pPr algn="l"/>
            <a:r>
              <a:rPr sz="1600" b="0">
                <a:solidFill>
                  <a:srgbClr val="333333"/>
                </a:solidFill>
                <a:latin typeface="Yu Gothic"/>
              </a:rPr>
              <a:t>・App Storeで星4.8以上獲得</a:t>
            </a:r>
          </a:p>
          <a:p>
            <a:pPr algn="l"/>
            <a:r>
              <a:rPr sz="1600" b="0">
                <a:solidFill>
                  <a:srgbClr val="333333"/>
                </a:solidFill>
                <a:latin typeface="Yu Gothic"/>
              </a:rPr>
              <a:t>・東証上場の大企業に買収</a:t>
            </a:r>
          </a:p>
        </p:txBody>
      </p:sp>
      <p:sp>
        <p:nvSpPr>
          <p:cNvPr id="11" name="Rectangle 10"/>
          <p:cNvSpPr/>
          <p:nvPr/>
        </p:nvSpPr>
        <p:spPr>
          <a:xfrm>
            <a:off x="62179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06040"/>
            <a:ext cx="4754880" cy="411480"/>
          </a:xfrm>
          <a:prstGeom prst="rect">
            <a:avLst/>
          </a:prstGeom>
          <a:noFill/>
        </p:spPr>
        <p:txBody>
          <a:bodyPr wrap="square"/>
          <a:lstStyle/>
          <a:p>
            <a:pPr algn="l"/>
            <a:r>
              <a:rPr sz="1800" b="1">
                <a:solidFill>
                  <a:srgbClr val="FFFFFF"/>
                </a:solidFill>
                <a:latin typeface="Yu Gothic"/>
              </a:rPr>
              <a:t>ポイント</a:t>
            </a:r>
          </a:p>
        </p:txBody>
      </p:sp>
      <p:sp>
        <p:nvSpPr>
          <p:cNvPr id="14" name="TextBox 13"/>
          <p:cNvSpPr txBox="1"/>
          <p:nvPr/>
        </p:nvSpPr>
        <p:spPr>
          <a:xfrm>
            <a:off x="6355080" y="3108960"/>
            <a:ext cx="4754880" cy="2606040"/>
          </a:xfrm>
          <a:prstGeom prst="rect">
            <a:avLst/>
          </a:prstGeom>
          <a:noFill/>
        </p:spPr>
        <p:txBody>
          <a:bodyPr wrap="square"/>
          <a:lstStyle/>
          <a:p>
            <a:pPr algn="l"/>
            <a:r>
              <a:rPr sz="1600" b="0">
                <a:solidFill>
                  <a:srgbClr val="333333"/>
                </a:solidFill>
                <a:latin typeface="Yu Gothic"/>
              </a:rPr>
              <a:t>・650万人以上の会員を持つ</a:t>
            </a:r>
          </a:p>
          <a:p>
            <a:pPr algn="l"/>
            <a:r>
              <a:rPr sz="1600" b="0">
                <a:solidFill>
                  <a:srgbClr val="333333"/>
                </a:solidFill>
                <a:latin typeface="Yu Gothic"/>
              </a:rPr>
              <a:t>  世界最大級医師ネットワークに買収</a:t>
            </a:r>
          </a:p>
          <a:p>
            <a:pPr algn="l"/>
            <a:r>
              <a:rPr sz="1600" b="0">
                <a:solidFill>
                  <a:srgbClr val="333333"/>
                </a:solidFill>
                <a:latin typeface="Yu Gothic"/>
              </a:rPr>
              <a:t>・BubbleアプリがEXITを達成</a:t>
            </a:r>
          </a:p>
        </p:txBody>
      </p:sp>
      <p:sp>
        <p:nvSpPr>
          <p:cNvPr id="15" name="Rectangle 14"/>
          <p:cNvSpPr/>
          <p:nvPr/>
        </p:nvSpPr>
        <p:spPr>
          <a:xfrm>
            <a:off x="0" y="6400800"/>
            <a:ext cx="12191695" cy="45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46520"/>
            <a:ext cx="10972800" cy="365760"/>
          </a:xfrm>
          <a:prstGeom prst="rect">
            <a:avLst/>
          </a:prstGeom>
          <a:noFill/>
        </p:spPr>
        <p:txBody>
          <a:bodyPr wrap="square"/>
          <a:lstStyle/>
          <a:p>
            <a:pPr algn="l"/>
            <a:r>
              <a:rPr sz="1400" b="0">
                <a:solidFill>
                  <a:srgbClr val="666666"/>
                </a:solidFill>
                <a:latin typeface="Yu Gothic"/>
              </a:rPr>
              <a:t>Bubbleマッチングアプリ開発事例12選 | アプリ開発研究所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822960"/>
          </a:xfrm>
          <a:prstGeom prst="rect">
            <a:avLst/>
          </a:prstGeom>
          <a:noFill/>
        </p:spPr>
        <p:txBody>
          <a:bodyPr wrap="square"/>
          <a:lstStyle/>
          <a:p>
            <a:pPr algn="ctr"/>
            <a:r>
              <a:rPr sz="2800" b="1">
                <a:solidFill>
                  <a:srgbClr val="FFFFFF"/>
                </a:solidFill>
                <a:latin typeface="Yu Gothic"/>
              </a:rPr>
              <a:t>01</a:t>
            </a:r>
          </a:p>
        </p:txBody>
      </p:sp>
      <p:sp>
        <p:nvSpPr>
          <p:cNvPr id="5" name="TextBox 4"/>
          <p:cNvSpPr txBox="1"/>
          <p:nvPr/>
        </p:nvSpPr>
        <p:spPr>
          <a:xfrm>
            <a:off x="1645920" y="228600"/>
            <a:ext cx="9144000" cy="731520"/>
          </a:xfrm>
          <a:prstGeom prst="rect">
            <a:avLst/>
          </a:prstGeom>
          <a:noFill/>
        </p:spPr>
        <p:txBody>
          <a:bodyPr wrap="square"/>
          <a:lstStyle/>
          <a:p>
            <a:pPr algn="l"/>
            <a:r>
              <a:rPr sz="2400" b="1">
                <a:solidFill>
                  <a:srgbClr val="FFFFFF"/>
                </a:solidFill>
                <a:latin typeface="Yu Gothic"/>
              </a:rPr>
              <a:t>④CircleHome — 家を交換するマッチングアプリ</a:t>
            </a:r>
          </a:p>
        </p:txBody>
      </p:sp>
      <p:sp>
        <p:nvSpPr>
          <p:cNvPr id="6" name="TextBox 5"/>
          <p:cNvSpPr txBox="1"/>
          <p:nvPr/>
        </p:nvSpPr>
        <p:spPr>
          <a:xfrm>
            <a:off x="731520" y="1371600"/>
            <a:ext cx="10515600" cy="731520"/>
          </a:xfrm>
          <a:prstGeom prst="rect">
            <a:avLst/>
          </a:prstGeom>
          <a:noFill/>
        </p:spPr>
        <p:txBody>
          <a:bodyPr wrap="square"/>
          <a:lstStyle/>
          <a:p>
            <a:pPr algn="l"/>
            <a:r>
              <a:rPr sz="2000" b="0">
                <a:solidFill>
                  <a:srgbClr val="333333"/>
                </a:solidFill>
                <a:latin typeface="Yu Gothic"/>
              </a:rPr>
              <a:t>旅行者同士が互いの家を交換する宿泊費無料のサービス</a:t>
            </a:r>
          </a:p>
        </p:txBody>
      </p:sp>
      <p:sp>
        <p:nvSpPr>
          <p:cNvPr id="7" name="Rectangle 6"/>
          <p:cNvSpPr/>
          <p:nvPr/>
        </p:nvSpPr>
        <p:spPr>
          <a:xfrm>
            <a:off x="7315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06040"/>
            <a:ext cx="4754880" cy="411480"/>
          </a:xfrm>
          <a:prstGeom prst="rect">
            <a:avLst/>
          </a:prstGeom>
          <a:noFill/>
        </p:spPr>
        <p:txBody>
          <a:bodyPr wrap="square"/>
          <a:lstStyle/>
          <a:p>
            <a:pPr algn="l"/>
            <a:r>
              <a:rPr sz="1800" b="1">
                <a:solidFill>
                  <a:srgbClr val="FFFFFF"/>
                </a:solidFill>
                <a:latin typeface="Yu Gothic"/>
              </a:rPr>
              <a:t>実績</a:t>
            </a:r>
          </a:p>
        </p:txBody>
      </p:sp>
      <p:sp>
        <p:nvSpPr>
          <p:cNvPr id="10" name="TextBox 9"/>
          <p:cNvSpPr txBox="1"/>
          <p:nvPr/>
        </p:nvSpPr>
        <p:spPr>
          <a:xfrm>
            <a:off x="868680" y="3108960"/>
            <a:ext cx="4754880" cy="2606040"/>
          </a:xfrm>
          <a:prstGeom prst="rect">
            <a:avLst/>
          </a:prstGeom>
          <a:noFill/>
        </p:spPr>
        <p:txBody>
          <a:bodyPr wrap="square"/>
          <a:lstStyle/>
          <a:p>
            <a:pPr algn="l"/>
            <a:r>
              <a:rPr sz="1600" b="0">
                <a:solidFill>
                  <a:srgbClr val="333333"/>
                </a:solidFill>
                <a:latin typeface="Yu Gothic"/>
              </a:rPr>
              <a:t>・Bubbleで約4ヶ月で開発</a:t>
            </a:r>
          </a:p>
          <a:p>
            <a:pPr algn="l"/>
            <a:r>
              <a:rPr sz="1600" b="0">
                <a:solidFill>
                  <a:srgbClr val="333333"/>
                </a:solidFill>
                <a:latin typeface="Yu Gothic"/>
              </a:rPr>
              <a:t>・12万ユーロの資金調達に成功</a:t>
            </a:r>
          </a:p>
          <a:p>
            <a:pPr algn="l"/>
            <a:r>
              <a:rPr sz="1600" b="0">
                <a:solidFill>
                  <a:srgbClr val="333333"/>
                </a:solidFill>
                <a:latin typeface="Yu Gothic"/>
              </a:rPr>
              <a:t>・数ヶ月で10か国以上に展開</a:t>
            </a:r>
          </a:p>
          <a:p>
            <a:pPr algn="l"/>
            <a:r>
              <a:rPr sz="1600" b="0">
                <a:solidFill>
                  <a:srgbClr val="333333"/>
                </a:solidFill>
                <a:latin typeface="Yu Gothic"/>
              </a:rPr>
              <a:t>・ユーザー数6万人超</a:t>
            </a:r>
          </a:p>
        </p:txBody>
      </p:sp>
      <p:sp>
        <p:nvSpPr>
          <p:cNvPr id="11" name="Rectangle 10"/>
          <p:cNvSpPr/>
          <p:nvPr/>
        </p:nvSpPr>
        <p:spPr>
          <a:xfrm>
            <a:off x="62179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06040"/>
            <a:ext cx="4754880" cy="411480"/>
          </a:xfrm>
          <a:prstGeom prst="rect">
            <a:avLst/>
          </a:prstGeom>
          <a:noFill/>
        </p:spPr>
        <p:txBody>
          <a:bodyPr wrap="square"/>
          <a:lstStyle/>
          <a:p>
            <a:pPr algn="l"/>
            <a:r>
              <a:rPr sz="1800" b="1">
                <a:solidFill>
                  <a:srgbClr val="FFFFFF"/>
                </a:solidFill>
                <a:latin typeface="Yu Gothic"/>
              </a:rPr>
              <a:t>ポイント</a:t>
            </a:r>
          </a:p>
        </p:txBody>
      </p:sp>
      <p:sp>
        <p:nvSpPr>
          <p:cNvPr id="14" name="TextBox 13"/>
          <p:cNvSpPr txBox="1"/>
          <p:nvPr/>
        </p:nvSpPr>
        <p:spPr>
          <a:xfrm>
            <a:off x="6355080" y="3108960"/>
            <a:ext cx="4754880" cy="2606040"/>
          </a:xfrm>
          <a:prstGeom prst="rect">
            <a:avLst/>
          </a:prstGeom>
          <a:noFill/>
        </p:spPr>
        <p:txBody>
          <a:bodyPr wrap="square"/>
          <a:lstStyle/>
          <a:p>
            <a:pPr algn="l"/>
            <a:r>
              <a:rPr sz="1600" b="0">
                <a:solidFill>
                  <a:srgbClr val="333333"/>
                </a:solidFill>
                <a:latin typeface="Yu Gothic"/>
              </a:rPr>
              <a:t>・Airbnbの住宅交換版</a:t>
            </a:r>
          </a:p>
          <a:p>
            <a:pPr algn="l"/>
            <a:r>
              <a:rPr sz="1600" b="0">
                <a:solidFill>
                  <a:srgbClr val="333333"/>
                </a:solidFill>
                <a:latin typeface="Yu Gothic"/>
              </a:rPr>
              <a:t>・「BubbleはバックエンドとDBも</a:t>
            </a:r>
          </a:p>
          <a:p>
            <a:pPr algn="l"/>
            <a:r>
              <a:rPr sz="1600" b="0">
                <a:solidFill>
                  <a:srgbClr val="333333"/>
                </a:solidFill>
                <a:latin typeface="Yu Gothic"/>
              </a:rPr>
              <a:t>  兼ねたプラットフォーム」</a:t>
            </a:r>
          </a:p>
        </p:txBody>
      </p:sp>
      <p:sp>
        <p:nvSpPr>
          <p:cNvPr id="15" name="Rectangle 14"/>
          <p:cNvSpPr/>
          <p:nvPr/>
        </p:nvSpPr>
        <p:spPr>
          <a:xfrm>
            <a:off x="0" y="6400800"/>
            <a:ext cx="12191695" cy="45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46520"/>
            <a:ext cx="10972800" cy="365760"/>
          </a:xfrm>
          <a:prstGeom prst="rect">
            <a:avLst/>
          </a:prstGeom>
          <a:noFill/>
        </p:spPr>
        <p:txBody>
          <a:bodyPr wrap="square"/>
          <a:lstStyle/>
          <a:p>
            <a:pPr algn="l"/>
            <a:r>
              <a:rPr sz="1400" b="0">
                <a:solidFill>
                  <a:srgbClr val="666666"/>
                </a:solidFill>
                <a:latin typeface="Yu Gothic"/>
              </a:rPr>
              <a:t>Bubbleマッチングアプリ開発事例12選 | アプリ開発研究所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822960"/>
          </a:xfrm>
          <a:prstGeom prst="rect">
            <a:avLst/>
          </a:prstGeom>
          <a:noFill/>
        </p:spPr>
        <p:txBody>
          <a:bodyPr wrap="square"/>
          <a:lstStyle/>
          <a:p>
            <a:pPr algn="ctr"/>
            <a:r>
              <a:rPr sz="2800" b="1">
                <a:solidFill>
                  <a:srgbClr val="FFFFFF"/>
                </a:solidFill>
                <a:latin typeface="Yu Gothic"/>
              </a:rPr>
              <a:t>01</a:t>
            </a:r>
          </a:p>
        </p:txBody>
      </p:sp>
      <p:sp>
        <p:nvSpPr>
          <p:cNvPr id="5" name="TextBox 4"/>
          <p:cNvSpPr txBox="1"/>
          <p:nvPr/>
        </p:nvSpPr>
        <p:spPr>
          <a:xfrm>
            <a:off x="1645920" y="228600"/>
            <a:ext cx="9144000" cy="731520"/>
          </a:xfrm>
          <a:prstGeom prst="rect">
            <a:avLst/>
          </a:prstGeom>
          <a:noFill/>
        </p:spPr>
        <p:txBody>
          <a:bodyPr wrap="square"/>
          <a:lstStyle/>
          <a:p>
            <a:pPr algn="l"/>
            <a:r>
              <a:rPr sz="2400" b="1">
                <a:solidFill>
                  <a:srgbClr val="FFFFFF"/>
                </a:solidFill>
                <a:latin typeface="Yu Gothic"/>
              </a:rPr>
              <a:t>⑤SymTurns — 二拠点生活者のマッチングアプリ</a:t>
            </a:r>
          </a:p>
        </p:txBody>
      </p:sp>
      <p:sp>
        <p:nvSpPr>
          <p:cNvPr id="6" name="TextBox 5"/>
          <p:cNvSpPr txBox="1"/>
          <p:nvPr/>
        </p:nvSpPr>
        <p:spPr>
          <a:xfrm>
            <a:off x="731520" y="1371600"/>
            <a:ext cx="10515600" cy="731520"/>
          </a:xfrm>
          <a:prstGeom prst="rect">
            <a:avLst/>
          </a:prstGeom>
          <a:noFill/>
        </p:spPr>
        <p:txBody>
          <a:bodyPr wrap="square"/>
          <a:lstStyle/>
          <a:p>
            <a:pPr algn="l"/>
            <a:r>
              <a:rPr sz="2000" b="0">
                <a:solidFill>
                  <a:srgbClr val="333333"/>
                </a:solidFill>
                <a:latin typeface="Yu Gothic"/>
              </a:rPr>
              <a:t>二拠点生活希望者がセカンドハウスを気軽に共有できるプラットフォーム</a:t>
            </a:r>
          </a:p>
        </p:txBody>
      </p:sp>
      <p:sp>
        <p:nvSpPr>
          <p:cNvPr id="7" name="Rectangle 6"/>
          <p:cNvSpPr/>
          <p:nvPr/>
        </p:nvSpPr>
        <p:spPr>
          <a:xfrm>
            <a:off x="7315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06040"/>
            <a:ext cx="4754880" cy="411480"/>
          </a:xfrm>
          <a:prstGeom prst="rect">
            <a:avLst/>
          </a:prstGeom>
          <a:noFill/>
        </p:spPr>
        <p:txBody>
          <a:bodyPr wrap="square"/>
          <a:lstStyle/>
          <a:p>
            <a:pPr algn="l"/>
            <a:r>
              <a:rPr sz="1800" b="1">
                <a:solidFill>
                  <a:srgbClr val="FFFFFF"/>
                </a:solidFill>
                <a:latin typeface="Yu Gothic"/>
              </a:rPr>
              <a:t>概要</a:t>
            </a:r>
          </a:p>
        </p:txBody>
      </p:sp>
      <p:sp>
        <p:nvSpPr>
          <p:cNvPr id="10" name="TextBox 9"/>
          <p:cNvSpPr txBox="1"/>
          <p:nvPr/>
        </p:nvSpPr>
        <p:spPr>
          <a:xfrm>
            <a:off x="868680" y="3108960"/>
            <a:ext cx="4754880" cy="2606040"/>
          </a:xfrm>
          <a:prstGeom prst="rect">
            <a:avLst/>
          </a:prstGeom>
          <a:noFill/>
        </p:spPr>
        <p:txBody>
          <a:bodyPr wrap="square"/>
          <a:lstStyle/>
          <a:p>
            <a:pPr algn="l"/>
            <a:r>
              <a:rPr sz="1600" b="0">
                <a:solidFill>
                  <a:srgbClr val="333333"/>
                </a:solidFill>
                <a:latin typeface="Yu Gothic"/>
              </a:rPr>
              <a:t>・所有や賃貸と比べて手軽に利用</a:t>
            </a:r>
          </a:p>
          <a:p>
            <a:pPr algn="l"/>
            <a:r>
              <a:rPr sz="1600" b="0">
                <a:solidFill>
                  <a:srgbClr val="333333"/>
                </a:solidFill>
                <a:latin typeface="Yu Gothic"/>
              </a:rPr>
              <a:t>・弊社Walkersが開発を担当</a:t>
            </a:r>
          </a:p>
          <a:p>
            <a:pPr algn="l"/>
            <a:r>
              <a:rPr sz="1600" b="0">
                <a:solidFill>
                  <a:srgbClr val="333333"/>
                </a:solidFill>
                <a:latin typeface="Yu Gothic"/>
              </a:rPr>
              <a:t>・LINE連携で簡単操作を実現</a:t>
            </a:r>
          </a:p>
        </p:txBody>
      </p:sp>
      <p:sp>
        <p:nvSpPr>
          <p:cNvPr id="11" name="Rectangle 10"/>
          <p:cNvSpPr/>
          <p:nvPr/>
        </p:nvSpPr>
        <p:spPr>
          <a:xfrm>
            <a:off x="62179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06040"/>
            <a:ext cx="4754880" cy="411480"/>
          </a:xfrm>
          <a:prstGeom prst="rect">
            <a:avLst/>
          </a:prstGeom>
          <a:noFill/>
        </p:spPr>
        <p:txBody>
          <a:bodyPr wrap="square"/>
          <a:lstStyle/>
          <a:p>
            <a:pPr algn="l"/>
            <a:r>
              <a:rPr sz="1800" b="1">
                <a:solidFill>
                  <a:srgbClr val="FFFFFF"/>
                </a:solidFill>
                <a:latin typeface="Yu Gothic"/>
              </a:rPr>
              <a:t>ポイント</a:t>
            </a:r>
          </a:p>
        </p:txBody>
      </p:sp>
      <p:sp>
        <p:nvSpPr>
          <p:cNvPr id="14" name="TextBox 13"/>
          <p:cNvSpPr txBox="1"/>
          <p:nvPr/>
        </p:nvSpPr>
        <p:spPr>
          <a:xfrm>
            <a:off x="6355080" y="3108960"/>
            <a:ext cx="4754880" cy="2606040"/>
          </a:xfrm>
          <a:prstGeom prst="rect">
            <a:avLst/>
          </a:prstGeom>
          <a:noFill/>
        </p:spPr>
        <p:txBody>
          <a:bodyPr wrap="square"/>
          <a:lstStyle/>
          <a:p>
            <a:pPr algn="l"/>
            <a:r>
              <a:rPr sz="1600" b="0">
                <a:solidFill>
                  <a:srgbClr val="333333"/>
                </a:solidFill>
                <a:latin typeface="Yu Gothic"/>
              </a:rPr>
              <a:t>・スマートフォンからの簡単操作</a:t>
            </a:r>
          </a:p>
          <a:p>
            <a:pPr algn="l"/>
            <a:r>
              <a:rPr sz="1600" b="0">
                <a:solidFill>
                  <a:srgbClr val="333333"/>
                </a:solidFill>
                <a:latin typeface="Yu Gothic"/>
              </a:rPr>
              <a:t>・外部サービス（LINE）連携</a:t>
            </a:r>
          </a:p>
          <a:p>
            <a:pPr algn="l"/>
            <a:r>
              <a:rPr sz="1600" b="0">
                <a:solidFill>
                  <a:srgbClr val="333333"/>
                </a:solidFill>
                <a:latin typeface="Yu Gothic"/>
              </a:rPr>
              <a:t>・Walkers開発実績</a:t>
            </a:r>
          </a:p>
        </p:txBody>
      </p:sp>
      <p:sp>
        <p:nvSpPr>
          <p:cNvPr id="15" name="Rectangle 14"/>
          <p:cNvSpPr/>
          <p:nvPr/>
        </p:nvSpPr>
        <p:spPr>
          <a:xfrm>
            <a:off x="0" y="6400800"/>
            <a:ext cx="12191695" cy="45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46520"/>
            <a:ext cx="10972800" cy="365760"/>
          </a:xfrm>
          <a:prstGeom prst="rect">
            <a:avLst/>
          </a:prstGeom>
          <a:noFill/>
        </p:spPr>
        <p:txBody>
          <a:bodyPr wrap="square"/>
          <a:lstStyle/>
          <a:p>
            <a:pPr algn="l"/>
            <a:r>
              <a:rPr sz="1400" b="0">
                <a:solidFill>
                  <a:srgbClr val="666666"/>
                </a:solidFill>
                <a:latin typeface="Yu Gothic"/>
              </a:rPr>
              <a:t>Bubbleマッチングアプリ開発事例12選 | アプリ開発研究所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822960"/>
          </a:xfrm>
          <a:prstGeom prst="rect">
            <a:avLst/>
          </a:prstGeom>
          <a:noFill/>
        </p:spPr>
        <p:txBody>
          <a:bodyPr wrap="square"/>
          <a:lstStyle/>
          <a:p>
            <a:pPr algn="ctr"/>
            <a:r>
              <a:rPr sz="2800" b="1">
                <a:solidFill>
                  <a:srgbClr val="FFFFFF"/>
                </a:solidFill>
                <a:latin typeface="Yu Gothic"/>
              </a:rPr>
              <a:t>01</a:t>
            </a:r>
          </a:p>
        </p:txBody>
      </p:sp>
      <p:sp>
        <p:nvSpPr>
          <p:cNvPr id="5" name="TextBox 4"/>
          <p:cNvSpPr txBox="1"/>
          <p:nvPr/>
        </p:nvSpPr>
        <p:spPr>
          <a:xfrm>
            <a:off x="1645920" y="228600"/>
            <a:ext cx="9144000" cy="731520"/>
          </a:xfrm>
          <a:prstGeom prst="rect">
            <a:avLst/>
          </a:prstGeom>
          <a:noFill/>
        </p:spPr>
        <p:txBody>
          <a:bodyPr wrap="square"/>
          <a:lstStyle/>
          <a:p>
            <a:pPr algn="l"/>
            <a:r>
              <a:rPr sz="2400" b="1">
                <a:solidFill>
                  <a:srgbClr val="FFFFFF"/>
                </a:solidFill>
                <a:latin typeface="Yu Gothic"/>
              </a:rPr>
              <a:t>⑥Reachr — インフルエンサーマッチングアプリ</a:t>
            </a:r>
          </a:p>
        </p:txBody>
      </p:sp>
      <p:sp>
        <p:nvSpPr>
          <p:cNvPr id="6" name="TextBox 5"/>
          <p:cNvSpPr txBox="1"/>
          <p:nvPr/>
        </p:nvSpPr>
        <p:spPr>
          <a:xfrm>
            <a:off x="731520" y="1371600"/>
            <a:ext cx="10515600" cy="731520"/>
          </a:xfrm>
          <a:prstGeom prst="rect">
            <a:avLst/>
          </a:prstGeom>
          <a:noFill/>
        </p:spPr>
        <p:txBody>
          <a:bodyPr wrap="square"/>
          <a:lstStyle/>
          <a:p>
            <a:pPr algn="l"/>
            <a:r>
              <a:rPr sz="2000" b="0">
                <a:solidFill>
                  <a:srgbClr val="333333"/>
                </a:solidFill>
                <a:latin typeface="Yu Gothic"/>
              </a:rPr>
              <a:t>インフルエンサーとブランド企業をつなぐマーケティングプラットフォーム</a:t>
            </a:r>
          </a:p>
        </p:txBody>
      </p:sp>
      <p:sp>
        <p:nvSpPr>
          <p:cNvPr id="7" name="Rectangle 6"/>
          <p:cNvSpPr/>
          <p:nvPr/>
        </p:nvSpPr>
        <p:spPr>
          <a:xfrm>
            <a:off x="7315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06040"/>
            <a:ext cx="4754880" cy="411480"/>
          </a:xfrm>
          <a:prstGeom prst="rect">
            <a:avLst/>
          </a:prstGeom>
          <a:noFill/>
        </p:spPr>
        <p:txBody>
          <a:bodyPr wrap="square"/>
          <a:lstStyle/>
          <a:p>
            <a:pPr algn="l"/>
            <a:r>
              <a:rPr sz="1800" b="1">
                <a:solidFill>
                  <a:srgbClr val="FFFFFF"/>
                </a:solidFill>
                <a:latin typeface="Yu Gothic"/>
              </a:rPr>
              <a:t>実績</a:t>
            </a:r>
          </a:p>
        </p:txBody>
      </p:sp>
      <p:sp>
        <p:nvSpPr>
          <p:cNvPr id="10" name="TextBox 9"/>
          <p:cNvSpPr txBox="1"/>
          <p:nvPr/>
        </p:nvSpPr>
        <p:spPr>
          <a:xfrm>
            <a:off x="868680" y="3108960"/>
            <a:ext cx="4754880" cy="2606040"/>
          </a:xfrm>
          <a:prstGeom prst="rect">
            <a:avLst/>
          </a:prstGeom>
          <a:noFill/>
        </p:spPr>
        <p:txBody>
          <a:bodyPr wrap="square"/>
          <a:lstStyle/>
          <a:p>
            <a:pPr algn="l"/>
            <a:r>
              <a:rPr sz="1600" b="0">
                <a:solidFill>
                  <a:srgbClr val="333333"/>
                </a:solidFill>
                <a:latin typeface="Yu Gothic"/>
              </a:rPr>
              <a:t>・Bubbleで約3ヶ月で開発</a:t>
            </a:r>
          </a:p>
          <a:p>
            <a:pPr algn="l"/>
            <a:r>
              <a:rPr sz="1600" b="0">
                <a:solidFill>
                  <a:srgbClr val="333333"/>
                </a:solidFill>
                <a:latin typeface="Yu Gothic"/>
              </a:rPr>
              <a:t>・運営開始2〜3ヶ月で収益化</a:t>
            </a:r>
          </a:p>
          <a:p>
            <a:pPr algn="l"/>
            <a:r>
              <a:rPr sz="1600" b="0">
                <a:solidFill>
                  <a:srgbClr val="333333"/>
                </a:solidFill>
                <a:latin typeface="Yu Gothic"/>
              </a:rPr>
              <a:t>・全世界で2,000人以上がマッチング</a:t>
            </a:r>
          </a:p>
        </p:txBody>
      </p:sp>
      <p:sp>
        <p:nvSpPr>
          <p:cNvPr id="11" name="Rectangle 10"/>
          <p:cNvSpPr/>
          <p:nvPr/>
        </p:nvSpPr>
        <p:spPr>
          <a:xfrm>
            <a:off x="62179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06040"/>
            <a:ext cx="4754880" cy="411480"/>
          </a:xfrm>
          <a:prstGeom prst="rect">
            <a:avLst/>
          </a:prstGeom>
          <a:noFill/>
        </p:spPr>
        <p:txBody>
          <a:bodyPr wrap="square"/>
          <a:lstStyle/>
          <a:p>
            <a:pPr algn="l"/>
            <a:r>
              <a:rPr sz="1800" b="1">
                <a:solidFill>
                  <a:srgbClr val="FFFFFF"/>
                </a:solidFill>
                <a:latin typeface="Yu Gothic"/>
              </a:rPr>
              <a:t>ポイント</a:t>
            </a:r>
          </a:p>
        </p:txBody>
      </p:sp>
      <p:sp>
        <p:nvSpPr>
          <p:cNvPr id="14" name="TextBox 13"/>
          <p:cNvSpPr txBox="1"/>
          <p:nvPr/>
        </p:nvSpPr>
        <p:spPr>
          <a:xfrm>
            <a:off x="6355080" y="3108960"/>
            <a:ext cx="4754880" cy="2606040"/>
          </a:xfrm>
          <a:prstGeom prst="rect">
            <a:avLst/>
          </a:prstGeom>
          <a:noFill/>
        </p:spPr>
        <p:txBody>
          <a:bodyPr wrap="square"/>
          <a:lstStyle/>
          <a:p>
            <a:pPr algn="l"/>
            <a:r>
              <a:rPr sz="1600" b="0">
                <a:solidFill>
                  <a:srgbClr val="333333"/>
                </a:solidFill>
                <a:latin typeface="Yu Gothic"/>
              </a:rPr>
              <a:t>・コミュニケーション・資金管理・</a:t>
            </a:r>
          </a:p>
          <a:p>
            <a:pPr algn="l"/>
            <a:r>
              <a:rPr sz="1600" b="0">
                <a:solidFill>
                  <a:srgbClr val="333333"/>
                </a:solidFill>
                <a:latin typeface="Yu Gothic"/>
              </a:rPr>
              <a:t>  分析・レポートを一括提供</a:t>
            </a:r>
          </a:p>
          <a:p>
            <a:pPr algn="l"/>
            <a:r>
              <a:rPr sz="1600" b="0">
                <a:solidFill>
                  <a:srgbClr val="333333"/>
                </a:solidFill>
                <a:latin typeface="Yu Gothic"/>
              </a:rPr>
              <a:t>・機能の広さ・柔軟性・</a:t>
            </a:r>
          </a:p>
          <a:p>
            <a:pPr algn="l"/>
            <a:r>
              <a:rPr sz="1600" b="0">
                <a:solidFill>
                  <a:srgbClr val="333333"/>
                </a:solidFill>
                <a:latin typeface="Yu Gothic"/>
              </a:rPr>
              <a:t>  デバッグの容易さが決め手</a:t>
            </a:r>
          </a:p>
        </p:txBody>
      </p:sp>
      <p:sp>
        <p:nvSpPr>
          <p:cNvPr id="15" name="Rectangle 14"/>
          <p:cNvSpPr/>
          <p:nvPr/>
        </p:nvSpPr>
        <p:spPr>
          <a:xfrm>
            <a:off x="0" y="6400800"/>
            <a:ext cx="12191695" cy="45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46520"/>
            <a:ext cx="10972800" cy="365760"/>
          </a:xfrm>
          <a:prstGeom prst="rect">
            <a:avLst/>
          </a:prstGeom>
          <a:noFill/>
        </p:spPr>
        <p:txBody>
          <a:bodyPr wrap="square"/>
          <a:lstStyle/>
          <a:p>
            <a:pPr algn="l"/>
            <a:r>
              <a:rPr sz="1400" b="0">
                <a:solidFill>
                  <a:srgbClr val="666666"/>
                </a:solidFill>
                <a:latin typeface="Yu Gothic"/>
              </a:rPr>
              <a:t>Bubbleマッチングアプリ開発事例12選 | アプリ開発研究所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822960"/>
          </a:xfrm>
          <a:prstGeom prst="rect">
            <a:avLst/>
          </a:prstGeom>
          <a:noFill/>
        </p:spPr>
        <p:txBody>
          <a:bodyPr wrap="square"/>
          <a:lstStyle/>
          <a:p>
            <a:pPr algn="ctr"/>
            <a:r>
              <a:rPr sz="2800" b="1">
                <a:solidFill>
                  <a:srgbClr val="FFFFFF"/>
                </a:solidFill>
                <a:latin typeface="Yu Gothic"/>
              </a:rPr>
              <a:t>01</a:t>
            </a:r>
          </a:p>
        </p:txBody>
      </p:sp>
      <p:sp>
        <p:nvSpPr>
          <p:cNvPr id="5" name="TextBox 4"/>
          <p:cNvSpPr txBox="1"/>
          <p:nvPr/>
        </p:nvSpPr>
        <p:spPr>
          <a:xfrm>
            <a:off x="1645920" y="228600"/>
            <a:ext cx="9144000" cy="731520"/>
          </a:xfrm>
          <a:prstGeom prst="rect">
            <a:avLst/>
          </a:prstGeom>
          <a:noFill/>
        </p:spPr>
        <p:txBody>
          <a:bodyPr wrap="square"/>
          <a:lstStyle/>
          <a:p>
            <a:pPr algn="l"/>
            <a:r>
              <a:rPr sz="2400" b="1">
                <a:solidFill>
                  <a:srgbClr val="FFFFFF"/>
                </a:solidFill>
                <a:latin typeface="Yu Gothic"/>
              </a:rPr>
              <a:t>⑦Codemap — ノーコードエンジニアのマッチング</a:t>
            </a:r>
          </a:p>
        </p:txBody>
      </p:sp>
      <p:sp>
        <p:nvSpPr>
          <p:cNvPr id="6" name="TextBox 5"/>
          <p:cNvSpPr txBox="1"/>
          <p:nvPr/>
        </p:nvSpPr>
        <p:spPr>
          <a:xfrm>
            <a:off x="731520" y="1371600"/>
            <a:ext cx="10515600" cy="731520"/>
          </a:xfrm>
          <a:prstGeom prst="rect">
            <a:avLst/>
          </a:prstGeom>
          <a:noFill/>
        </p:spPr>
        <p:txBody>
          <a:bodyPr wrap="square"/>
          <a:lstStyle/>
          <a:p>
            <a:pPr algn="l"/>
            <a:r>
              <a:rPr sz="2000" b="0">
                <a:solidFill>
                  <a:srgbClr val="333333"/>
                </a:solidFill>
                <a:latin typeface="Yu Gothic"/>
              </a:rPr>
              <a:t>世界初のノーコード専門人材プラットフォーム</a:t>
            </a:r>
          </a:p>
        </p:txBody>
      </p:sp>
      <p:sp>
        <p:nvSpPr>
          <p:cNvPr id="7" name="Rectangle 6"/>
          <p:cNvSpPr/>
          <p:nvPr/>
        </p:nvSpPr>
        <p:spPr>
          <a:xfrm>
            <a:off x="7315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06040"/>
            <a:ext cx="4754880" cy="411480"/>
          </a:xfrm>
          <a:prstGeom prst="rect">
            <a:avLst/>
          </a:prstGeom>
          <a:noFill/>
        </p:spPr>
        <p:txBody>
          <a:bodyPr wrap="square"/>
          <a:lstStyle/>
          <a:p>
            <a:pPr algn="l"/>
            <a:r>
              <a:rPr sz="1800" b="1">
                <a:solidFill>
                  <a:srgbClr val="FFFFFF"/>
                </a:solidFill>
                <a:latin typeface="Yu Gothic"/>
              </a:rPr>
              <a:t>実績</a:t>
            </a:r>
          </a:p>
        </p:txBody>
      </p:sp>
      <p:sp>
        <p:nvSpPr>
          <p:cNvPr id="10" name="TextBox 9"/>
          <p:cNvSpPr txBox="1"/>
          <p:nvPr/>
        </p:nvSpPr>
        <p:spPr>
          <a:xfrm>
            <a:off x="868680" y="3108960"/>
            <a:ext cx="4754880" cy="2606040"/>
          </a:xfrm>
          <a:prstGeom prst="rect">
            <a:avLst/>
          </a:prstGeom>
          <a:noFill/>
        </p:spPr>
        <p:txBody>
          <a:bodyPr wrap="square"/>
          <a:lstStyle/>
          <a:p>
            <a:pPr algn="l"/>
            <a:r>
              <a:rPr sz="1600" b="0">
                <a:solidFill>
                  <a:srgbClr val="333333"/>
                </a:solidFill>
                <a:latin typeface="Yu Gothic"/>
              </a:rPr>
              <a:t>・Bubbleで約3ヶ月で開発</a:t>
            </a:r>
          </a:p>
          <a:p>
            <a:pPr algn="l"/>
            <a:r>
              <a:rPr sz="1600" b="0">
                <a:solidFill>
                  <a:srgbClr val="333333"/>
                </a:solidFill>
                <a:latin typeface="Yu Gothic"/>
              </a:rPr>
              <a:t>・4,500社以上のクライアント</a:t>
            </a:r>
          </a:p>
          <a:p>
            <a:pPr algn="l"/>
            <a:r>
              <a:rPr sz="1600" b="0">
                <a:solidFill>
                  <a:srgbClr val="333333"/>
                </a:solidFill>
                <a:latin typeface="Yu Gothic"/>
              </a:rPr>
              <a:t>・18,000件以上のマッチング実現</a:t>
            </a:r>
          </a:p>
        </p:txBody>
      </p:sp>
      <p:sp>
        <p:nvSpPr>
          <p:cNvPr id="11" name="Rectangle 10"/>
          <p:cNvSpPr/>
          <p:nvPr/>
        </p:nvSpPr>
        <p:spPr>
          <a:xfrm>
            <a:off x="62179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06040"/>
            <a:ext cx="4754880" cy="411480"/>
          </a:xfrm>
          <a:prstGeom prst="rect">
            <a:avLst/>
          </a:prstGeom>
          <a:noFill/>
        </p:spPr>
        <p:txBody>
          <a:bodyPr wrap="square"/>
          <a:lstStyle/>
          <a:p>
            <a:pPr algn="l"/>
            <a:r>
              <a:rPr sz="1800" b="1">
                <a:solidFill>
                  <a:srgbClr val="FFFFFF"/>
                </a:solidFill>
                <a:latin typeface="Yu Gothic"/>
              </a:rPr>
              <a:t>ポイント</a:t>
            </a:r>
          </a:p>
        </p:txBody>
      </p:sp>
      <p:sp>
        <p:nvSpPr>
          <p:cNvPr id="14" name="TextBox 13"/>
          <p:cNvSpPr txBox="1"/>
          <p:nvPr/>
        </p:nvSpPr>
        <p:spPr>
          <a:xfrm>
            <a:off x="6355080" y="3108960"/>
            <a:ext cx="4754880" cy="2606040"/>
          </a:xfrm>
          <a:prstGeom prst="rect">
            <a:avLst/>
          </a:prstGeom>
          <a:noFill/>
        </p:spPr>
        <p:txBody>
          <a:bodyPr wrap="square"/>
          <a:lstStyle/>
          <a:p>
            <a:pPr algn="l"/>
            <a:r>
              <a:rPr sz="1600" b="0">
                <a:solidFill>
                  <a:srgbClr val="333333"/>
                </a:solidFill>
                <a:latin typeface="Yu Gothic"/>
              </a:rPr>
              <a:t>・世界初のノーコード専門</a:t>
            </a:r>
          </a:p>
          <a:p>
            <a:pPr algn="l"/>
            <a:r>
              <a:rPr sz="1600" b="0">
                <a:solidFill>
                  <a:srgbClr val="333333"/>
                </a:solidFill>
                <a:latin typeface="Yu Gothic"/>
              </a:rPr>
              <a:t>  人材マッチング</a:t>
            </a:r>
          </a:p>
          <a:p>
            <a:pPr algn="l"/>
            <a:r>
              <a:rPr sz="1600" b="0">
                <a:solidFill>
                  <a:srgbClr val="333333"/>
                </a:solidFill>
                <a:latin typeface="Yu Gothic"/>
              </a:rPr>
              <a:t>・短期間で大規模プラットフォーム構築</a:t>
            </a:r>
          </a:p>
        </p:txBody>
      </p:sp>
      <p:sp>
        <p:nvSpPr>
          <p:cNvPr id="15" name="Rectangle 14"/>
          <p:cNvSpPr/>
          <p:nvPr/>
        </p:nvSpPr>
        <p:spPr>
          <a:xfrm>
            <a:off x="0" y="6400800"/>
            <a:ext cx="12191695" cy="45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46520"/>
            <a:ext cx="10972800" cy="365760"/>
          </a:xfrm>
          <a:prstGeom prst="rect">
            <a:avLst/>
          </a:prstGeom>
          <a:noFill/>
        </p:spPr>
        <p:txBody>
          <a:bodyPr wrap="square"/>
          <a:lstStyle/>
          <a:p>
            <a:pPr algn="l"/>
            <a:r>
              <a:rPr sz="1400" b="0">
                <a:solidFill>
                  <a:srgbClr val="666666"/>
                </a:solidFill>
                <a:latin typeface="Yu Gothic"/>
              </a:rPr>
              <a:t>Bubbleマッチングアプリ開発事例12選 | アプリ開発研究所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822960"/>
          </a:xfrm>
          <a:prstGeom prst="rect">
            <a:avLst/>
          </a:prstGeom>
          <a:noFill/>
        </p:spPr>
        <p:txBody>
          <a:bodyPr wrap="square"/>
          <a:lstStyle/>
          <a:p>
            <a:pPr algn="ctr"/>
            <a:r>
              <a:rPr sz="2800" b="1">
                <a:solidFill>
                  <a:srgbClr val="FFFFFF"/>
                </a:solidFill>
                <a:latin typeface="Yu Gothic"/>
              </a:rPr>
              <a:t>01</a:t>
            </a:r>
          </a:p>
        </p:txBody>
      </p:sp>
      <p:sp>
        <p:nvSpPr>
          <p:cNvPr id="5" name="TextBox 4"/>
          <p:cNvSpPr txBox="1"/>
          <p:nvPr/>
        </p:nvSpPr>
        <p:spPr>
          <a:xfrm>
            <a:off x="1645920" y="228600"/>
            <a:ext cx="9144000" cy="731520"/>
          </a:xfrm>
          <a:prstGeom prst="rect">
            <a:avLst/>
          </a:prstGeom>
          <a:noFill/>
        </p:spPr>
        <p:txBody>
          <a:bodyPr wrap="square"/>
          <a:lstStyle/>
          <a:p>
            <a:pPr algn="l"/>
            <a:r>
              <a:rPr sz="2400" b="1">
                <a:solidFill>
                  <a:srgbClr val="FFFFFF"/>
                </a:solidFill>
                <a:latin typeface="Yu Gothic"/>
              </a:rPr>
              <a:t>⑧Escape the City — エキスパート転職マッチング</a:t>
            </a:r>
          </a:p>
        </p:txBody>
      </p:sp>
      <p:sp>
        <p:nvSpPr>
          <p:cNvPr id="6" name="TextBox 5"/>
          <p:cNvSpPr txBox="1"/>
          <p:nvPr/>
        </p:nvSpPr>
        <p:spPr>
          <a:xfrm>
            <a:off x="731520" y="1371600"/>
            <a:ext cx="10515600" cy="731520"/>
          </a:xfrm>
          <a:prstGeom prst="rect">
            <a:avLst/>
          </a:prstGeom>
          <a:noFill/>
        </p:spPr>
        <p:txBody>
          <a:bodyPr wrap="square"/>
          <a:lstStyle/>
          <a:p>
            <a:pPr algn="l"/>
            <a:r>
              <a:rPr sz="2000" b="0">
                <a:solidFill>
                  <a:srgbClr val="333333"/>
                </a:solidFill>
                <a:latin typeface="Yu Gothic"/>
              </a:rPr>
              <a:t>特定の専門分野のエキスパート向け転職アプリ</a:t>
            </a:r>
          </a:p>
        </p:txBody>
      </p:sp>
      <p:sp>
        <p:nvSpPr>
          <p:cNvPr id="7" name="Rectangle 6"/>
          <p:cNvSpPr/>
          <p:nvPr/>
        </p:nvSpPr>
        <p:spPr>
          <a:xfrm>
            <a:off x="7315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06040"/>
            <a:ext cx="4754880" cy="411480"/>
          </a:xfrm>
          <a:prstGeom prst="rect">
            <a:avLst/>
          </a:prstGeom>
          <a:noFill/>
        </p:spPr>
        <p:txBody>
          <a:bodyPr wrap="square"/>
          <a:lstStyle/>
          <a:p>
            <a:pPr algn="l"/>
            <a:r>
              <a:rPr sz="1800" b="1">
                <a:solidFill>
                  <a:srgbClr val="FFFFFF"/>
                </a:solidFill>
                <a:latin typeface="Yu Gothic"/>
              </a:rPr>
              <a:t>実績</a:t>
            </a:r>
          </a:p>
        </p:txBody>
      </p:sp>
      <p:sp>
        <p:nvSpPr>
          <p:cNvPr id="10" name="TextBox 9"/>
          <p:cNvSpPr txBox="1"/>
          <p:nvPr/>
        </p:nvSpPr>
        <p:spPr>
          <a:xfrm>
            <a:off x="868680" y="3108960"/>
            <a:ext cx="4754880" cy="2606040"/>
          </a:xfrm>
          <a:prstGeom prst="rect">
            <a:avLst/>
          </a:prstGeom>
          <a:noFill/>
        </p:spPr>
        <p:txBody>
          <a:bodyPr wrap="square"/>
          <a:lstStyle/>
          <a:p>
            <a:pPr algn="l"/>
            <a:r>
              <a:rPr sz="1600" b="0">
                <a:solidFill>
                  <a:srgbClr val="333333"/>
                </a:solidFill>
                <a:latin typeface="Yu Gothic"/>
              </a:rPr>
              <a:t>・発売後数週間で1,500社以上と提携</a:t>
            </a:r>
          </a:p>
          <a:p>
            <a:pPr algn="l"/>
            <a:r>
              <a:rPr sz="1600" b="0">
                <a:solidFill>
                  <a:srgbClr val="333333"/>
                </a:solidFill>
                <a:latin typeface="Yu Gothic"/>
              </a:rPr>
              <a:t>・月間PVが1万→3万超に成長</a:t>
            </a:r>
          </a:p>
        </p:txBody>
      </p:sp>
      <p:sp>
        <p:nvSpPr>
          <p:cNvPr id="11" name="Rectangle 10"/>
          <p:cNvSpPr/>
          <p:nvPr/>
        </p:nvSpPr>
        <p:spPr>
          <a:xfrm>
            <a:off x="62179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06040"/>
            <a:ext cx="4754880" cy="411480"/>
          </a:xfrm>
          <a:prstGeom prst="rect">
            <a:avLst/>
          </a:prstGeom>
          <a:noFill/>
        </p:spPr>
        <p:txBody>
          <a:bodyPr wrap="square"/>
          <a:lstStyle/>
          <a:p>
            <a:pPr algn="l"/>
            <a:r>
              <a:rPr sz="1800" b="1">
                <a:solidFill>
                  <a:srgbClr val="FFFFFF"/>
                </a:solidFill>
                <a:latin typeface="Yu Gothic"/>
              </a:rPr>
              <a:t>ポイント</a:t>
            </a:r>
          </a:p>
        </p:txBody>
      </p:sp>
      <p:sp>
        <p:nvSpPr>
          <p:cNvPr id="14" name="TextBox 13"/>
          <p:cNvSpPr txBox="1"/>
          <p:nvPr/>
        </p:nvSpPr>
        <p:spPr>
          <a:xfrm>
            <a:off x="6355080" y="3108960"/>
            <a:ext cx="4754880" cy="2606040"/>
          </a:xfrm>
          <a:prstGeom prst="rect">
            <a:avLst/>
          </a:prstGeom>
          <a:noFill/>
        </p:spPr>
        <p:txBody>
          <a:bodyPr wrap="square"/>
          <a:lstStyle/>
          <a:p>
            <a:pPr algn="l"/>
            <a:r>
              <a:rPr sz="1600" b="0">
                <a:solidFill>
                  <a:srgbClr val="333333"/>
                </a:solidFill>
                <a:latin typeface="Yu Gothic"/>
              </a:rPr>
              <a:t>・専門分野特化型の転職マッチング</a:t>
            </a:r>
          </a:p>
          <a:p>
            <a:pPr algn="l"/>
            <a:r>
              <a:rPr sz="1600" b="0">
                <a:solidFill>
                  <a:srgbClr val="333333"/>
                </a:solidFill>
                <a:latin typeface="Yu Gothic"/>
              </a:rPr>
              <a:t>・着実な事業拡大を実現</a:t>
            </a:r>
          </a:p>
        </p:txBody>
      </p:sp>
      <p:sp>
        <p:nvSpPr>
          <p:cNvPr id="15" name="Rectangle 14"/>
          <p:cNvSpPr/>
          <p:nvPr/>
        </p:nvSpPr>
        <p:spPr>
          <a:xfrm>
            <a:off x="0" y="6400800"/>
            <a:ext cx="12191695" cy="45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46520"/>
            <a:ext cx="10972800" cy="365760"/>
          </a:xfrm>
          <a:prstGeom prst="rect">
            <a:avLst/>
          </a:prstGeom>
          <a:noFill/>
        </p:spPr>
        <p:txBody>
          <a:bodyPr wrap="square"/>
          <a:lstStyle/>
          <a:p>
            <a:pPr algn="l"/>
            <a:r>
              <a:rPr sz="1400" b="0">
                <a:solidFill>
                  <a:srgbClr val="666666"/>
                </a:solidFill>
                <a:latin typeface="Yu Gothic"/>
              </a:rPr>
              <a:t>Bubbleマッチングアプリ開発事例12選 | アプリ開発研究所</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822960"/>
          </a:xfrm>
          <a:prstGeom prst="rect">
            <a:avLst/>
          </a:prstGeom>
          <a:noFill/>
        </p:spPr>
        <p:txBody>
          <a:bodyPr wrap="square"/>
          <a:lstStyle/>
          <a:p>
            <a:pPr algn="ctr"/>
            <a:r>
              <a:rPr sz="2800" b="1">
                <a:solidFill>
                  <a:srgbClr val="FFFFFF"/>
                </a:solidFill>
                <a:latin typeface="Yu Gothic"/>
              </a:rPr>
              <a:t>01</a:t>
            </a:r>
          </a:p>
        </p:txBody>
      </p:sp>
      <p:sp>
        <p:nvSpPr>
          <p:cNvPr id="5" name="TextBox 4"/>
          <p:cNvSpPr txBox="1"/>
          <p:nvPr/>
        </p:nvSpPr>
        <p:spPr>
          <a:xfrm>
            <a:off x="1645920" y="228600"/>
            <a:ext cx="9144000" cy="731520"/>
          </a:xfrm>
          <a:prstGeom prst="rect">
            <a:avLst/>
          </a:prstGeom>
          <a:noFill/>
        </p:spPr>
        <p:txBody>
          <a:bodyPr wrap="square"/>
          <a:lstStyle/>
          <a:p>
            <a:pPr algn="l"/>
            <a:r>
              <a:rPr sz="2400" b="1">
                <a:solidFill>
                  <a:srgbClr val="FFFFFF"/>
                </a:solidFill>
                <a:latin typeface="Yu Gothic"/>
              </a:rPr>
              <a:t>⑨Kappa TrainUp — フィットネスマッチングアプリ</a:t>
            </a:r>
          </a:p>
        </p:txBody>
      </p:sp>
      <p:sp>
        <p:nvSpPr>
          <p:cNvPr id="6" name="TextBox 5"/>
          <p:cNvSpPr txBox="1"/>
          <p:nvPr/>
        </p:nvSpPr>
        <p:spPr>
          <a:xfrm>
            <a:off x="731520" y="1371600"/>
            <a:ext cx="10515600" cy="731520"/>
          </a:xfrm>
          <a:prstGeom prst="rect">
            <a:avLst/>
          </a:prstGeom>
          <a:noFill/>
        </p:spPr>
        <p:txBody>
          <a:bodyPr wrap="square"/>
          <a:lstStyle/>
          <a:p>
            <a:pPr algn="l"/>
            <a:r>
              <a:rPr sz="2000" b="0">
                <a:solidFill>
                  <a:srgbClr val="333333"/>
                </a:solidFill>
                <a:latin typeface="Yu Gothic"/>
              </a:rPr>
              <a:t>コロナ禍で開発されたフィットネスマッチングサービス</a:t>
            </a:r>
          </a:p>
        </p:txBody>
      </p:sp>
      <p:sp>
        <p:nvSpPr>
          <p:cNvPr id="7" name="Rectangle 6"/>
          <p:cNvSpPr/>
          <p:nvPr/>
        </p:nvSpPr>
        <p:spPr>
          <a:xfrm>
            <a:off x="7315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06040"/>
            <a:ext cx="4754880" cy="411480"/>
          </a:xfrm>
          <a:prstGeom prst="rect">
            <a:avLst/>
          </a:prstGeom>
          <a:noFill/>
        </p:spPr>
        <p:txBody>
          <a:bodyPr wrap="square"/>
          <a:lstStyle/>
          <a:p>
            <a:pPr algn="l"/>
            <a:r>
              <a:rPr sz="1800" b="1">
                <a:solidFill>
                  <a:srgbClr val="FFFFFF"/>
                </a:solidFill>
                <a:latin typeface="Yu Gothic"/>
              </a:rPr>
              <a:t>実績</a:t>
            </a:r>
          </a:p>
        </p:txBody>
      </p:sp>
      <p:sp>
        <p:nvSpPr>
          <p:cNvPr id="10" name="TextBox 9"/>
          <p:cNvSpPr txBox="1"/>
          <p:nvPr/>
        </p:nvSpPr>
        <p:spPr>
          <a:xfrm>
            <a:off x="868680" y="3108960"/>
            <a:ext cx="4754880" cy="2606040"/>
          </a:xfrm>
          <a:prstGeom prst="rect">
            <a:avLst/>
          </a:prstGeom>
          <a:noFill/>
        </p:spPr>
        <p:txBody>
          <a:bodyPr wrap="square"/>
          <a:lstStyle/>
          <a:p>
            <a:pPr algn="l"/>
            <a:r>
              <a:rPr sz="1600" b="0">
                <a:solidFill>
                  <a:srgbClr val="333333"/>
                </a:solidFill>
                <a:latin typeface="Yu Gothic"/>
              </a:rPr>
              <a:t>・数週間で1,800人以上の</a:t>
            </a:r>
          </a:p>
          <a:p>
            <a:pPr algn="l"/>
            <a:r>
              <a:rPr sz="1600" b="0">
                <a:solidFill>
                  <a:srgbClr val="333333"/>
                </a:solidFill>
                <a:latin typeface="Yu Gothic"/>
              </a:rPr>
              <a:t>  トレーナー登録</a:t>
            </a:r>
          </a:p>
          <a:p>
            <a:pPr algn="l"/>
            <a:r>
              <a:rPr sz="1600" b="0">
                <a:solidFill>
                  <a:srgbClr val="333333"/>
                </a:solidFill>
                <a:latin typeface="Yu Gothic"/>
              </a:rPr>
              <a:t>・毎日約28,000人のユーザー獲得</a:t>
            </a:r>
          </a:p>
        </p:txBody>
      </p:sp>
      <p:sp>
        <p:nvSpPr>
          <p:cNvPr id="11" name="Rectangle 10"/>
          <p:cNvSpPr/>
          <p:nvPr/>
        </p:nvSpPr>
        <p:spPr>
          <a:xfrm>
            <a:off x="62179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06040"/>
            <a:ext cx="4754880" cy="411480"/>
          </a:xfrm>
          <a:prstGeom prst="rect">
            <a:avLst/>
          </a:prstGeom>
          <a:noFill/>
        </p:spPr>
        <p:txBody>
          <a:bodyPr wrap="square"/>
          <a:lstStyle/>
          <a:p>
            <a:pPr algn="l"/>
            <a:r>
              <a:rPr sz="1800" b="1">
                <a:solidFill>
                  <a:srgbClr val="FFFFFF"/>
                </a:solidFill>
                <a:latin typeface="Yu Gothic"/>
              </a:rPr>
              <a:t>ポイント</a:t>
            </a:r>
          </a:p>
        </p:txBody>
      </p:sp>
      <p:sp>
        <p:nvSpPr>
          <p:cNvPr id="14" name="TextBox 13"/>
          <p:cNvSpPr txBox="1"/>
          <p:nvPr/>
        </p:nvSpPr>
        <p:spPr>
          <a:xfrm>
            <a:off x="6355080" y="3108960"/>
            <a:ext cx="4754880" cy="2606040"/>
          </a:xfrm>
          <a:prstGeom prst="rect">
            <a:avLst/>
          </a:prstGeom>
          <a:noFill/>
        </p:spPr>
        <p:txBody>
          <a:bodyPr wrap="square"/>
          <a:lstStyle/>
          <a:p>
            <a:pPr algn="l"/>
            <a:r>
              <a:rPr sz="1600" b="0">
                <a:solidFill>
                  <a:srgbClr val="333333"/>
                </a:solidFill>
                <a:latin typeface="Yu Gothic"/>
              </a:rPr>
              <a:t>・ジム閉鎖の中で何百人もの人々が</a:t>
            </a:r>
          </a:p>
          <a:p>
            <a:pPr algn="l"/>
            <a:r>
              <a:rPr sz="1600" b="0">
                <a:solidFill>
                  <a:srgbClr val="333333"/>
                </a:solidFill>
                <a:latin typeface="Yu Gothic"/>
              </a:rPr>
              <a:t>  生計を立て続けるのを支援</a:t>
            </a:r>
          </a:p>
          <a:p>
            <a:pPr algn="l"/>
            <a:r>
              <a:rPr sz="1600" b="0">
                <a:solidFill>
                  <a:srgbClr val="333333"/>
                </a:solidFill>
                <a:latin typeface="Yu Gothic"/>
              </a:rPr>
              <a:t>・ノーコードで社会課題に迅速対応</a:t>
            </a:r>
          </a:p>
        </p:txBody>
      </p:sp>
      <p:sp>
        <p:nvSpPr>
          <p:cNvPr id="15" name="Rectangle 14"/>
          <p:cNvSpPr/>
          <p:nvPr/>
        </p:nvSpPr>
        <p:spPr>
          <a:xfrm>
            <a:off x="0" y="6400800"/>
            <a:ext cx="12191695" cy="45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46520"/>
            <a:ext cx="10972800" cy="365760"/>
          </a:xfrm>
          <a:prstGeom prst="rect">
            <a:avLst/>
          </a:prstGeom>
          <a:noFill/>
        </p:spPr>
        <p:txBody>
          <a:bodyPr wrap="square"/>
          <a:lstStyle/>
          <a:p>
            <a:pPr algn="l"/>
            <a:r>
              <a:rPr sz="1400" b="0">
                <a:solidFill>
                  <a:srgbClr val="666666"/>
                </a:solidFill>
                <a:latin typeface="Yu Gothic"/>
              </a:rPr>
              <a:t>Bubbleマッチングアプリ開発事例12選 | アプリ開発研究所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822960"/>
          </a:xfrm>
          <a:prstGeom prst="rect">
            <a:avLst/>
          </a:prstGeom>
          <a:noFill/>
        </p:spPr>
        <p:txBody>
          <a:bodyPr wrap="square"/>
          <a:lstStyle/>
          <a:p>
            <a:pPr algn="ctr"/>
            <a:r>
              <a:rPr sz="2800" b="1">
                <a:solidFill>
                  <a:srgbClr val="FFFFFF"/>
                </a:solidFill>
                <a:latin typeface="Yu Gothic"/>
              </a:rPr>
              <a:t>01</a:t>
            </a:r>
          </a:p>
        </p:txBody>
      </p:sp>
      <p:sp>
        <p:nvSpPr>
          <p:cNvPr id="5" name="TextBox 4"/>
          <p:cNvSpPr txBox="1"/>
          <p:nvPr/>
        </p:nvSpPr>
        <p:spPr>
          <a:xfrm>
            <a:off x="1645920" y="228600"/>
            <a:ext cx="9144000" cy="731520"/>
          </a:xfrm>
          <a:prstGeom prst="rect">
            <a:avLst/>
          </a:prstGeom>
          <a:noFill/>
        </p:spPr>
        <p:txBody>
          <a:bodyPr wrap="square"/>
          <a:lstStyle/>
          <a:p>
            <a:pPr algn="l"/>
            <a:r>
              <a:rPr sz="2400" b="1">
                <a:solidFill>
                  <a:srgbClr val="FFFFFF"/>
                </a:solidFill>
                <a:latin typeface="Yu Gothic"/>
              </a:rPr>
              <a:t>⑩Comet — ITフリーランスマッチングアプリ</a:t>
            </a:r>
          </a:p>
        </p:txBody>
      </p:sp>
      <p:sp>
        <p:nvSpPr>
          <p:cNvPr id="6" name="TextBox 5"/>
          <p:cNvSpPr txBox="1"/>
          <p:nvPr/>
        </p:nvSpPr>
        <p:spPr>
          <a:xfrm>
            <a:off x="731520" y="1371600"/>
            <a:ext cx="10515600" cy="731520"/>
          </a:xfrm>
          <a:prstGeom prst="rect">
            <a:avLst/>
          </a:prstGeom>
          <a:noFill/>
        </p:spPr>
        <p:txBody>
          <a:bodyPr wrap="square"/>
          <a:lstStyle/>
          <a:p>
            <a:pPr algn="l"/>
            <a:r>
              <a:rPr sz="2000" b="0">
                <a:solidFill>
                  <a:srgbClr val="333333"/>
                </a:solidFill>
                <a:latin typeface="Yu Gothic"/>
              </a:rPr>
              <a:t>AIが48時間以内にフリーランスを自動マッチング</a:t>
            </a:r>
          </a:p>
        </p:txBody>
      </p:sp>
      <p:sp>
        <p:nvSpPr>
          <p:cNvPr id="7" name="Rectangle 6"/>
          <p:cNvSpPr/>
          <p:nvPr/>
        </p:nvSpPr>
        <p:spPr>
          <a:xfrm>
            <a:off x="7315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06040"/>
            <a:ext cx="4754880" cy="411480"/>
          </a:xfrm>
          <a:prstGeom prst="rect">
            <a:avLst/>
          </a:prstGeom>
          <a:noFill/>
        </p:spPr>
        <p:txBody>
          <a:bodyPr wrap="square"/>
          <a:lstStyle/>
          <a:p>
            <a:pPr algn="l"/>
            <a:r>
              <a:rPr sz="1800" b="1">
                <a:solidFill>
                  <a:srgbClr val="FFFFFF"/>
                </a:solidFill>
                <a:latin typeface="Yu Gothic"/>
              </a:rPr>
              <a:t>実績</a:t>
            </a:r>
          </a:p>
        </p:txBody>
      </p:sp>
      <p:sp>
        <p:nvSpPr>
          <p:cNvPr id="10" name="TextBox 9"/>
          <p:cNvSpPr txBox="1"/>
          <p:nvPr/>
        </p:nvSpPr>
        <p:spPr>
          <a:xfrm>
            <a:off x="868680" y="3108960"/>
            <a:ext cx="4754880" cy="2606040"/>
          </a:xfrm>
          <a:prstGeom prst="rect">
            <a:avLst/>
          </a:prstGeom>
          <a:noFill/>
        </p:spPr>
        <p:txBody>
          <a:bodyPr wrap="square"/>
          <a:lstStyle/>
          <a:p>
            <a:pPr algn="l"/>
            <a:r>
              <a:rPr sz="1600" b="0">
                <a:solidFill>
                  <a:srgbClr val="333333"/>
                </a:solidFill>
                <a:latin typeface="Yu Gothic"/>
              </a:rPr>
              <a:t>・5年以上にわたり運営</a:t>
            </a:r>
          </a:p>
          <a:p>
            <a:pPr algn="l"/>
            <a:r>
              <a:rPr sz="1600" b="0">
                <a:solidFill>
                  <a:srgbClr val="333333"/>
                </a:solidFill>
                <a:latin typeface="Yu Gothic"/>
              </a:rPr>
              <a:t>・登録フリーランス15,000人超</a:t>
            </a:r>
          </a:p>
          <a:p>
            <a:pPr algn="l"/>
            <a:r>
              <a:rPr sz="1600" b="0">
                <a:solidFill>
                  <a:srgbClr val="333333"/>
                </a:solidFill>
                <a:latin typeface="Yu Gothic"/>
              </a:rPr>
              <a:t>・世界中1,000社以上のクライアント</a:t>
            </a:r>
          </a:p>
        </p:txBody>
      </p:sp>
      <p:sp>
        <p:nvSpPr>
          <p:cNvPr id="11" name="Rectangle 10"/>
          <p:cNvSpPr/>
          <p:nvPr/>
        </p:nvSpPr>
        <p:spPr>
          <a:xfrm>
            <a:off x="62179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06040"/>
            <a:ext cx="4754880" cy="411480"/>
          </a:xfrm>
          <a:prstGeom prst="rect">
            <a:avLst/>
          </a:prstGeom>
          <a:noFill/>
        </p:spPr>
        <p:txBody>
          <a:bodyPr wrap="square"/>
          <a:lstStyle/>
          <a:p>
            <a:pPr algn="l"/>
            <a:r>
              <a:rPr sz="1800" b="1">
                <a:solidFill>
                  <a:srgbClr val="FFFFFF"/>
                </a:solidFill>
                <a:latin typeface="Yu Gothic"/>
              </a:rPr>
              <a:t>ポイント</a:t>
            </a:r>
          </a:p>
        </p:txBody>
      </p:sp>
      <p:sp>
        <p:nvSpPr>
          <p:cNvPr id="14" name="TextBox 13"/>
          <p:cNvSpPr txBox="1"/>
          <p:nvPr/>
        </p:nvSpPr>
        <p:spPr>
          <a:xfrm>
            <a:off x="6355080" y="3108960"/>
            <a:ext cx="4754880" cy="2606040"/>
          </a:xfrm>
          <a:prstGeom prst="rect">
            <a:avLst/>
          </a:prstGeom>
          <a:noFill/>
        </p:spPr>
        <p:txBody>
          <a:bodyPr wrap="square"/>
          <a:lstStyle/>
          <a:p>
            <a:pPr algn="l"/>
            <a:r>
              <a:rPr sz="1600" b="0">
                <a:solidFill>
                  <a:srgbClr val="333333"/>
                </a:solidFill>
                <a:latin typeface="Yu Gothic"/>
              </a:rPr>
              <a:t>・AIによる48時間以内の</a:t>
            </a:r>
          </a:p>
          <a:p>
            <a:pPr algn="l"/>
            <a:r>
              <a:rPr sz="1600" b="0">
                <a:solidFill>
                  <a:srgbClr val="333333"/>
                </a:solidFill>
                <a:latin typeface="Yu Gothic"/>
              </a:rPr>
              <a:t>  自動マッチング</a:t>
            </a:r>
          </a:p>
          <a:p>
            <a:pPr algn="l"/>
            <a:r>
              <a:rPr sz="1600" b="0">
                <a:solidFill>
                  <a:srgbClr val="333333"/>
                </a:solidFill>
                <a:latin typeface="Yu Gothic"/>
              </a:rPr>
              <a:t>・長期安定運用の実績</a:t>
            </a:r>
          </a:p>
        </p:txBody>
      </p:sp>
      <p:sp>
        <p:nvSpPr>
          <p:cNvPr id="15" name="Rectangle 14"/>
          <p:cNvSpPr/>
          <p:nvPr/>
        </p:nvSpPr>
        <p:spPr>
          <a:xfrm>
            <a:off x="0" y="6400800"/>
            <a:ext cx="12191695" cy="45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46520"/>
            <a:ext cx="10972800" cy="365760"/>
          </a:xfrm>
          <a:prstGeom prst="rect">
            <a:avLst/>
          </a:prstGeom>
          <a:noFill/>
        </p:spPr>
        <p:txBody>
          <a:bodyPr wrap="square"/>
          <a:lstStyle/>
          <a:p>
            <a:pPr algn="l"/>
            <a:r>
              <a:rPr sz="1400" b="0">
                <a:solidFill>
                  <a:srgbClr val="666666"/>
                </a:solidFill>
                <a:latin typeface="Yu Gothic"/>
              </a:rPr>
              <a:t>Bubbleマッチングアプリ開発事例12選 | アプリ開発研究所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822960"/>
          </a:xfrm>
          <a:prstGeom prst="rect">
            <a:avLst/>
          </a:prstGeom>
          <a:noFill/>
        </p:spPr>
        <p:txBody>
          <a:bodyPr wrap="square"/>
          <a:lstStyle/>
          <a:p>
            <a:pPr algn="ctr"/>
            <a:r>
              <a:rPr sz="2800" b="1">
                <a:solidFill>
                  <a:srgbClr val="FFFFFF"/>
                </a:solidFill>
                <a:latin typeface="Yu Gothic"/>
              </a:rPr>
              <a:t>01</a:t>
            </a:r>
          </a:p>
        </p:txBody>
      </p:sp>
      <p:sp>
        <p:nvSpPr>
          <p:cNvPr id="5" name="TextBox 4"/>
          <p:cNvSpPr txBox="1"/>
          <p:nvPr/>
        </p:nvSpPr>
        <p:spPr>
          <a:xfrm>
            <a:off x="1645920" y="228600"/>
            <a:ext cx="9144000" cy="731520"/>
          </a:xfrm>
          <a:prstGeom prst="rect">
            <a:avLst/>
          </a:prstGeom>
          <a:noFill/>
        </p:spPr>
        <p:txBody>
          <a:bodyPr wrap="square"/>
          <a:lstStyle/>
          <a:p>
            <a:pPr algn="l"/>
            <a:r>
              <a:rPr sz="2400" b="1">
                <a:solidFill>
                  <a:srgbClr val="FFFFFF"/>
                </a:solidFill>
                <a:latin typeface="Yu Gothic"/>
              </a:rPr>
              <a:t>⑪Marlow — 専門家とスキル学習者のマッチング</a:t>
            </a:r>
          </a:p>
        </p:txBody>
      </p:sp>
      <p:sp>
        <p:nvSpPr>
          <p:cNvPr id="6" name="TextBox 5"/>
          <p:cNvSpPr txBox="1"/>
          <p:nvPr/>
        </p:nvSpPr>
        <p:spPr>
          <a:xfrm>
            <a:off x="731520" y="1371600"/>
            <a:ext cx="10515600" cy="731520"/>
          </a:xfrm>
          <a:prstGeom prst="rect">
            <a:avLst/>
          </a:prstGeom>
          <a:noFill/>
        </p:spPr>
        <p:txBody>
          <a:bodyPr wrap="square"/>
          <a:lstStyle/>
          <a:p>
            <a:pPr algn="l"/>
            <a:r>
              <a:rPr sz="2000" b="0">
                <a:solidFill>
                  <a:srgbClr val="333333"/>
                </a:solidFill>
                <a:latin typeface="Yu Gothic"/>
              </a:rPr>
              <a:t>スキルを持つ専門家とスキル向上を望む生徒を結びつけるアプリ</a:t>
            </a:r>
          </a:p>
        </p:txBody>
      </p:sp>
      <p:sp>
        <p:nvSpPr>
          <p:cNvPr id="7" name="Rectangle 6"/>
          <p:cNvSpPr/>
          <p:nvPr/>
        </p:nvSpPr>
        <p:spPr>
          <a:xfrm>
            <a:off x="7315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06040"/>
            <a:ext cx="4754880" cy="411480"/>
          </a:xfrm>
          <a:prstGeom prst="rect">
            <a:avLst/>
          </a:prstGeom>
          <a:noFill/>
        </p:spPr>
        <p:txBody>
          <a:bodyPr wrap="square"/>
          <a:lstStyle/>
          <a:p>
            <a:pPr algn="l"/>
            <a:r>
              <a:rPr sz="1800" b="1">
                <a:solidFill>
                  <a:srgbClr val="FFFFFF"/>
                </a:solidFill>
                <a:latin typeface="Yu Gothic"/>
              </a:rPr>
              <a:t>実績</a:t>
            </a:r>
          </a:p>
        </p:txBody>
      </p:sp>
      <p:sp>
        <p:nvSpPr>
          <p:cNvPr id="10" name="TextBox 9"/>
          <p:cNvSpPr txBox="1"/>
          <p:nvPr/>
        </p:nvSpPr>
        <p:spPr>
          <a:xfrm>
            <a:off x="868680" y="3108960"/>
            <a:ext cx="4754880" cy="2606040"/>
          </a:xfrm>
          <a:prstGeom prst="rect">
            <a:avLst/>
          </a:prstGeom>
          <a:noFill/>
        </p:spPr>
        <p:txBody>
          <a:bodyPr wrap="square"/>
          <a:lstStyle/>
          <a:p>
            <a:pPr algn="l"/>
            <a:r>
              <a:rPr sz="1600" b="0">
                <a:solidFill>
                  <a:srgbClr val="333333"/>
                </a:solidFill>
                <a:latin typeface="Yu Gothic"/>
              </a:rPr>
              <a:t>・Bubbleで約2ヶ月で開発</a:t>
            </a:r>
          </a:p>
          <a:p>
            <a:pPr algn="l"/>
            <a:r>
              <a:rPr sz="1600" b="0">
                <a:solidFill>
                  <a:srgbClr val="333333"/>
                </a:solidFill>
                <a:latin typeface="Yu Gothic"/>
              </a:rPr>
              <a:t>・国際的に展開中</a:t>
            </a:r>
          </a:p>
          <a:p>
            <a:pPr algn="l"/>
            <a:r>
              <a:rPr sz="1600" b="0">
                <a:solidFill>
                  <a:srgbClr val="333333"/>
                </a:solidFill>
                <a:latin typeface="Yu Gothic"/>
              </a:rPr>
              <a:t>・低コスト短期間で高機能アプリ実現</a:t>
            </a:r>
          </a:p>
        </p:txBody>
      </p:sp>
      <p:sp>
        <p:nvSpPr>
          <p:cNvPr id="11" name="Rectangle 10"/>
          <p:cNvSpPr/>
          <p:nvPr/>
        </p:nvSpPr>
        <p:spPr>
          <a:xfrm>
            <a:off x="62179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06040"/>
            <a:ext cx="4754880" cy="411480"/>
          </a:xfrm>
          <a:prstGeom prst="rect">
            <a:avLst/>
          </a:prstGeom>
          <a:noFill/>
        </p:spPr>
        <p:txBody>
          <a:bodyPr wrap="square"/>
          <a:lstStyle/>
          <a:p>
            <a:pPr algn="l"/>
            <a:r>
              <a:rPr sz="1800" b="1">
                <a:solidFill>
                  <a:srgbClr val="FFFFFF"/>
                </a:solidFill>
                <a:latin typeface="Yu Gothic"/>
              </a:rPr>
              <a:t>ポイント</a:t>
            </a:r>
          </a:p>
        </p:txBody>
      </p:sp>
      <p:sp>
        <p:nvSpPr>
          <p:cNvPr id="14" name="TextBox 13"/>
          <p:cNvSpPr txBox="1"/>
          <p:nvPr/>
        </p:nvSpPr>
        <p:spPr>
          <a:xfrm>
            <a:off x="6355080" y="3108960"/>
            <a:ext cx="4754880" cy="2606040"/>
          </a:xfrm>
          <a:prstGeom prst="rect">
            <a:avLst/>
          </a:prstGeom>
          <a:noFill/>
        </p:spPr>
        <p:txBody>
          <a:bodyPr wrap="square"/>
          <a:lstStyle/>
          <a:p>
            <a:pPr algn="l"/>
            <a:r>
              <a:rPr sz="1600" b="0">
                <a:solidFill>
                  <a:srgbClr val="333333"/>
                </a:solidFill>
                <a:latin typeface="Yu Gothic"/>
              </a:rPr>
              <a:t>・創業時にたった4ヶ月分の貯金</a:t>
            </a:r>
          </a:p>
          <a:p>
            <a:pPr algn="l"/>
            <a:r>
              <a:rPr sz="1600" b="0">
                <a:solidFill>
                  <a:srgbClr val="333333"/>
                </a:solidFill>
                <a:latin typeface="Yu Gothic"/>
              </a:rPr>
              <a:t>・低予算でも高品質なアプリ開発</a:t>
            </a:r>
          </a:p>
          <a:p>
            <a:pPr algn="l"/>
            <a:r>
              <a:rPr sz="1600" b="0">
                <a:solidFill>
                  <a:srgbClr val="333333"/>
                </a:solidFill>
                <a:latin typeface="Yu Gothic"/>
              </a:rPr>
              <a:t>  が可能な証明</a:t>
            </a:r>
          </a:p>
        </p:txBody>
      </p:sp>
      <p:sp>
        <p:nvSpPr>
          <p:cNvPr id="15" name="Rectangle 14"/>
          <p:cNvSpPr/>
          <p:nvPr/>
        </p:nvSpPr>
        <p:spPr>
          <a:xfrm>
            <a:off x="0" y="6400800"/>
            <a:ext cx="12191695" cy="45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46520"/>
            <a:ext cx="10972800" cy="365760"/>
          </a:xfrm>
          <a:prstGeom prst="rect">
            <a:avLst/>
          </a:prstGeom>
          <a:noFill/>
        </p:spPr>
        <p:txBody>
          <a:bodyPr wrap="square"/>
          <a:lstStyle/>
          <a:p>
            <a:pPr algn="l"/>
            <a:r>
              <a:rPr sz="1400" b="0">
                <a:solidFill>
                  <a:srgbClr val="666666"/>
                </a:solidFill>
                <a:latin typeface="Yu Gothic"/>
              </a:rPr>
              <a:t>Bubbleマッチングアプリ開発事例12選 | アプリ開発研究所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822960"/>
          </a:xfrm>
          <a:prstGeom prst="rect">
            <a:avLst/>
          </a:prstGeom>
          <a:noFill/>
        </p:spPr>
        <p:txBody>
          <a:bodyPr wrap="square"/>
          <a:lstStyle/>
          <a:p>
            <a:pPr algn="ctr"/>
            <a:r>
              <a:rPr sz="2800" b="1">
                <a:solidFill>
                  <a:srgbClr val="FFFFFF"/>
                </a:solidFill>
                <a:latin typeface="Yu Gothic"/>
              </a:rPr>
              <a:t>01</a:t>
            </a:r>
          </a:p>
        </p:txBody>
      </p:sp>
      <p:sp>
        <p:nvSpPr>
          <p:cNvPr id="5" name="TextBox 4"/>
          <p:cNvSpPr txBox="1"/>
          <p:nvPr/>
        </p:nvSpPr>
        <p:spPr>
          <a:xfrm>
            <a:off x="1645920" y="228600"/>
            <a:ext cx="9144000" cy="731520"/>
          </a:xfrm>
          <a:prstGeom prst="rect">
            <a:avLst/>
          </a:prstGeom>
          <a:noFill/>
        </p:spPr>
        <p:txBody>
          <a:bodyPr wrap="square"/>
          <a:lstStyle/>
          <a:p>
            <a:pPr algn="l"/>
            <a:r>
              <a:rPr sz="2400" b="1">
                <a:solidFill>
                  <a:srgbClr val="FFFFFF"/>
                </a:solidFill>
                <a:latin typeface="Yu Gothic"/>
              </a:rPr>
              <a:t>⑫ABABA — 最終面接通過の就活生マッチング</a:t>
            </a:r>
          </a:p>
        </p:txBody>
      </p:sp>
      <p:sp>
        <p:nvSpPr>
          <p:cNvPr id="6" name="TextBox 5"/>
          <p:cNvSpPr txBox="1"/>
          <p:nvPr/>
        </p:nvSpPr>
        <p:spPr>
          <a:xfrm>
            <a:off x="731520" y="1371600"/>
            <a:ext cx="10515600" cy="731520"/>
          </a:xfrm>
          <a:prstGeom prst="rect">
            <a:avLst/>
          </a:prstGeom>
          <a:noFill/>
        </p:spPr>
        <p:txBody>
          <a:bodyPr wrap="square"/>
          <a:lstStyle/>
          <a:p>
            <a:pPr algn="l"/>
            <a:r>
              <a:rPr sz="2000" b="0">
                <a:solidFill>
                  <a:srgbClr val="333333"/>
                </a:solidFill>
                <a:latin typeface="Yu Gothic"/>
              </a:rPr>
              <a:t>最終面接に到達した就活生と企業を結びつける革新的なサービス</a:t>
            </a:r>
          </a:p>
        </p:txBody>
      </p:sp>
      <p:sp>
        <p:nvSpPr>
          <p:cNvPr id="7" name="Rectangle 6"/>
          <p:cNvSpPr/>
          <p:nvPr/>
        </p:nvSpPr>
        <p:spPr>
          <a:xfrm>
            <a:off x="7315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06040"/>
            <a:ext cx="4754880" cy="411480"/>
          </a:xfrm>
          <a:prstGeom prst="rect">
            <a:avLst/>
          </a:prstGeom>
          <a:noFill/>
        </p:spPr>
        <p:txBody>
          <a:bodyPr wrap="square"/>
          <a:lstStyle/>
          <a:p>
            <a:pPr algn="l"/>
            <a:r>
              <a:rPr sz="1800" b="1">
                <a:solidFill>
                  <a:srgbClr val="FFFFFF"/>
                </a:solidFill>
                <a:latin typeface="Yu Gothic"/>
              </a:rPr>
              <a:t>実績</a:t>
            </a:r>
          </a:p>
        </p:txBody>
      </p:sp>
      <p:sp>
        <p:nvSpPr>
          <p:cNvPr id="10" name="TextBox 9"/>
          <p:cNvSpPr txBox="1"/>
          <p:nvPr/>
        </p:nvSpPr>
        <p:spPr>
          <a:xfrm>
            <a:off x="868680" y="3108960"/>
            <a:ext cx="4754880" cy="2606040"/>
          </a:xfrm>
          <a:prstGeom prst="rect">
            <a:avLst/>
          </a:prstGeom>
          <a:noFill/>
        </p:spPr>
        <p:txBody>
          <a:bodyPr wrap="square"/>
          <a:lstStyle/>
          <a:p>
            <a:pPr algn="l"/>
            <a:r>
              <a:rPr sz="1600" b="0">
                <a:solidFill>
                  <a:srgbClr val="333333"/>
                </a:solidFill>
                <a:latin typeface="Yu Gothic"/>
              </a:rPr>
              <a:t>・Bubbleで約4ヶ月で開発</a:t>
            </a:r>
          </a:p>
          <a:p>
            <a:pPr algn="l"/>
            <a:r>
              <a:rPr sz="1600" b="0">
                <a:solidFill>
                  <a:srgbClr val="333333"/>
                </a:solidFill>
                <a:latin typeface="Yu Gothic"/>
              </a:rPr>
              <a:t>・累計資金調達額4.5億円</a:t>
            </a:r>
          </a:p>
          <a:p>
            <a:pPr algn="l"/>
            <a:r>
              <a:rPr sz="1600" b="0">
                <a:solidFill>
                  <a:srgbClr val="333333"/>
                </a:solidFill>
                <a:latin typeface="Yu Gothic"/>
              </a:rPr>
              <a:t>・日本発ノーコードスタートアップ</a:t>
            </a:r>
          </a:p>
          <a:p>
            <a:pPr algn="l"/>
            <a:r>
              <a:rPr sz="1600" b="0">
                <a:solidFill>
                  <a:srgbClr val="333333"/>
                </a:solidFill>
                <a:latin typeface="Yu Gothic"/>
              </a:rPr>
              <a:t>  の成功例として注目</a:t>
            </a:r>
          </a:p>
        </p:txBody>
      </p:sp>
      <p:sp>
        <p:nvSpPr>
          <p:cNvPr id="11" name="Rectangle 10"/>
          <p:cNvSpPr/>
          <p:nvPr/>
        </p:nvSpPr>
        <p:spPr>
          <a:xfrm>
            <a:off x="62179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06040"/>
            <a:ext cx="4754880" cy="411480"/>
          </a:xfrm>
          <a:prstGeom prst="rect">
            <a:avLst/>
          </a:prstGeom>
          <a:noFill/>
        </p:spPr>
        <p:txBody>
          <a:bodyPr wrap="square"/>
          <a:lstStyle/>
          <a:p>
            <a:pPr algn="l"/>
            <a:r>
              <a:rPr sz="1800" b="1">
                <a:solidFill>
                  <a:srgbClr val="FFFFFF"/>
                </a:solidFill>
                <a:latin typeface="Yu Gothic"/>
              </a:rPr>
              <a:t>ポイント</a:t>
            </a:r>
          </a:p>
        </p:txBody>
      </p:sp>
      <p:sp>
        <p:nvSpPr>
          <p:cNvPr id="14" name="TextBox 13"/>
          <p:cNvSpPr txBox="1"/>
          <p:nvPr/>
        </p:nvSpPr>
        <p:spPr>
          <a:xfrm>
            <a:off x="6355080" y="3108960"/>
            <a:ext cx="4754880" cy="2606040"/>
          </a:xfrm>
          <a:prstGeom prst="rect">
            <a:avLst/>
          </a:prstGeom>
          <a:noFill/>
        </p:spPr>
        <p:txBody>
          <a:bodyPr wrap="square"/>
          <a:lstStyle/>
          <a:p>
            <a:pPr algn="l"/>
            <a:r>
              <a:rPr sz="1600" b="0">
                <a:solidFill>
                  <a:srgbClr val="333333"/>
                </a:solidFill>
                <a:latin typeface="Yu Gothic"/>
              </a:rPr>
              <a:t>・学生の努力が無駄にならない</a:t>
            </a:r>
          </a:p>
          <a:p>
            <a:pPr algn="l"/>
            <a:r>
              <a:rPr sz="1600" b="0">
                <a:solidFill>
                  <a:srgbClr val="333333"/>
                </a:solidFill>
                <a:latin typeface="Yu Gothic"/>
              </a:rPr>
              <a:t>・企業は優秀な候補者に</a:t>
            </a:r>
          </a:p>
          <a:p>
            <a:pPr algn="l"/>
            <a:r>
              <a:rPr sz="1600" b="0">
                <a:solidFill>
                  <a:srgbClr val="333333"/>
                </a:solidFill>
                <a:latin typeface="Yu Gothic"/>
              </a:rPr>
              <a:t>  効率的にアクセス</a:t>
            </a:r>
          </a:p>
        </p:txBody>
      </p:sp>
      <p:sp>
        <p:nvSpPr>
          <p:cNvPr id="15" name="Rectangle 14"/>
          <p:cNvSpPr/>
          <p:nvPr/>
        </p:nvSpPr>
        <p:spPr>
          <a:xfrm>
            <a:off x="0" y="6400800"/>
            <a:ext cx="12191695" cy="45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46520"/>
            <a:ext cx="10972800" cy="365760"/>
          </a:xfrm>
          <a:prstGeom prst="rect">
            <a:avLst/>
          </a:prstGeom>
          <a:noFill/>
        </p:spPr>
        <p:txBody>
          <a:bodyPr wrap="square"/>
          <a:lstStyle/>
          <a:p>
            <a:pPr algn="l"/>
            <a:r>
              <a:rPr sz="1400" b="0">
                <a:solidFill>
                  <a:srgbClr val="666666"/>
                </a:solidFill>
                <a:latin typeface="Yu Gothic"/>
              </a:rPr>
              <a:t>Bubbleマッチングアプリ開発事例12選 | アプリ開発研究所</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2743200"/>
            <a:ext cx="3047695" cy="54864"/>
          </a:xfrm>
          <a:prstGeom prst="rect">
            <a:avLst/>
          </a:prstGeom>
          <a:solidFill>
            <a:srgbClr val="E98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828800"/>
            <a:ext cx="12191695" cy="914400"/>
          </a:xfrm>
          <a:prstGeom prst="rect">
            <a:avLst/>
          </a:prstGeom>
          <a:noFill/>
        </p:spPr>
        <p:txBody>
          <a:bodyPr wrap="square"/>
          <a:lstStyle/>
          <a:p>
            <a:pPr algn="ctr"/>
            <a:r>
              <a:rPr sz="3900" b="1">
                <a:solidFill>
                  <a:srgbClr val="E98212"/>
                </a:solidFill>
                <a:latin typeface="Yu Gothic"/>
              </a:rPr>
              <a:t>02</a:t>
            </a:r>
          </a:p>
        </p:txBody>
      </p:sp>
      <p:sp>
        <p:nvSpPr>
          <p:cNvPr id="5" name="TextBox 4"/>
          <p:cNvSpPr txBox="1"/>
          <p:nvPr/>
        </p:nvSpPr>
        <p:spPr>
          <a:xfrm>
            <a:off x="0" y="3017520"/>
            <a:ext cx="12191695" cy="914400"/>
          </a:xfrm>
          <a:prstGeom prst="rect">
            <a:avLst/>
          </a:prstGeom>
          <a:noFill/>
        </p:spPr>
        <p:txBody>
          <a:bodyPr wrap="square"/>
          <a:lstStyle/>
          <a:p>
            <a:pPr algn="ctr"/>
            <a:r>
              <a:rPr sz="3200" b="1">
                <a:solidFill>
                  <a:srgbClr val="FFFFFF"/>
                </a:solidFill>
                <a:latin typeface="Yu Gothic"/>
              </a:rPr>
              <a:t>Bubbleでマッチングアプリを開発する3つのメリット</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822960"/>
          </a:xfrm>
          <a:prstGeom prst="rect">
            <a:avLst/>
          </a:prstGeom>
          <a:noFill/>
        </p:spPr>
        <p:txBody>
          <a:bodyPr wrap="square"/>
          <a:lstStyle/>
          <a:p>
            <a:pPr algn="ctr"/>
            <a:r>
              <a:rPr sz="2800" b="1">
                <a:solidFill>
                  <a:srgbClr val="FFFFFF"/>
                </a:solidFill>
                <a:latin typeface="Yu Gothic"/>
              </a:rPr>
              <a:t>02</a:t>
            </a:r>
          </a:p>
        </p:txBody>
      </p:sp>
      <p:sp>
        <p:nvSpPr>
          <p:cNvPr id="5" name="TextBox 4"/>
          <p:cNvSpPr txBox="1"/>
          <p:nvPr/>
        </p:nvSpPr>
        <p:spPr>
          <a:xfrm>
            <a:off x="1645920" y="228600"/>
            <a:ext cx="9144000" cy="731520"/>
          </a:xfrm>
          <a:prstGeom prst="rect">
            <a:avLst/>
          </a:prstGeom>
          <a:noFill/>
        </p:spPr>
        <p:txBody>
          <a:bodyPr wrap="square"/>
          <a:lstStyle/>
          <a:p>
            <a:pPr algn="l"/>
            <a:r>
              <a:rPr sz="2400" b="1">
                <a:solidFill>
                  <a:srgbClr val="FFFFFF"/>
                </a:solidFill>
                <a:latin typeface="Yu Gothic"/>
              </a:rPr>
              <a:t>【メリット①】開発費用を50%以上削減</a:t>
            </a:r>
          </a:p>
        </p:txBody>
      </p:sp>
      <p:sp>
        <p:nvSpPr>
          <p:cNvPr id="6" name="TextBox 5"/>
          <p:cNvSpPr txBox="1"/>
          <p:nvPr/>
        </p:nvSpPr>
        <p:spPr>
          <a:xfrm>
            <a:off x="731520" y="1371600"/>
            <a:ext cx="10515600" cy="731520"/>
          </a:xfrm>
          <a:prstGeom prst="rect">
            <a:avLst/>
          </a:prstGeom>
          <a:noFill/>
        </p:spPr>
        <p:txBody>
          <a:bodyPr wrap="square"/>
          <a:lstStyle/>
          <a:p>
            <a:pPr algn="l"/>
            <a:r>
              <a:rPr sz="2000" b="0">
                <a:solidFill>
                  <a:srgbClr val="333333"/>
                </a:solidFill>
                <a:latin typeface="Yu Gothic"/>
              </a:rPr>
              <a:t>Bubbleで従来比 約50%のコスト削減が可能</a:t>
            </a:r>
          </a:p>
        </p:txBody>
      </p:sp>
      <p:sp>
        <p:nvSpPr>
          <p:cNvPr id="7" name="Rectangle 6"/>
          <p:cNvSpPr/>
          <p:nvPr/>
        </p:nvSpPr>
        <p:spPr>
          <a:xfrm>
            <a:off x="7315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06040"/>
            <a:ext cx="4754880" cy="411480"/>
          </a:xfrm>
          <a:prstGeom prst="rect">
            <a:avLst/>
          </a:prstGeom>
          <a:noFill/>
        </p:spPr>
        <p:txBody>
          <a:bodyPr wrap="square"/>
          <a:lstStyle/>
          <a:p>
            <a:pPr algn="l"/>
            <a:r>
              <a:rPr sz="1800" b="1">
                <a:solidFill>
                  <a:srgbClr val="FFFFFF"/>
                </a:solidFill>
                <a:latin typeface="Yu Gothic"/>
              </a:rPr>
              <a:t>従来のプログラミング開発</a:t>
            </a:r>
          </a:p>
        </p:txBody>
      </p:sp>
      <p:sp>
        <p:nvSpPr>
          <p:cNvPr id="10" name="TextBox 9"/>
          <p:cNvSpPr txBox="1"/>
          <p:nvPr/>
        </p:nvSpPr>
        <p:spPr>
          <a:xfrm>
            <a:off x="868680" y="3108960"/>
            <a:ext cx="4754880" cy="2606040"/>
          </a:xfrm>
          <a:prstGeom prst="rect">
            <a:avLst/>
          </a:prstGeom>
          <a:noFill/>
        </p:spPr>
        <p:txBody>
          <a:bodyPr wrap="square"/>
          <a:lstStyle/>
          <a:p>
            <a:pPr algn="l"/>
            <a:r>
              <a:rPr sz="1600" b="0">
                <a:solidFill>
                  <a:srgbClr val="333333"/>
                </a:solidFill>
                <a:latin typeface="Yu Gothic"/>
              </a:rPr>
              <a:t>・開発費用：1,000万〜2,000万円</a:t>
            </a:r>
          </a:p>
          <a:p>
            <a:pPr algn="l"/>
            <a:r>
              <a:rPr sz="1600" b="0">
                <a:solidFill>
                  <a:srgbClr val="333333"/>
                </a:solidFill>
                <a:latin typeface="Yu Gothic"/>
              </a:rPr>
              <a:t>・エンジニア採用コストも発生</a:t>
            </a:r>
          </a:p>
          <a:p>
            <a:pPr algn="l"/>
            <a:r>
              <a:rPr sz="1600" b="0">
                <a:solidFill>
                  <a:srgbClr val="333333"/>
                </a:solidFill>
                <a:latin typeface="Yu Gothic"/>
              </a:rPr>
              <a:t>・スタートアップには大きな負担</a:t>
            </a:r>
          </a:p>
        </p:txBody>
      </p:sp>
      <p:sp>
        <p:nvSpPr>
          <p:cNvPr id="11" name="Rectangle 10"/>
          <p:cNvSpPr/>
          <p:nvPr/>
        </p:nvSpPr>
        <p:spPr>
          <a:xfrm>
            <a:off x="62179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06040"/>
            <a:ext cx="4754880" cy="411480"/>
          </a:xfrm>
          <a:prstGeom prst="rect">
            <a:avLst/>
          </a:prstGeom>
          <a:noFill/>
        </p:spPr>
        <p:txBody>
          <a:bodyPr wrap="square"/>
          <a:lstStyle/>
          <a:p>
            <a:pPr algn="l"/>
            <a:r>
              <a:rPr sz="1800" b="1">
                <a:solidFill>
                  <a:srgbClr val="FFFFFF"/>
                </a:solidFill>
                <a:latin typeface="Yu Gothic"/>
              </a:rPr>
              <a:t>Bubble開発</a:t>
            </a:r>
          </a:p>
        </p:txBody>
      </p:sp>
      <p:sp>
        <p:nvSpPr>
          <p:cNvPr id="14" name="TextBox 13"/>
          <p:cNvSpPr txBox="1"/>
          <p:nvPr/>
        </p:nvSpPr>
        <p:spPr>
          <a:xfrm>
            <a:off x="6355080" y="3108960"/>
            <a:ext cx="4754880" cy="2606040"/>
          </a:xfrm>
          <a:prstGeom prst="rect">
            <a:avLst/>
          </a:prstGeom>
          <a:noFill/>
        </p:spPr>
        <p:txBody>
          <a:bodyPr wrap="square"/>
          <a:lstStyle/>
          <a:p>
            <a:pPr algn="l"/>
            <a:r>
              <a:rPr sz="1600" b="0">
                <a:solidFill>
                  <a:srgbClr val="333333"/>
                </a:solidFill>
                <a:latin typeface="Yu Gothic"/>
              </a:rPr>
              <a:t>・開発費用：500万〜1,000万円</a:t>
            </a:r>
          </a:p>
          <a:p>
            <a:pPr algn="l"/>
            <a:r>
              <a:rPr sz="1600" b="0">
                <a:solidFill>
                  <a:srgbClr val="333333"/>
                </a:solidFill>
                <a:latin typeface="Yu Gothic"/>
              </a:rPr>
              <a:t>・コスト約50%削減</a:t>
            </a:r>
          </a:p>
          <a:p>
            <a:pPr algn="l"/>
            <a:r>
              <a:rPr sz="1600" b="0">
                <a:solidFill>
                  <a:srgbClr val="333333"/>
                </a:solidFill>
                <a:latin typeface="Yu Gothic"/>
              </a:rPr>
              <a:t>・中小企業でも現実的な投資額</a:t>
            </a:r>
          </a:p>
        </p:txBody>
      </p:sp>
      <p:sp>
        <p:nvSpPr>
          <p:cNvPr id="15" name="Rectangle 14"/>
          <p:cNvSpPr/>
          <p:nvPr/>
        </p:nvSpPr>
        <p:spPr>
          <a:xfrm>
            <a:off x="0" y="6400800"/>
            <a:ext cx="12191695" cy="45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46520"/>
            <a:ext cx="10972800" cy="365760"/>
          </a:xfrm>
          <a:prstGeom prst="rect">
            <a:avLst/>
          </a:prstGeom>
          <a:noFill/>
        </p:spPr>
        <p:txBody>
          <a:bodyPr wrap="square"/>
          <a:lstStyle/>
          <a:p>
            <a:pPr algn="l"/>
            <a:r>
              <a:rPr sz="1400" b="0">
                <a:solidFill>
                  <a:srgbClr val="666666"/>
                </a:solidFill>
                <a:latin typeface="Yu Gothic"/>
              </a:rPr>
              <a:t>Bubbleマッチングアプリ開発事例12選 | アプリ開発研究所</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822960"/>
          </a:xfrm>
          <a:prstGeom prst="rect">
            <a:avLst/>
          </a:prstGeom>
          <a:noFill/>
        </p:spPr>
        <p:txBody>
          <a:bodyPr wrap="square"/>
          <a:lstStyle/>
          <a:p>
            <a:pPr algn="ctr"/>
            <a:r>
              <a:rPr sz="2800" b="1">
                <a:solidFill>
                  <a:srgbClr val="FFFFFF"/>
                </a:solidFill>
                <a:latin typeface="Yu Gothic"/>
              </a:rPr>
              <a:t>02</a:t>
            </a:r>
          </a:p>
        </p:txBody>
      </p:sp>
      <p:sp>
        <p:nvSpPr>
          <p:cNvPr id="5" name="TextBox 4"/>
          <p:cNvSpPr txBox="1"/>
          <p:nvPr/>
        </p:nvSpPr>
        <p:spPr>
          <a:xfrm>
            <a:off x="1645920" y="228600"/>
            <a:ext cx="9144000" cy="731520"/>
          </a:xfrm>
          <a:prstGeom prst="rect">
            <a:avLst/>
          </a:prstGeom>
          <a:noFill/>
        </p:spPr>
        <p:txBody>
          <a:bodyPr wrap="square"/>
          <a:lstStyle/>
          <a:p>
            <a:pPr algn="l"/>
            <a:r>
              <a:rPr sz="2400" b="1">
                <a:solidFill>
                  <a:srgbClr val="FFFFFF"/>
                </a:solidFill>
                <a:latin typeface="Yu Gothic"/>
              </a:rPr>
              <a:t>【メリット②】開発期間を50%以上短縮</a:t>
            </a:r>
          </a:p>
        </p:txBody>
      </p:sp>
      <p:sp>
        <p:nvSpPr>
          <p:cNvPr id="6" name="TextBox 5"/>
          <p:cNvSpPr txBox="1"/>
          <p:nvPr/>
        </p:nvSpPr>
        <p:spPr>
          <a:xfrm>
            <a:off x="731520" y="1371600"/>
            <a:ext cx="10515600" cy="731520"/>
          </a:xfrm>
          <a:prstGeom prst="rect">
            <a:avLst/>
          </a:prstGeom>
          <a:noFill/>
        </p:spPr>
        <p:txBody>
          <a:bodyPr wrap="square"/>
          <a:lstStyle/>
          <a:p>
            <a:pPr algn="l"/>
            <a:r>
              <a:rPr sz="2000" b="0">
                <a:solidFill>
                  <a:srgbClr val="333333"/>
                </a:solidFill>
                <a:latin typeface="Yu Gothic"/>
              </a:rPr>
              <a:t>Bubbleで従来6ヶ月〜1年の開発が3〜6ヶ月に短縮</a:t>
            </a:r>
          </a:p>
        </p:txBody>
      </p:sp>
      <p:sp>
        <p:nvSpPr>
          <p:cNvPr id="7" name="Rectangle 6"/>
          <p:cNvSpPr/>
          <p:nvPr/>
        </p:nvSpPr>
        <p:spPr>
          <a:xfrm>
            <a:off x="7315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06040"/>
            <a:ext cx="4754880" cy="411480"/>
          </a:xfrm>
          <a:prstGeom prst="rect">
            <a:avLst/>
          </a:prstGeom>
          <a:noFill/>
        </p:spPr>
        <p:txBody>
          <a:bodyPr wrap="square"/>
          <a:lstStyle/>
          <a:p>
            <a:pPr algn="l"/>
            <a:r>
              <a:rPr sz="1800" b="1">
                <a:solidFill>
                  <a:srgbClr val="FFFFFF"/>
                </a:solidFill>
                <a:latin typeface="Yu Gothic"/>
              </a:rPr>
              <a:t>従来のプログラミング開発</a:t>
            </a:r>
          </a:p>
        </p:txBody>
      </p:sp>
      <p:sp>
        <p:nvSpPr>
          <p:cNvPr id="10" name="TextBox 9"/>
          <p:cNvSpPr txBox="1"/>
          <p:nvPr/>
        </p:nvSpPr>
        <p:spPr>
          <a:xfrm>
            <a:off x="868680" y="3108960"/>
            <a:ext cx="4754880" cy="2606040"/>
          </a:xfrm>
          <a:prstGeom prst="rect">
            <a:avLst/>
          </a:prstGeom>
          <a:noFill/>
        </p:spPr>
        <p:txBody>
          <a:bodyPr wrap="square"/>
          <a:lstStyle/>
          <a:p>
            <a:pPr algn="l"/>
            <a:r>
              <a:rPr sz="1600" b="0">
                <a:solidFill>
                  <a:srgbClr val="333333"/>
                </a:solidFill>
                <a:latin typeface="Yu Gothic"/>
              </a:rPr>
              <a:t>・開発期間：6ヶ月〜1年</a:t>
            </a:r>
          </a:p>
          <a:p>
            <a:pPr algn="l"/>
            <a:r>
              <a:rPr sz="1600" b="0">
                <a:solidFill>
                  <a:srgbClr val="333333"/>
                </a:solidFill>
                <a:latin typeface="Yu Gothic"/>
              </a:rPr>
              <a:t>・要件定義・設計・実装・テスト</a:t>
            </a:r>
          </a:p>
          <a:p>
            <a:pPr algn="l"/>
            <a:r>
              <a:rPr sz="1600" b="0">
                <a:solidFill>
                  <a:srgbClr val="333333"/>
                </a:solidFill>
                <a:latin typeface="Yu Gothic"/>
              </a:rPr>
              <a:t>  の長いプロセス</a:t>
            </a:r>
          </a:p>
        </p:txBody>
      </p:sp>
      <p:sp>
        <p:nvSpPr>
          <p:cNvPr id="11" name="Rectangle 10"/>
          <p:cNvSpPr/>
          <p:nvPr/>
        </p:nvSpPr>
        <p:spPr>
          <a:xfrm>
            <a:off x="62179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06040"/>
            <a:ext cx="4754880" cy="411480"/>
          </a:xfrm>
          <a:prstGeom prst="rect">
            <a:avLst/>
          </a:prstGeom>
          <a:noFill/>
        </p:spPr>
        <p:txBody>
          <a:bodyPr wrap="square"/>
          <a:lstStyle/>
          <a:p>
            <a:pPr algn="l"/>
            <a:r>
              <a:rPr sz="1800" b="1">
                <a:solidFill>
                  <a:srgbClr val="FFFFFF"/>
                </a:solidFill>
                <a:latin typeface="Yu Gothic"/>
              </a:rPr>
              <a:t>Bubble開発</a:t>
            </a:r>
          </a:p>
        </p:txBody>
      </p:sp>
      <p:sp>
        <p:nvSpPr>
          <p:cNvPr id="14" name="TextBox 13"/>
          <p:cNvSpPr txBox="1"/>
          <p:nvPr/>
        </p:nvSpPr>
        <p:spPr>
          <a:xfrm>
            <a:off x="6355080" y="3108960"/>
            <a:ext cx="4754880" cy="2606040"/>
          </a:xfrm>
          <a:prstGeom prst="rect">
            <a:avLst/>
          </a:prstGeom>
          <a:noFill/>
        </p:spPr>
        <p:txBody>
          <a:bodyPr wrap="square"/>
          <a:lstStyle/>
          <a:p>
            <a:pPr algn="l"/>
            <a:r>
              <a:rPr sz="1600" b="0">
                <a:solidFill>
                  <a:srgbClr val="333333"/>
                </a:solidFill>
                <a:latin typeface="Yu Gothic"/>
              </a:rPr>
              <a:t>・開発期間：3〜6ヶ月</a:t>
            </a:r>
          </a:p>
          <a:p>
            <a:pPr algn="l"/>
            <a:r>
              <a:rPr sz="1600" b="0">
                <a:solidFill>
                  <a:srgbClr val="333333"/>
                </a:solidFill>
                <a:latin typeface="Yu Gothic"/>
              </a:rPr>
              <a:t>・事例では2〜3ヶ月のケースも</a:t>
            </a:r>
          </a:p>
          <a:p>
            <a:pPr algn="l"/>
            <a:r>
              <a:rPr sz="1600" b="0">
                <a:solidFill>
                  <a:srgbClr val="333333"/>
                </a:solidFill>
                <a:latin typeface="Yu Gothic"/>
              </a:rPr>
              <a:t>・スピードは成功に直結する要因</a:t>
            </a:r>
          </a:p>
        </p:txBody>
      </p:sp>
      <p:sp>
        <p:nvSpPr>
          <p:cNvPr id="15" name="Rectangle 14"/>
          <p:cNvSpPr/>
          <p:nvPr/>
        </p:nvSpPr>
        <p:spPr>
          <a:xfrm>
            <a:off x="0" y="6400800"/>
            <a:ext cx="12191695" cy="45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46520"/>
            <a:ext cx="10972800" cy="365760"/>
          </a:xfrm>
          <a:prstGeom prst="rect">
            <a:avLst/>
          </a:prstGeom>
          <a:noFill/>
        </p:spPr>
        <p:txBody>
          <a:bodyPr wrap="square"/>
          <a:lstStyle/>
          <a:p>
            <a:pPr algn="l"/>
            <a:r>
              <a:rPr sz="1400" b="0">
                <a:solidFill>
                  <a:srgbClr val="666666"/>
                </a:solidFill>
                <a:latin typeface="Yu Gothic"/>
              </a:rPr>
              <a:t>Bubbleマッチングアプリ開発事例12選 | アプリ開発研究所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822960"/>
          </a:xfrm>
          <a:prstGeom prst="rect">
            <a:avLst/>
          </a:prstGeom>
          <a:noFill/>
        </p:spPr>
        <p:txBody>
          <a:bodyPr wrap="square"/>
          <a:lstStyle/>
          <a:p>
            <a:pPr algn="ctr"/>
            <a:r>
              <a:rPr sz="2800" b="1">
                <a:solidFill>
                  <a:srgbClr val="FFFFFF"/>
                </a:solidFill>
                <a:latin typeface="Yu Gothic"/>
              </a:rPr>
              <a:t>02</a:t>
            </a:r>
          </a:p>
        </p:txBody>
      </p:sp>
      <p:sp>
        <p:nvSpPr>
          <p:cNvPr id="5" name="TextBox 4"/>
          <p:cNvSpPr txBox="1"/>
          <p:nvPr/>
        </p:nvSpPr>
        <p:spPr>
          <a:xfrm>
            <a:off x="1645920" y="228600"/>
            <a:ext cx="9144000" cy="731520"/>
          </a:xfrm>
          <a:prstGeom prst="rect">
            <a:avLst/>
          </a:prstGeom>
          <a:noFill/>
        </p:spPr>
        <p:txBody>
          <a:bodyPr wrap="square"/>
          <a:lstStyle/>
          <a:p>
            <a:pPr algn="l"/>
            <a:r>
              <a:rPr sz="2400" b="1">
                <a:solidFill>
                  <a:srgbClr val="FFFFFF"/>
                </a:solidFill>
                <a:latin typeface="Yu Gothic"/>
              </a:rPr>
              <a:t>【メリット③】高度な機能を実装したアプリの開発</a:t>
            </a:r>
          </a:p>
        </p:txBody>
      </p:sp>
      <p:sp>
        <p:nvSpPr>
          <p:cNvPr id="6" name="TextBox 5"/>
          <p:cNvSpPr txBox="1"/>
          <p:nvPr/>
        </p:nvSpPr>
        <p:spPr>
          <a:xfrm>
            <a:off x="731520" y="1371600"/>
            <a:ext cx="10515600" cy="731520"/>
          </a:xfrm>
          <a:prstGeom prst="rect">
            <a:avLst/>
          </a:prstGeom>
          <a:noFill/>
        </p:spPr>
        <p:txBody>
          <a:bodyPr wrap="square"/>
          <a:lstStyle/>
          <a:p>
            <a:pPr algn="l"/>
            <a:r>
              <a:rPr sz="2000" b="0">
                <a:solidFill>
                  <a:srgbClr val="333333"/>
                </a:solidFill>
                <a:latin typeface="Yu Gothic"/>
              </a:rPr>
              <a:t>Bubbleは外部サービス統合や多様なプラグインで高度な機能を実現</a:t>
            </a:r>
          </a:p>
        </p:txBody>
      </p:sp>
      <p:sp>
        <p:nvSpPr>
          <p:cNvPr id="7" name="Rectangle 6"/>
          <p:cNvSpPr/>
          <p:nvPr/>
        </p:nvSpPr>
        <p:spPr>
          <a:xfrm>
            <a:off x="7315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06040"/>
            <a:ext cx="4754880" cy="411480"/>
          </a:xfrm>
          <a:prstGeom prst="rect">
            <a:avLst/>
          </a:prstGeom>
          <a:noFill/>
        </p:spPr>
        <p:txBody>
          <a:bodyPr wrap="square"/>
          <a:lstStyle/>
          <a:p>
            <a:pPr algn="l"/>
            <a:r>
              <a:rPr sz="1800" b="1">
                <a:solidFill>
                  <a:srgbClr val="FFFFFF"/>
                </a:solidFill>
                <a:latin typeface="Yu Gothic"/>
              </a:rPr>
              <a:t>実現できること</a:t>
            </a:r>
          </a:p>
        </p:txBody>
      </p:sp>
      <p:sp>
        <p:nvSpPr>
          <p:cNvPr id="10" name="TextBox 9"/>
          <p:cNvSpPr txBox="1"/>
          <p:nvPr/>
        </p:nvSpPr>
        <p:spPr>
          <a:xfrm>
            <a:off x="868680" y="3108960"/>
            <a:ext cx="4754880" cy="2606040"/>
          </a:xfrm>
          <a:prstGeom prst="rect">
            <a:avLst/>
          </a:prstGeom>
          <a:noFill/>
        </p:spPr>
        <p:txBody>
          <a:bodyPr wrap="square"/>
          <a:lstStyle/>
          <a:p>
            <a:pPr algn="l"/>
            <a:r>
              <a:rPr sz="1600" b="0">
                <a:solidFill>
                  <a:srgbClr val="333333"/>
                </a:solidFill>
                <a:latin typeface="Yu Gothic"/>
              </a:rPr>
              <a:t>・AIによる自動マッチング</a:t>
            </a:r>
          </a:p>
          <a:p>
            <a:pPr algn="l"/>
            <a:r>
              <a:rPr sz="1600" b="0">
                <a:solidFill>
                  <a:srgbClr val="333333"/>
                </a:solidFill>
                <a:latin typeface="Yu Gothic"/>
              </a:rPr>
              <a:t>・App Storeでの配信</a:t>
            </a:r>
          </a:p>
          <a:p>
            <a:pPr algn="l"/>
            <a:r>
              <a:rPr sz="1600" b="0">
                <a:solidFill>
                  <a:srgbClr val="333333"/>
                </a:solidFill>
                <a:latin typeface="Yu Gothic"/>
              </a:rPr>
              <a:t>・外部API連携（LINE等）</a:t>
            </a:r>
          </a:p>
          <a:p>
            <a:pPr algn="l"/>
            <a:r>
              <a:rPr sz="1600" b="0">
                <a:solidFill>
                  <a:srgbClr val="333333"/>
                </a:solidFill>
                <a:latin typeface="Yu Gothic"/>
              </a:rPr>
              <a:t>・決済・分析機能</a:t>
            </a:r>
          </a:p>
        </p:txBody>
      </p:sp>
      <p:sp>
        <p:nvSpPr>
          <p:cNvPr id="11" name="Rectangle 10"/>
          <p:cNvSpPr/>
          <p:nvPr/>
        </p:nvSpPr>
        <p:spPr>
          <a:xfrm>
            <a:off x="62179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06040"/>
            <a:ext cx="4754880" cy="411480"/>
          </a:xfrm>
          <a:prstGeom prst="rect">
            <a:avLst/>
          </a:prstGeom>
          <a:noFill/>
        </p:spPr>
        <p:txBody>
          <a:bodyPr wrap="square"/>
          <a:lstStyle/>
          <a:p>
            <a:pPr algn="l"/>
            <a:r>
              <a:rPr sz="1800" b="1">
                <a:solidFill>
                  <a:srgbClr val="FFFFFF"/>
                </a:solidFill>
                <a:latin typeface="Yu Gothic"/>
              </a:rPr>
              <a:t>推奨アプローチ</a:t>
            </a:r>
          </a:p>
        </p:txBody>
      </p:sp>
      <p:sp>
        <p:nvSpPr>
          <p:cNvPr id="14" name="TextBox 13"/>
          <p:cNvSpPr txBox="1"/>
          <p:nvPr/>
        </p:nvSpPr>
        <p:spPr>
          <a:xfrm>
            <a:off x="6355080" y="3108960"/>
            <a:ext cx="4754880" cy="2606040"/>
          </a:xfrm>
          <a:prstGeom prst="rect">
            <a:avLst/>
          </a:prstGeom>
          <a:noFill/>
        </p:spPr>
        <p:txBody>
          <a:bodyPr wrap="square"/>
          <a:lstStyle/>
          <a:p>
            <a:pPr algn="l"/>
            <a:r>
              <a:rPr sz="1600" b="0">
                <a:solidFill>
                  <a:srgbClr val="333333"/>
                </a:solidFill>
                <a:latin typeface="Yu Gothic"/>
              </a:rPr>
              <a:t>・「まずBubbleを試してみる」</a:t>
            </a:r>
          </a:p>
          <a:p>
            <a:pPr algn="l"/>
            <a:r>
              <a:rPr sz="1600" b="0">
                <a:solidFill>
                  <a:srgbClr val="333333"/>
                </a:solidFill>
                <a:latin typeface="Yu Gothic"/>
              </a:rPr>
              <a:t>  というアプローチが増加中</a:t>
            </a:r>
          </a:p>
          <a:p>
            <a:pPr algn="l"/>
            <a:r>
              <a:rPr sz="1600" b="0">
                <a:solidFill>
                  <a:srgbClr val="333333"/>
                </a:solidFill>
                <a:latin typeface="Yu Gothic"/>
              </a:rPr>
              <a:t>・ほとんどの通常機能は実装可能</a:t>
            </a:r>
          </a:p>
        </p:txBody>
      </p:sp>
      <p:sp>
        <p:nvSpPr>
          <p:cNvPr id="15" name="Rectangle 14"/>
          <p:cNvSpPr/>
          <p:nvPr/>
        </p:nvSpPr>
        <p:spPr>
          <a:xfrm>
            <a:off x="0" y="6400800"/>
            <a:ext cx="12191695" cy="45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46520"/>
            <a:ext cx="10972800" cy="365760"/>
          </a:xfrm>
          <a:prstGeom prst="rect">
            <a:avLst/>
          </a:prstGeom>
          <a:noFill/>
        </p:spPr>
        <p:txBody>
          <a:bodyPr wrap="square"/>
          <a:lstStyle/>
          <a:p>
            <a:pPr algn="l"/>
            <a:r>
              <a:rPr sz="1400" b="0">
                <a:solidFill>
                  <a:srgbClr val="666666"/>
                </a:solidFill>
                <a:latin typeface="Yu Gothic"/>
              </a:rPr>
              <a:t>Bubbleマッチングアプリ開発事例12選 | アプリ開発研究所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2743200"/>
            <a:ext cx="3047695" cy="54864"/>
          </a:xfrm>
          <a:prstGeom prst="rect">
            <a:avLst/>
          </a:prstGeom>
          <a:solidFill>
            <a:srgbClr val="E98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828800"/>
            <a:ext cx="12191695" cy="914400"/>
          </a:xfrm>
          <a:prstGeom prst="rect">
            <a:avLst/>
          </a:prstGeom>
          <a:noFill/>
        </p:spPr>
        <p:txBody>
          <a:bodyPr wrap="square"/>
          <a:lstStyle/>
          <a:p>
            <a:pPr algn="ctr"/>
            <a:r>
              <a:rPr sz="3900" b="1">
                <a:solidFill>
                  <a:srgbClr val="E98212"/>
                </a:solidFill>
                <a:latin typeface="Yu Gothic"/>
              </a:rPr>
              <a:t>03</a:t>
            </a:r>
          </a:p>
        </p:txBody>
      </p:sp>
      <p:sp>
        <p:nvSpPr>
          <p:cNvPr id="5" name="TextBox 4"/>
          <p:cNvSpPr txBox="1"/>
          <p:nvPr/>
        </p:nvSpPr>
        <p:spPr>
          <a:xfrm>
            <a:off x="0" y="3017520"/>
            <a:ext cx="12191695" cy="914400"/>
          </a:xfrm>
          <a:prstGeom prst="rect">
            <a:avLst/>
          </a:prstGeom>
          <a:noFill/>
        </p:spPr>
        <p:txBody>
          <a:bodyPr wrap="square"/>
          <a:lstStyle/>
          <a:p>
            <a:pPr algn="ctr"/>
            <a:r>
              <a:rPr sz="3200" b="1">
                <a:solidFill>
                  <a:srgbClr val="FFFFFF"/>
                </a:solidFill>
                <a:latin typeface="Yu Gothic"/>
              </a:rPr>
              <a:t>Bubble開発のよくある質問集</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822960"/>
          </a:xfrm>
          <a:prstGeom prst="rect">
            <a:avLst/>
          </a:prstGeom>
          <a:noFill/>
        </p:spPr>
        <p:txBody>
          <a:bodyPr wrap="square"/>
          <a:lstStyle/>
          <a:p>
            <a:pPr algn="ctr"/>
            <a:r>
              <a:rPr sz="2800" b="1">
                <a:solidFill>
                  <a:srgbClr val="FFFFFF"/>
                </a:solidFill>
                <a:latin typeface="Yu Gothic"/>
              </a:rPr>
              <a:t>03</a:t>
            </a:r>
          </a:p>
        </p:txBody>
      </p:sp>
      <p:sp>
        <p:nvSpPr>
          <p:cNvPr id="5" name="TextBox 4"/>
          <p:cNvSpPr txBox="1"/>
          <p:nvPr/>
        </p:nvSpPr>
        <p:spPr>
          <a:xfrm>
            <a:off x="1645920" y="228600"/>
            <a:ext cx="9144000" cy="731520"/>
          </a:xfrm>
          <a:prstGeom prst="rect">
            <a:avLst/>
          </a:prstGeom>
          <a:noFill/>
        </p:spPr>
        <p:txBody>
          <a:bodyPr wrap="square"/>
          <a:lstStyle/>
          <a:p>
            <a:pPr algn="l"/>
            <a:r>
              <a:rPr sz="2400" b="1">
                <a:solidFill>
                  <a:srgbClr val="FFFFFF"/>
                </a:solidFill>
                <a:latin typeface="Yu Gothic"/>
              </a:rPr>
              <a:t>Q&amp;A① セキュリティは安全？＆サービス終了リスク</a:t>
            </a:r>
          </a:p>
        </p:txBody>
      </p:sp>
      <p:sp>
        <p:nvSpPr>
          <p:cNvPr id="6" name="TextBox 5"/>
          <p:cNvSpPr txBox="1"/>
          <p:nvPr/>
        </p:nvSpPr>
        <p:spPr>
          <a:xfrm>
            <a:off x="731520" y="1371600"/>
            <a:ext cx="10515600" cy="731520"/>
          </a:xfrm>
          <a:prstGeom prst="rect">
            <a:avLst/>
          </a:prstGeom>
          <a:noFill/>
        </p:spPr>
        <p:txBody>
          <a:bodyPr wrap="square"/>
          <a:lstStyle/>
          <a:p>
            <a:pPr algn="l"/>
            <a:r>
              <a:rPr sz="2000" b="0">
                <a:solidFill>
                  <a:srgbClr val="333333"/>
                </a:solidFill>
                <a:latin typeface="Yu Gothic"/>
              </a:rPr>
              <a:t>Bubbleのセキュリティと将来のリスクについて</a:t>
            </a:r>
          </a:p>
        </p:txBody>
      </p:sp>
      <p:sp>
        <p:nvSpPr>
          <p:cNvPr id="7" name="Rectangle 6"/>
          <p:cNvSpPr/>
          <p:nvPr/>
        </p:nvSpPr>
        <p:spPr>
          <a:xfrm>
            <a:off x="7315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06040"/>
            <a:ext cx="4754880" cy="411480"/>
          </a:xfrm>
          <a:prstGeom prst="rect">
            <a:avLst/>
          </a:prstGeom>
          <a:noFill/>
        </p:spPr>
        <p:txBody>
          <a:bodyPr wrap="square"/>
          <a:lstStyle/>
          <a:p>
            <a:pPr algn="l"/>
            <a:r>
              <a:rPr sz="1800" b="1">
                <a:solidFill>
                  <a:srgbClr val="FFFFFF"/>
                </a:solidFill>
                <a:latin typeface="Yu Gothic"/>
              </a:rPr>
              <a:t>セキュリティは安全？</a:t>
            </a:r>
          </a:p>
        </p:txBody>
      </p:sp>
      <p:sp>
        <p:nvSpPr>
          <p:cNvPr id="10" name="TextBox 9"/>
          <p:cNvSpPr txBox="1"/>
          <p:nvPr/>
        </p:nvSpPr>
        <p:spPr>
          <a:xfrm>
            <a:off x="868680" y="3108960"/>
            <a:ext cx="4754880" cy="2606040"/>
          </a:xfrm>
          <a:prstGeom prst="rect">
            <a:avLst/>
          </a:prstGeom>
          <a:noFill/>
        </p:spPr>
        <p:txBody>
          <a:bodyPr wrap="square"/>
          <a:lstStyle/>
          <a:p>
            <a:pPr algn="l"/>
            <a:r>
              <a:rPr sz="1600" b="0">
                <a:solidFill>
                  <a:srgbClr val="333333"/>
                </a:solidFill>
                <a:latin typeface="Yu Gothic"/>
              </a:rPr>
              <a:t>・結論：非常に安全</a:t>
            </a:r>
          </a:p>
          <a:p>
            <a:pPr algn="l"/>
            <a:r>
              <a:rPr sz="1600" b="0">
                <a:solidFill>
                  <a:srgbClr val="333333"/>
                </a:solidFill>
                <a:latin typeface="Yu Gothic"/>
              </a:rPr>
              <a:t>・ノーコードツールの中でも</a:t>
            </a:r>
          </a:p>
          <a:p>
            <a:pPr algn="l"/>
            <a:r>
              <a:rPr sz="1600" b="0">
                <a:solidFill>
                  <a:srgbClr val="333333"/>
                </a:solidFill>
                <a:latin typeface="Yu Gothic"/>
              </a:rPr>
              <a:t>  セキュリティが非常に高い</a:t>
            </a:r>
          </a:p>
        </p:txBody>
      </p:sp>
      <p:sp>
        <p:nvSpPr>
          <p:cNvPr id="11" name="Rectangle 10"/>
          <p:cNvSpPr/>
          <p:nvPr/>
        </p:nvSpPr>
        <p:spPr>
          <a:xfrm>
            <a:off x="62179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06040"/>
            <a:ext cx="4754880" cy="411480"/>
          </a:xfrm>
          <a:prstGeom prst="rect">
            <a:avLst/>
          </a:prstGeom>
          <a:noFill/>
        </p:spPr>
        <p:txBody>
          <a:bodyPr wrap="square"/>
          <a:lstStyle/>
          <a:p>
            <a:pPr algn="l"/>
            <a:r>
              <a:rPr sz="1800" b="1">
                <a:solidFill>
                  <a:srgbClr val="FFFFFF"/>
                </a:solidFill>
                <a:latin typeface="Yu Gothic"/>
              </a:rPr>
              <a:t>サービス終了したら？</a:t>
            </a:r>
          </a:p>
        </p:txBody>
      </p:sp>
      <p:sp>
        <p:nvSpPr>
          <p:cNvPr id="14" name="TextBox 13"/>
          <p:cNvSpPr txBox="1"/>
          <p:nvPr/>
        </p:nvSpPr>
        <p:spPr>
          <a:xfrm>
            <a:off x="6355080" y="3108960"/>
            <a:ext cx="4754880" cy="2606040"/>
          </a:xfrm>
          <a:prstGeom prst="rect">
            <a:avLst/>
          </a:prstGeom>
          <a:noFill/>
        </p:spPr>
        <p:txBody>
          <a:bodyPr wrap="square"/>
          <a:lstStyle/>
          <a:p>
            <a:pPr algn="l"/>
            <a:r>
              <a:rPr sz="1600" b="0">
                <a:solidFill>
                  <a:srgbClr val="333333"/>
                </a:solidFill>
                <a:latin typeface="Yu Gothic"/>
              </a:rPr>
              <a:t>・万が一の場合「ソースコードを</a:t>
            </a:r>
          </a:p>
          <a:p>
            <a:pPr algn="l"/>
            <a:r>
              <a:rPr sz="1600" b="0">
                <a:solidFill>
                  <a:srgbClr val="333333"/>
                </a:solidFill>
                <a:latin typeface="Yu Gothic"/>
              </a:rPr>
              <a:t>  公開する」ことを明言</a:t>
            </a:r>
          </a:p>
          <a:p>
            <a:pPr algn="l"/>
            <a:r>
              <a:rPr sz="1600" b="0">
                <a:solidFill>
                  <a:srgbClr val="333333"/>
                </a:solidFill>
                <a:latin typeface="Yu Gothic"/>
              </a:rPr>
              <a:t>・サーバーを立ち上げれば</a:t>
            </a:r>
          </a:p>
          <a:p>
            <a:pPr algn="l"/>
            <a:r>
              <a:rPr sz="1600" b="0">
                <a:solidFill>
                  <a:srgbClr val="333333"/>
                </a:solidFill>
                <a:latin typeface="Yu Gothic"/>
              </a:rPr>
              <a:t>  アプリ運用を継続可能</a:t>
            </a:r>
          </a:p>
        </p:txBody>
      </p:sp>
      <p:sp>
        <p:nvSpPr>
          <p:cNvPr id="15" name="Rectangle 14"/>
          <p:cNvSpPr/>
          <p:nvPr/>
        </p:nvSpPr>
        <p:spPr>
          <a:xfrm>
            <a:off x="0" y="6400800"/>
            <a:ext cx="12191695" cy="45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46520"/>
            <a:ext cx="10972800" cy="365760"/>
          </a:xfrm>
          <a:prstGeom prst="rect">
            <a:avLst/>
          </a:prstGeom>
          <a:noFill/>
        </p:spPr>
        <p:txBody>
          <a:bodyPr wrap="square"/>
          <a:lstStyle/>
          <a:p>
            <a:pPr algn="l"/>
            <a:r>
              <a:rPr sz="1400" b="0">
                <a:solidFill>
                  <a:srgbClr val="666666"/>
                </a:solidFill>
                <a:latin typeface="Yu Gothic"/>
              </a:rPr>
              <a:t>Bubbleマッチングアプリ開発事例12選 | アプリ開発研究所</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 cy="822960"/>
          </a:xfrm>
          <a:prstGeom prst="rect">
            <a:avLst/>
          </a:prstGeom>
          <a:noFill/>
        </p:spPr>
        <p:txBody>
          <a:bodyPr wrap="square"/>
          <a:lstStyle/>
          <a:p>
            <a:pPr algn="ctr"/>
            <a:r>
              <a:rPr sz="2800" b="1">
                <a:solidFill>
                  <a:srgbClr val="FFFFFF"/>
                </a:solidFill>
                <a:latin typeface="Yu Gothic"/>
              </a:rPr>
              <a:t>03</a:t>
            </a:r>
          </a:p>
        </p:txBody>
      </p:sp>
      <p:sp>
        <p:nvSpPr>
          <p:cNvPr id="5" name="TextBox 4"/>
          <p:cNvSpPr txBox="1"/>
          <p:nvPr/>
        </p:nvSpPr>
        <p:spPr>
          <a:xfrm>
            <a:off x="1645920" y="228600"/>
            <a:ext cx="9144000" cy="731520"/>
          </a:xfrm>
          <a:prstGeom prst="rect">
            <a:avLst/>
          </a:prstGeom>
          <a:noFill/>
        </p:spPr>
        <p:txBody>
          <a:bodyPr wrap="square"/>
          <a:lstStyle/>
          <a:p>
            <a:pPr algn="l"/>
            <a:r>
              <a:rPr sz="2400" b="1">
                <a:solidFill>
                  <a:srgbClr val="FFFFFF"/>
                </a:solidFill>
                <a:latin typeface="Yu Gothic"/>
              </a:rPr>
              <a:t>Q&amp;A② 導入企業＆開発費用の相場</a:t>
            </a:r>
          </a:p>
        </p:txBody>
      </p:sp>
      <p:sp>
        <p:nvSpPr>
          <p:cNvPr id="6" name="TextBox 5"/>
          <p:cNvSpPr txBox="1"/>
          <p:nvPr/>
        </p:nvSpPr>
        <p:spPr>
          <a:xfrm>
            <a:off x="731520" y="1371600"/>
            <a:ext cx="10515600" cy="731520"/>
          </a:xfrm>
          <a:prstGeom prst="rect">
            <a:avLst/>
          </a:prstGeom>
          <a:noFill/>
        </p:spPr>
        <p:txBody>
          <a:bodyPr wrap="square"/>
          <a:lstStyle/>
          <a:p>
            <a:pPr algn="l"/>
            <a:r>
              <a:rPr sz="2000" b="0">
                <a:solidFill>
                  <a:srgbClr val="333333"/>
                </a:solidFill>
                <a:latin typeface="Yu Gothic"/>
              </a:rPr>
              <a:t>世界的大企業も利用、補助金活用で大幅コスト削減</a:t>
            </a:r>
          </a:p>
        </p:txBody>
      </p:sp>
      <p:sp>
        <p:nvSpPr>
          <p:cNvPr id="7" name="Rectangle 6"/>
          <p:cNvSpPr/>
          <p:nvPr/>
        </p:nvSpPr>
        <p:spPr>
          <a:xfrm>
            <a:off x="7315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06040"/>
            <a:ext cx="4754880" cy="411480"/>
          </a:xfrm>
          <a:prstGeom prst="rect">
            <a:avLst/>
          </a:prstGeom>
          <a:noFill/>
        </p:spPr>
        <p:txBody>
          <a:bodyPr wrap="square"/>
          <a:lstStyle/>
          <a:p>
            <a:pPr algn="l"/>
            <a:r>
              <a:rPr sz="1800" b="1">
                <a:solidFill>
                  <a:srgbClr val="FFFFFF"/>
                </a:solidFill>
                <a:latin typeface="Yu Gothic"/>
              </a:rPr>
              <a:t>導入企業例</a:t>
            </a:r>
          </a:p>
        </p:txBody>
      </p:sp>
      <p:sp>
        <p:nvSpPr>
          <p:cNvPr id="10" name="TextBox 9"/>
          <p:cNvSpPr txBox="1"/>
          <p:nvPr/>
        </p:nvSpPr>
        <p:spPr>
          <a:xfrm>
            <a:off x="868680" y="3108960"/>
            <a:ext cx="4754880" cy="2606040"/>
          </a:xfrm>
          <a:prstGeom prst="rect">
            <a:avLst/>
          </a:prstGeom>
          <a:noFill/>
        </p:spPr>
        <p:txBody>
          <a:bodyPr wrap="square"/>
          <a:lstStyle/>
          <a:p>
            <a:pPr algn="l"/>
            <a:r>
              <a:rPr sz="1600" b="0">
                <a:solidFill>
                  <a:srgbClr val="333333"/>
                </a:solidFill>
                <a:latin typeface="Yu Gothic"/>
              </a:rPr>
              <a:t>・Shopify / HubSpot</a:t>
            </a:r>
          </a:p>
          <a:p>
            <a:pPr algn="l"/>
            <a:r>
              <a:rPr sz="1600" b="0">
                <a:solidFill>
                  <a:srgbClr val="333333"/>
                </a:solidFill>
                <a:latin typeface="Yu Gothic"/>
              </a:rPr>
              <a:t>・Hewlett-Packard / L'Oreal</a:t>
            </a:r>
          </a:p>
          <a:p>
            <a:pPr algn="l"/>
            <a:r>
              <a:rPr sz="1600" b="0">
                <a:solidFill>
                  <a:srgbClr val="333333"/>
                </a:solidFill>
                <a:latin typeface="Yu Gothic"/>
              </a:rPr>
              <a:t>・Lyft / YAMAHA / Danone</a:t>
            </a:r>
          </a:p>
        </p:txBody>
      </p:sp>
      <p:sp>
        <p:nvSpPr>
          <p:cNvPr id="11" name="Rectangle 10"/>
          <p:cNvSpPr/>
          <p:nvPr/>
        </p:nvSpPr>
        <p:spPr>
          <a:xfrm>
            <a:off x="6217920" y="2560320"/>
            <a:ext cx="5029200" cy="3200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2560320"/>
            <a:ext cx="5029200" cy="4572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606040"/>
            <a:ext cx="4754880" cy="411480"/>
          </a:xfrm>
          <a:prstGeom prst="rect">
            <a:avLst/>
          </a:prstGeom>
          <a:noFill/>
        </p:spPr>
        <p:txBody>
          <a:bodyPr wrap="square"/>
          <a:lstStyle/>
          <a:p>
            <a:pPr algn="l"/>
            <a:r>
              <a:rPr sz="1800" b="1">
                <a:solidFill>
                  <a:srgbClr val="FFFFFF"/>
                </a:solidFill>
                <a:latin typeface="Yu Gothic"/>
              </a:rPr>
              <a:t>開発費用の相場</a:t>
            </a:r>
          </a:p>
        </p:txBody>
      </p:sp>
      <p:sp>
        <p:nvSpPr>
          <p:cNvPr id="14" name="TextBox 13"/>
          <p:cNvSpPr txBox="1"/>
          <p:nvPr/>
        </p:nvSpPr>
        <p:spPr>
          <a:xfrm>
            <a:off x="6355080" y="3108960"/>
            <a:ext cx="4754880" cy="2606040"/>
          </a:xfrm>
          <a:prstGeom prst="rect">
            <a:avLst/>
          </a:prstGeom>
          <a:noFill/>
        </p:spPr>
        <p:txBody>
          <a:bodyPr wrap="square"/>
          <a:lstStyle/>
          <a:p>
            <a:pPr algn="l"/>
            <a:r>
              <a:rPr sz="1600" b="0">
                <a:solidFill>
                  <a:srgbClr val="333333"/>
                </a:solidFill>
                <a:latin typeface="Yu Gothic"/>
              </a:rPr>
              <a:t>・通常：平均50%のコスト削減</a:t>
            </a:r>
          </a:p>
          <a:p>
            <a:pPr algn="l"/>
            <a:r>
              <a:rPr sz="1600" b="0">
                <a:solidFill>
                  <a:srgbClr val="333333"/>
                </a:solidFill>
                <a:latin typeface="Yu Gothic"/>
              </a:rPr>
              <a:t>・補助金利用：平均80%削減</a:t>
            </a:r>
          </a:p>
          <a:p>
            <a:pPr algn="l"/>
            <a:r>
              <a:rPr sz="1600" b="0">
                <a:solidFill>
                  <a:srgbClr val="333333"/>
                </a:solidFill>
                <a:latin typeface="Yu Gothic"/>
              </a:rPr>
              <a:t>・例：1,500万円→750万円</a:t>
            </a:r>
          </a:p>
          <a:p>
            <a:pPr algn="l"/>
            <a:r>
              <a:rPr sz="1600" b="0">
                <a:solidFill>
                  <a:srgbClr val="333333"/>
                </a:solidFill>
                <a:latin typeface="Yu Gothic"/>
              </a:rPr>
              <a:t>  →補助金で約300万円</a:t>
            </a:r>
          </a:p>
        </p:txBody>
      </p:sp>
      <p:sp>
        <p:nvSpPr>
          <p:cNvPr id="15" name="Rectangle 14"/>
          <p:cNvSpPr/>
          <p:nvPr/>
        </p:nvSpPr>
        <p:spPr>
          <a:xfrm>
            <a:off x="0" y="6400800"/>
            <a:ext cx="12191695" cy="45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46520"/>
            <a:ext cx="10972800" cy="365760"/>
          </a:xfrm>
          <a:prstGeom prst="rect">
            <a:avLst/>
          </a:prstGeom>
          <a:noFill/>
        </p:spPr>
        <p:txBody>
          <a:bodyPr wrap="square"/>
          <a:lstStyle/>
          <a:p>
            <a:pPr algn="l"/>
            <a:r>
              <a:rPr sz="1400" b="0">
                <a:solidFill>
                  <a:srgbClr val="666666"/>
                </a:solidFill>
                <a:latin typeface="Yu Gothic"/>
              </a:rPr>
              <a:t>Bubbleマッチングアプリ開発事例12選 | アプリ開発研究所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62895" cy="2743200"/>
          </a:xfrm>
          <a:prstGeom prst="rect">
            <a:avLst/>
          </a:prstGeom>
          <a:noFill/>
        </p:spPr>
        <p:txBody>
          <a:bodyPr wrap="square"/>
          <a:lstStyle/>
          <a:p>
            <a:pPr algn="ctr">
              <a:spcAft>
                <a:spcPts val="1600"/>
              </a:spcAft>
            </a:pPr>
            <a:r>
              <a:rPr sz="2600" b="1">
                <a:solidFill>
                  <a:srgbClr val="FFFFFF"/>
                </a:solidFill>
                <a:latin typeface="Yu Gothic"/>
              </a:rPr>
              <a:t>アプリ開発研究所ではノーコード×AI×補助金の活用で</a:t>
            </a:r>
          </a:p>
          <a:p>
            <a:pPr algn="ctr">
              <a:spcAft>
                <a:spcPts val="1600"/>
              </a:spcAft>
            </a:pPr>
            <a:r>
              <a:rPr sz="2600" b="1">
                <a:solidFill>
                  <a:srgbClr val="FFFFFF"/>
                </a:solidFill>
                <a:latin typeface="Yu Gothic"/>
              </a:rPr>
              <a:t>平均80％以上の費用削減を実現し、</a:t>
            </a:r>
          </a:p>
          <a:p>
            <a:pPr algn="ctr">
              <a:spcAft>
                <a:spcPts val="1600"/>
              </a:spcAft>
            </a:pPr>
            <a:r>
              <a:rPr sz="2600" b="1">
                <a:solidFill>
                  <a:srgbClr val="FFFFFF"/>
                </a:solidFill>
                <a:latin typeface="Yu Gothic"/>
              </a:rPr>
              <a:t>従来の1/3以下の期間での開発支援を承っています。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3153286" y="538516"/>
            <a:ext cx="5872728" cy="5780969"/>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642538" y="1013972"/>
            <a:ext cx="10894225" cy="483005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1483467" y="757053"/>
            <a:ext cx="9212368" cy="5343894"/>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62895" cy="2743200"/>
          </a:xfrm>
          <a:prstGeom prst="rect">
            <a:avLst/>
          </a:prstGeom>
          <a:noFill/>
        </p:spPr>
        <p:txBody>
          <a:bodyPr wrap="square"/>
          <a:lstStyle/>
          <a:p>
            <a:pPr algn="ctr">
              <a:spcAft>
                <a:spcPts val="1600"/>
              </a:spcAft>
            </a:pPr>
            <a:r>
              <a:rPr sz="2600" b="1">
                <a:solidFill>
                  <a:srgbClr val="FFFFFF"/>
                </a:solidFill>
                <a:latin typeface="Yu Gothic"/>
              </a:rPr>
              <a:t>アプリ開発研究所では事業を成功に導くための</a:t>
            </a:r>
          </a:p>
          <a:p>
            <a:pPr algn="ctr">
              <a:spcAft>
                <a:spcPts val="1600"/>
              </a:spcAft>
            </a:pPr>
            <a:r>
              <a:rPr sz="2600" b="1">
                <a:solidFill>
                  <a:srgbClr val="FFFFFF"/>
                </a:solidFill>
                <a:latin typeface="Yu Gothic"/>
              </a:rPr>
              <a:t>アプリ・システム開発支援を承っていますので、</a:t>
            </a:r>
          </a:p>
          <a:p>
            <a:pPr algn="ctr">
              <a:spcAft>
                <a:spcPts val="1600"/>
              </a:spcAft>
            </a:pPr>
            <a:r>
              <a:rPr sz="2600" b="1">
                <a:solidFill>
                  <a:srgbClr val="FFFFFF"/>
                </a:solidFill>
                <a:latin typeface="Yu Gothic"/>
              </a:rPr>
              <a:t>お気軽に概要欄よりお問い合わせください。</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929516" y="1084161"/>
            <a:ext cx="10332967" cy="4689677"/>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2895" cy="3200400"/>
          </a:xfrm>
          <a:prstGeom prst="rect">
            <a:avLst/>
          </a:prstGeom>
          <a:noFill/>
        </p:spPr>
        <p:txBody>
          <a:bodyPr wrap="square"/>
          <a:lstStyle/>
          <a:p>
            <a:pPr algn="ctr">
              <a:spcAft>
                <a:spcPts val="1400"/>
              </a:spcAft>
            </a:pPr>
            <a:r>
              <a:rPr sz="2600" b="1">
                <a:solidFill>
                  <a:srgbClr val="FFFFFF"/>
                </a:solidFill>
                <a:latin typeface="Yu Gothic"/>
              </a:rPr>
              <a:t>たった10個の質問に答えるだけで、開発費用を</a:t>
            </a:r>
          </a:p>
          <a:p>
            <a:pPr algn="ctr">
              <a:spcAft>
                <a:spcPts val="1400"/>
              </a:spcAft>
            </a:pPr>
            <a:r>
              <a:rPr sz="2600" b="1">
                <a:solidFill>
                  <a:srgbClr val="FFFFFF"/>
                </a:solidFill>
                <a:latin typeface="Yu Gothic"/>
              </a:rPr>
              <a:t>見積もれるシミュレーターも用意しているので、</a:t>
            </a:r>
          </a:p>
          <a:p>
            <a:pPr algn="ctr">
              <a:spcAft>
                <a:spcPts val="1400"/>
              </a:spcAft>
            </a:pPr>
            <a:r>
              <a:rPr sz="2600" b="1">
                <a:solidFill>
                  <a:srgbClr val="FFFFFF"/>
                </a:solidFill>
                <a:latin typeface="Yu Gothic"/>
              </a:rPr>
              <a:t>ぜひ概要欄よりお見積もりしてみてください。</a:t>
            </a:r>
          </a:p>
          <a:p>
            <a:pPr algn="ctr">
              <a:spcAft>
                <a:spcPts val="1400"/>
              </a:spcAft>
            </a:pPr>
            <a:r>
              <a:rPr sz="2600" b="1">
                <a:solidFill>
                  <a:srgbClr val="FFFFFF"/>
                </a:solidFill>
                <a:latin typeface="Yu Gothic"/>
              </a:rPr>
              <a:t/>
            </a:r>
          </a:p>
          <a:p>
            <a:pPr algn="ctr">
              <a:spcAft>
                <a:spcPts val="1400"/>
              </a:spcAft>
            </a:pPr>
            <a:r>
              <a:rPr sz="2600" b="1">
                <a:solidFill>
                  <a:srgbClr val="FFFFFF"/>
                </a:solidFill>
                <a:latin typeface="Yu Gothic"/>
              </a:rPr>
              <a:t>※個人情報の入力は必要ありません</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1015065" y="1228882"/>
            <a:ext cx="10161870" cy="440023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
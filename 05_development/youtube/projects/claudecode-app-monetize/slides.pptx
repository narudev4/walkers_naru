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0"/>
            <a:ext cx="121916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1">
                <a:solidFill>
                  <a:srgbClr val="E98212"/>
                </a:solidFill>
                <a:latin typeface="Yu Gothic"/>
              </a:rPr>
              <a:t>【クロードコードで作ったアプリ】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1695" cy="1645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4400" b="1">
                <a:solidFill>
                  <a:srgbClr val="FFFFFF"/>
                </a:solidFill>
                <a:latin typeface="Yu Gothic"/>
              </a:rPr>
              <a:t>収益化する11の方法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3840480"/>
            <a:ext cx="121916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株式会社Walkers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480560"/>
            <a:ext cx="76196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・AI・ノーコード専門の開発会社。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・300件以上の開発/制作実績、200件以上の企業様を支援。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CCCCCC"/>
                </a:solidFill>
                <a:latin typeface="Yu Gothic"/>
              </a:rPr>
              <a:t>・社名にお客様と共に"歩む''という思いを込め、事業を成功に導くための支援を行っている。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200" b="0">
                <a:solidFill>
                  <a:srgbClr val="666666"/>
                </a:solidFill>
                <a:latin typeface="Yu Gothic"/>
              </a:rPr>
              <a:t>アプリ開発研究所(株式会社Walkers)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「試作までは作れた。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でも収益モデルが決められない…」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収益化の選択肢を全11個、事例付きで整理！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【本動画の内容】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① 収益化方法11選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② 起こりがちな失敗4選</a:t>
            </a:r>
          </a:p>
          <a:p>
            <a:pPr algn="ctr"/>
            <a:r>
              <a:rPr sz="2400" b="0">
                <a:solidFill>
                  <a:srgbClr val="FFFFFF"/>
                </a:solidFill>
                <a:latin typeface="Yu Gothic"/>
              </a:rPr>
              <a:t>③ 成功させる4つのポイント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457200"/>
            <a:ext cx="121916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>
                <a:solidFill>
                  <a:srgbClr val="E98212"/>
                </a:solidFill>
                <a:latin typeface="Yu Gothic"/>
              </a:rPr>
              <a:t>山口 鳳汰の自己紹介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21332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1828800"/>
            <a:ext cx="8534095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・AI・ノーコード専門の開発会社Walkersで事業企画を担当。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・累計100万PV以上のAI・ノーコード専門メディアの編集長。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・アプリ開発の電子書籍を3冊出版し、1冊はAmazonベストセラーを獲得。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・アプリ開発のオンラインスクール「Tech Studio(テックスタジオ)」運営。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  <a:latin typeface="Yu Gothic"/>
              </a:rPr>
              <a:t>・その他多数のAI・ノーコード事業に参画。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657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アプリ開発研究所では、AIとノーコードを組み合わせた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効率的な開発手法を発信しています。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最新の開発トレンドを逃さないよう、</a:t>
            </a:r>
          </a:p>
          <a:p>
            <a:pPr algn="ctr"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Yu Gothic"/>
              </a:rPr>
              <a:t>ぜひチャンネル登録をよろしくお願いします！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アプリを収益化する方法11選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方法①：フリーミアムモデル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基本機能は無料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追加機能を有料化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音楽配信が代表例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クロードコードの強み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無料/有料を自然言語化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Stripe連携も数時間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試作に最適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方法②：有料アプリとして販売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DL時点で課金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初期から収益化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魅力ないと厳しい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成功例と注意点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写真編集/フィットネス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セキュリティ審査厳格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事前レビュー推奨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方法③：アプリ内課金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アプリ自体は無料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追加コンテンツ課金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ゲーム/エンタメ向き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スマホ新法対応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外部決済に誘導可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Apple15% Google20%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クロードコードで自動生成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方法④：アプリ内広告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広告の種類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バナー広告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インタースティシャル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リワード広告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クロードコードの得意領域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AdMob/UnityAds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表示頻度を自然言語化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頻度制御まで自動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方法⑤：有料サブスクリプション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メリット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定期収益が見込める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安定した収益基盤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継続価値が鍵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手数料の優遇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2年目以降は15%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Web直販で回避可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売る場所を先に決める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方法⑥：販売手数料の受理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マーケットプレイス型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取引額の一部を取得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メルカリが代表例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クロードコードの強み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サブエージェント活用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出品/決済を並列開発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開発期間を短縮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方法⑦：利用料＋販売手数料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代表例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BASE等の事例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月額＋取引手数料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設計が難しい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シミュレーション活用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テストケース大量生成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日割り/返金処理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エッジケース洗い出し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方法⑧：自社商品の購入に繋げる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EC/ブランド向け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アプリから購入誘導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ユニクロが代表例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API連携が容易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カート同期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ポイント連動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在庫連動を自動生成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方法⑨：スポンサー契約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成功の鍵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ユーザー層の提示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使用頻度のデータ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ターゲット合致を示す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ダッシュボード自動生成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MAU/利用時間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ユーザー属性可視化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提案資料の説得力UP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方法⑩：アフィリエイト販売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仕組み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他社商品を紹介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成果報酬を取得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自然な提示が重要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ステマ規制に注意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2023年10月施行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PR表記漏れは処分対象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自動表示で安全に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方法⑪：アプリ売却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売却相場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月次利益24〜60ヶ月分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DL/MAU実績が必須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一気に投資回収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引継ぎ資料を自動化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コードベース解説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短時間で整備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売却評価が向上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収益化で起こりがちな失敗4選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失敗①：専門家を入れずに始める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技術面で詰まる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マーケ戦略が不在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失敗確率が跳ね上がる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AI時代の盲点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売れる設計は別領域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法律/セキュリティ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外部の目が必須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失敗②：課金導線がわかりづらい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ありがちなNG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課金ボタンが埋没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購入ステップが多い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支払い方法が少ない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改善ポイント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ボタンを目立たせる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購入を簡略化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決済手段を複数用意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失敗③：過度な広告表示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全画面広告の連発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操作の途中で割込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ユーザー離脱を招く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適切な設計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表示頻度を抑える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アクション後に表示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ストレスを最小化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失敗④：料金設定のミス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両極の失敗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高すぎて買われない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安すぎて利益が出ない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感覚で決めてしまう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最適化の方法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市場/競合を調査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受容価格帯を発見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購買データで最適化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2743200"/>
            <a:ext cx="3047695" cy="54864"/>
          </a:xfrm>
          <a:prstGeom prst="rect">
            <a:avLst/>
          </a:prstGeom>
          <a:solidFill>
            <a:srgbClr val="E982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800" b="1">
                <a:solidFill>
                  <a:srgbClr val="E98212"/>
                </a:solidFill>
                <a:latin typeface="Yu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17520"/>
            <a:ext cx="12191695" cy="914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3600" b="1">
                <a:solidFill>
                  <a:srgbClr val="FFFFFF"/>
                </a:solidFill>
                <a:latin typeface="Yu Gothic"/>
              </a:rPr>
              <a:t>収益化を成功させる4つのポイント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ポイント①：専門の開発会社に依頼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メリット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品質を担保できる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マーケ施策も連動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活発なユーザー獲得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収益の最大化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リスクを最小化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結局これが近道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ポイント②：成功アプリを調査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学べること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収益化モデル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マーケ戦略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差別化のヒント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実践方法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同ジャンル分析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他社事例を反映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競合との差を設計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ポイント③：マーケ施策を取り入れる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認知度UP施策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SNS広告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インフルエンサー連携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ASOで上位表示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継続率UP施策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プッシュ通知活用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新コンテンツ告知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価値ある情報配信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3520"/>
            <a:ext cx="914400" cy="6502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/>
            <a:r>
              <a:rPr sz="4400" b="1">
                <a:solidFill>
                  <a:srgbClr val="E98212"/>
                </a:solidFill>
                <a:latin typeface="Yu Gothic"/>
              </a:rPr>
              <a:t>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5120"/>
            <a:ext cx="9144000" cy="4470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</a:rPr>
              <a:t>ポイント④：ユーザーインタビュー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1200" b="0">
                <a:solidFill>
                  <a:srgbClr val="FFFFFF"/>
                </a:solidFill>
                <a:latin typeface="Yu Gothic"/>
              </a:rPr>
              <a:t>クロードコードで作ったアプリの収益化11選 | アプリ開発研究所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効果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満足度が向上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リピート率UP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収益最大化に直結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029200" cy="2907792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3A7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000" b="1">
                <a:solidFill>
                  <a:srgbClr val="FFFFFF"/>
                </a:solidFill>
                <a:latin typeface="Yu Gothic"/>
              </a:rPr>
              <a:t>クロードコード活用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425446"/>
            <a:ext cx="4754880" cy="1257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要望から改善案生成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実装方針を3案提示</a:t>
            </a:r>
          </a:p>
          <a:p>
            <a:pPr algn="l"/>
            <a:r>
              <a:rPr sz="2200" b="0">
                <a:solidFill>
                  <a:srgbClr val="333333"/>
                </a:solidFill>
                <a:latin typeface="Yu Gothic"/>
              </a:rPr>
              <a:t>改修リリースが高速化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アプリ開発研究所ではノーコード×AI×補助金の活用で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平均80％以上の費用削減を実現し、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従来の1/3以下の期間での開発支援を承っています。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86" y="538516"/>
            <a:ext cx="5872728" cy="578096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38" y="1013972"/>
            <a:ext cx="10894225" cy="48300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467" y="757053"/>
            <a:ext cx="9212368" cy="534389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アプリ開発研究所では事業を成功に導くための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アプリ・システム開発支援を承っていますので、</a:t>
            </a:r>
          </a:p>
          <a:p>
            <a:pPr algn="ctr">
              <a:spcAft>
                <a:spcPts val="16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お気軽に概要欄よりお問い合わせください。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16" y="1084161"/>
            <a:ext cx="10332967" cy="4689677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たった10個の質問に答えるだけで、開発費用を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見積もれるシミュレーターも用意しているので、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ぜひ概要欄よりお見積もりしてみてください。</a:t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/>
            </a:r>
          </a:p>
          <a:p>
            <a:pPr algn="ctr">
              <a:spcAft>
                <a:spcPts val="1400"/>
              </a:spcAft>
            </a:pPr>
            <a:r>
              <a:rPr sz="2600" b="1">
                <a:solidFill>
                  <a:srgbClr val="FFFFFF"/>
                </a:solidFill>
                <a:latin typeface="Yu Gothic"/>
              </a:rPr>
              <a:t>※個人情報の入力は必要ありません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32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065" y="1228882"/>
            <a:ext cx="10161870" cy="4400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